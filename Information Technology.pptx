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8" r:id="rId62"/>
    <p:sldId id="316" r:id="rId63"/>
    <p:sldId id="319" r:id="rId64"/>
    <p:sldId id="317"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16F44A-2C78-443E-8016-603515CB4449}"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0DE517-1294-4589-835E-83BBA7F2B33A}" type="slidenum">
              <a:rPr lang="en-IN" smtClean="0"/>
              <a:t>‹#›</a:t>
            </a:fld>
            <a:endParaRPr lang="en-IN"/>
          </a:p>
        </p:txBody>
      </p:sp>
    </p:spTree>
    <p:extLst>
      <p:ext uri="{BB962C8B-B14F-4D97-AF65-F5344CB8AC3E}">
        <p14:creationId xmlns:p14="http://schemas.microsoft.com/office/powerpoint/2010/main" val="1782442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66</a:t>
            </a:fld>
            <a:endParaRPr lang="en-IN"/>
          </a:p>
        </p:txBody>
      </p:sp>
    </p:spTree>
    <p:extLst>
      <p:ext uri="{BB962C8B-B14F-4D97-AF65-F5344CB8AC3E}">
        <p14:creationId xmlns:p14="http://schemas.microsoft.com/office/powerpoint/2010/main" val="3713418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A0DE517-1294-4589-835E-83BBA7F2B33A}" type="slidenum">
              <a:rPr lang="en-IN" smtClean="0"/>
              <a:t>70</a:t>
            </a:fld>
            <a:endParaRPr lang="en-IN"/>
          </a:p>
        </p:txBody>
      </p:sp>
    </p:spTree>
    <p:extLst>
      <p:ext uri="{BB962C8B-B14F-4D97-AF65-F5344CB8AC3E}">
        <p14:creationId xmlns:p14="http://schemas.microsoft.com/office/powerpoint/2010/main" val="1393250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0DE517-1294-4589-835E-83BBA7F2B33A}" type="slidenum">
              <a:rPr lang="en-IN" smtClean="0"/>
              <a:t>73</a:t>
            </a:fld>
            <a:endParaRPr lang="en-IN"/>
          </a:p>
        </p:txBody>
      </p:sp>
    </p:spTree>
    <p:extLst>
      <p:ext uri="{BB962C8B-B14F-4D97-AF65-F5344CB8AC3E}">
        <p14:creationId xmlns:p14="http://schemas.microsoft.com/office/powerpoint/2010/main" val="455998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926623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002702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15687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C6940C-75D1-4219-A2CF-5DDCD2F15D33}"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43368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C6940C-75D1-4219-A2CF-5DDCD2F15D33}" type="datetimeFigureOut">
              <a:rPr lang="en-IN" smtClean="0"/>
              <a:t>12-02-2026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807830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C6940C-75D1-4219-A2CF-5DDCD2F15D33}" type="datetimeFigureOut">
              <a:rPr lang="en-IN" smtClean="0"/>
              <a:t>12-02-2026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46556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C6940C-75D1-4219-A2CF-5DDCD2F15D33}" type="datetimeFigureOut">
              <a:rPr lang="en-IN" smtClean="0"/>
              <a:t>12-02-2026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17762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522601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C6940C-75D1-4219-A2CF-5DDCD2F15D33}" type="datetimeFigureOut">
              <a:rPr lang="en-IN" smtClean="0"/>
              <a:t>12-02-2026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643295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3326118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997577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1617367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99139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391352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2520569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C6940C-75D1-4219-A2CF-5DDCD2F15D33}" type="datetimeFigureOut">
              <a:rPr lang="en-IN" smtClean="0"/>
              <a:t>12-02-2026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DB0023-7AC3-454B-A2DB-48A26FEF1B03}" type="slidenum">
              <a:rPr lang="en-IN" smtClean="0"/>
              <a:t>‹#›</a:t>
            </a:fld>
            <a:endParaRPr lang="en-IN"/>
          </a:p>
        </p:txBody>
      </p:sp>
    </p:spTree>
    <p:extLst>
      <p:ext uri="{BB962C8B-B14F-4D97-AF65-F5344CB8AC3E}">
        <p14:creationId xmlns:p14="http://schemas.microsoft.com/office/powerpoint/2010/main" val="4091695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CC6940C-75D1-4219-A2CF-5DDCD2F15D33}" type="datetimeFigureOut">
              <a:rPr lang="en-IN" smtClean="0"/>
              <a:t>12-02-2026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0DB0023-7AC3-454B-A2DB-48A26FEF1B03}" type="slidenum">
              <a:rPr lang="en-IN" smtClean="0"/>
              <a:t>‹#›</a:t>
            </a:fld>
            <a:endParaRPr lang="en-IN"/>
          </a:p>
        </p:txBody>
      </p:sp>
    </p:spTree>
    <p:extLst>
      <p:ext uri="{BB962C8B-B14F-4D97-AF65-F5344CB8AC3E}">
        <p14:creationId xmlns:p14="http://schemas.microsoft.com/office/powerpoint/2010/main" val="822826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0EDC7-D23D-4075-BCFE-127CDCC0ADCF}"/>
              </a:ext>
            </a:extLst>
          </p:cNvPr>
          <p:cNvSpPr>
            <a:spLocks noGrp="1"/>
          </p:cNvSpPr>
          <p:nvPr>
            <p:ph type="ctrTitle"/>
          </p:nvPr>
        </p:nvSpPr>
        <p:spPr>
          <a:xfrm>
            <a:off x="1507067" y="2404534"/>
            <a:ext cx="8069552" cy="1646302"/>
          </a:xfrm>
        </p:spPr>
        <p:txBody>
          <a:bodyPr/>
          <a:lstStyle/>
          <a:p>
            <a:r>
              <a:rPr lang="en-IN" dirty="0">
                <a:solidFill>
                  <a:schemeClr val="accent4">
                    <a:lumMod val="75000"/>
                  </a:schemeClr>
                </a:solidFill>
              </a:rPr>
              <a:t>Information Technology </a:t>
            </a:r>
          </a:p>
        </p:txBody>
      </p:sp>
    </p:spTree>
    <p:extLst>
      <p:ext uri="{BB962C8B-B14F-4D97-AF65-F5344CB8AC3E}">
        <p14:creationId xmlns:p14="http://schemas.microsoft.com/office/powerpoint/2010/main" val="605070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CD2AD-B7A4-EFBF-4389-E5BF501A43DF}"/>
              </a:ext>
            </a:extLst>
          </p:cNvPr>
          <p:cNvSpPr>
            <a:spLocks noGrp="1"/>
          </p:cNvSpPr>
          <p:nvPr>
            <p:ph type="title"/>
          </p:nvPr>
        </p:nvSpPr>
        <p:spPr/>
        <p:txBody>
          <a:bodyPr/>
          <a:lstStyle/>
          <a:p>
            <a:r>
              <a:rPr lang="en-IN" b="1" dirty="0">
                <a:solidFill>
                  <a:schemeClr val="tx1"/>
                </a:solidFill>
              </a:rPr>
              <a:t>What is Information Technology?</a:t>
            </a:r>
          </a:p>
        </p:txBody>
      </p:sp>
      <p:sp>
        <p:nvSpPr>
          <p:cNvPr id="3" name="Content Placeholder 2">
            <a:extLst>
              <a:ext uri="{FF2B5EF4-FFF2-40B4-BE49-F238E27FC236}">
                <a16:creationId xmlns:a16="http://schemas.microsoft.com/office/drawing/2014/main" id="{CED4CE57-8D68-364B-00E0-6D66FF75C700}"/>
              </a:ext>
            </a:extLst>
          </p:cNvPr>
          <p:cNvSpPr>
            <a:spLocks noGrp="1"/>
          </p:cNvSpPr>
          <p:nvPr>
            <p:ph idx="1"/>
          </p:nvPr>
        </p:nvSpPr>
        <p:spPr/>
        <p:txBody>
          <a:bodyPr>
            <a:normAutofit/>
          </a:bodyPr>
          <a:lstStyle/>
          <a:p>
            <a:pPr marL="0" indent="0">
              <a:buNone/>
            </a:pPr>
            <a:r>
              <a:rPr lang="en-US" sz="2400" b="1" dirty="0">
                <a:solidFill>
                  <a:schemeClr val="tx1"/>
                </a:solidFill>
              </a:rPr>
              <a:t>Information Technology (IT)</a:t>
            </a:r>
            <a:r>
              <a:rPr lang="en-US" sz="2400" dirty="0">
                <a:solidFill>
                  <a:schemeClr val="tx1"/>
                </a:solidFill>
              </a:rPr>
              <a:t> refers to the </a:t>
            </a:r>
            <a:r>
              <a:rPr lang="en-US" sz="2400" b="1" dirty="0">
                <a:solidFill>
                  <a:schemeClr val="tx1"/>
                </a:solidFill>
              </a:rPr>
              <a:t>use of computers, software, networks, and other digital systems</a:t>
            </a:r>
            <a:r>
              <a:rPr lang="en-US" sz="2400" dirty="0">
                <a:solidFill>
                  <a:schemeClr val="tx1"/>
                </a:solidFill>
              </a:rPr>
              <a:t> to </a:t>
            </a:r>
            <a:r>
              <a:rPr lang="en-US" sz="2400" b="1" dirty="0">
                <a:solidFill>
                  <a:schemeClr val="tx1"/>
                </a:solidFill>
              </a:rPr>
              <a:t>store, process, transmit, and manage information</a:t>
            </a:r>
            <a:r>
              <a:rPr lang="en-US" sz="2400" dirty="0">
                <a:solidFill>
                  <a:schemeClr val="tx1"/>
                </a:solidFill>
              </a:rPr>
              <a:t>.</a:t>
            </a:r>
            <a:endParaRPr lang="en-IN" sz="2400" dirty="0">
              <a:solidFill>
                <a:schemeClr val="tx1"/>
              </a:solidFill>
            </a:endParaRPr>
          </a:p>
        </p:txBody>
      </p:sp>
    </p:spTree>
    <p:extLst>
      <p:ext uri="{BB962C8B-B14F-4D97-AF65-F5344CB8AC3E}">
        <p14:creationId xmlns:p14="http://schemas.microsoft.com/office/powerpoint/2010/main" val="1853867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D7C6-FEEB-027D-553B-AA8341845E11}"/>
              </a:ext>
            </a:extLst>
          </p:cNvPr>
          <p:cNvSpPr>
            <a:spLocks noGrp="1"/>
          </p:cNvSpPr>
          <p:nvPr>
            <p:ph type="title"/>
          </p:nvPr>
        </p:nvSpPr>
        <p:spPr/>
        <p:txBody>
          <a:bodyPr/>
          <a:lstStyle/>
          <a:p>
            <a:r>
              <a:rPr lang="en-IN" b="1" dirty="0">
                <a:solidFill>
                  <a:schemeClr val="tx1"/>
                </a:solidFill>
              </a:rPr>
              <a:t>IT vs. Computer Science</a:t>
            </a:r>
          </a:p>
        </p:txBody>
      </p:sp>
      <p:sp>
        <p:nvSpPr>
          <p:cNvPr id="3" name="Content Placeholder 2">
            <a:extLst>
              <a:ext uri="{FF2B5EF4-FFF2-40B4-BE49-F238E27FC236}">
                <a16:creationId xmlns:a16="http://schemas.microsoft.com/office/drawing/2014/main" id="{9D676B7F-5BFB-18D9-EEF4-F6C7035B6B4B}"/>
              </a:ext>
            </a:extLst>
          </p:cNvPr>
          <p:cNvSpPr>
            <a:spLocks noGrp="1"/>
          </p:cNvSpPr>
          <p:nvPr>
            <p:ph idx="1"/>
          </p:nvPr>
        </p:nvSpPr>
        <p:spPr/>
        <p:txBody>
          <a:bodyPr>
            <a:normAutofit/>
          </a:bodyPr>
          <a:lstStyle/>
          <a:p>
            <a:pPr marL="0" indent="0">
              <a:buNone/>
            </a:pPr>
            <a:r>
              <a:rPr lang="en-IN" sz="2400" b="1" dirty="0">
                <a:solidFill>
                  <a:schemeClr val="tx1"/>
                </a:solidFill>
              </a:rPr>
              <a:t>IT:</a:t>
            </a:r>
            <a:r>
              <a:rPr lang="en-IN" sz="2400" dirty="0">
                <a:solidFill>
                  <a:schemeClr val="tx1"/>
                </a:solidFill>
              </a:rPr>
              <a:t> </a:t>
            </a:r>
            <a:r>
              <a:rPr lang="en-US" sz="2400" dirty="0">
                <a:solidFill>
                  <a:schemeClr val="tx1"/>
                </a:solidFill>
              </a:rPr>
              <a:t>The use and management of computer systems, networks, and software to store, process, and share information.</a:t>
            </a:r>
          </a:p>
          <a:p>
            <a:pPr marL="0" indent="0">
              <a:buNone/>
            </a:pPr>
            <a:r>
              <a:rPr lang="en-US" sz="2400" b="1" dirty="0">
                <a:solidFill>
                  <a:schemeClr val="tx1"/>
                </a:solidFill>
              </a:rPr>
              <a:t>Computer Science: </a:t>
            </a:r>
            <a:r>
              <a:rPr lang="en-US" sz="2400" dirty="0">
                <a:solidFill>
                  <a:schemeClr val="tx1"/>
                </a:solidFill>
              </a:rPr>
              <a:t>The study of computation, algorithms, and the design of computer systems and software.</a:t>
            </a:r>
            <a:endParaRPr lang="en-IN" sz="2400" dirty="0">
              <a:solidFill>
                <a:schemeClr val="tx1"/>
              </a:solidFill>
            </a:endParaRPr>
          </a:p>
        </p:txBody>
      </p:sp>
    </p:spTree>
    <p:extLst>
      <p:ext uri="{BB962C8B-B14F-4D97-AF65-F5344CB8AC3E}">
        <p14:creationId xmlns:p14="http://schemas.microsoft.com/office/powerpoint/2010/main" val="3169968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E801E-165D-5653-0D47-B7B84E6F6CE4}"/>
              </a:ext>
            </a:extLst>
          </p:cNvPr>
          <p:cNvSpPr>
            <a:spLocks noGrp="1"/>
          </p:cNvSpPr>
          <p:nvPr>
            <p:ph type="title"/>
          </p:nvPr>
        </p:nvSpPr>
        <p:spPr/>
        <p:txBody>
          <a:bodyPr/>
          <a:lstStyle/>
          <a:p>
            <a:r>
              <a:rPr lang="en-IN" b="1" dirty="0">
                <a:solidFill>
                  <a:schemeClr val="tx1"/>
                </a:solidFill>
              </a:rPr>
              <a:t>Importance of IT:</a:t>
            </a:r>
          </a:p>
        </p:txBody>
      </p:sp>
      <p:sp>
        <p:nvSpPr>
          <p:cNvPr id="3" name="Content Placeholder 2">
            <a:extLst>
              <a:ext uri="{FF2B5EF4-FFF2-40B4-BE49-F238E27FC236}">
                <a16:creationId xmlns:a16="http://schemas.microsoft.com/office/drawing/2014/main" id="{E0CC6608-2944-D41F-E6DD-C6F4C9BFD31E}"/>
              </a:ext>
            </a:extLst>
          </p:cNvPr>
          <p:cNvSpPr>
            <a:spLocks noGrp="1"/>
          </p:cNvSpPr>
          <p:nvPr>
            <p:ph idx="1"/>
          </p:nvPr>
        </p:nvSpPr>
        <p:spPr/>
        <p:txBody>
          <a:bodyPr/>
          <a:lstStyle/>
          <a:p>
            <a:pPr>
              <a:buClr>
                <a:schemeClr val="tx1"/>
              </a:buClr>
              <a:buFont typeface="Wingdings" panose="05000000000000000000" pitchFamily="2" charset="2"/>
              <a:buChar char="§"/>
            </a:pPr>
            <a:r>
              <a:rPr lang="en-US" sz="2400" b="1" dirty="0">
                <a:solidFill>
                  <a:schemeClr val="tx1"/>
                </a:solidFill>
              </a:rPr>
              <a:t>Automation</a:t>
            </a:r>
            <a:r>
              <a:rPr lang="en-US" sz="2400" dirty="0">
                <a:solidFill>
                  <a:schemeClr val="tx1"/>
                </a:solidFill>
              </a:rPr>
              <a:t> of tasks and operations</a:t>
            </a:r>
          </a:p>
          <a:p>
            <a:pPr>
              <a:buClr>
                <a:schemeClr val="tx1"/>
              </a:buClr>
              <a:buFont typeface="Wingdings" panose="05000000000000000000" pitchFamily="2" charset="2"/>
              <a:buChar char="§"/>
            </a:pPr>
            <a:r>
              <a:rPr lang="en-US" sz="2400" b="1" dirty="0">
                <a:solidFill>
                  <a:schemeClr val="tx1"/>
                </a:solidFill>
              </a:rPr>
              <a:t>Efficient communication</a:t>
            </a:r>
            <a:r>
              <a:rPr lang="en-US" sz="2400" dirty="0">
                <a:solidFill>
                  <a:schemeClr val="tx1"/>
                </a:solidFill>
              </a:rPr>
              <a:t> (email, messaging, video calls)</a:t>
            </a:r>
          </a:p>
          <a:p>
            <a:pPr>
              <a:buClr>
                <a:schemeClr val="tx1"/>
              </a:buClr>
              <a:buFont typeface="Wingdings" panose="05000000000000000000" pitchFamily="2" charset="2"/>
              <a:buChar char="§"/>
            </a:pPr>
            <a:r>
              <a:rPr lang="en-US" sz="2400" b="1" dirty="0">
                <a:solidFill>
                  <a:schemeClr val="tx1"/>
                </a:solidFill>
              </a:rPr>
              <a:t>Data storage and analysis</a:t>
            </a:r>
            <a:r>
              <a:rPr lang="en-US" sz="2400" dirty="0">
                <a:solidFill>
                  <a:schemeClr val="tx1"/>
                </a:solidFill>
              </a:rPr>
              <a:t> for decision-making</a:t>
            </a:r>
          </a:p>
          <a:p>
            <a:pPr>
              <a:buClr>
                <a:schemeClr val="tx1"/>
              </a:buClr>
              <a:buFont typeface="Wingdings" panose="05000000000000000000" pitchFamily="2" charset="2"/>
              <a:buChar char="§"/>
            </a:pPr>
            <a:r>
              <a:rPr lang="en-US" sz="2400" b="1" dirty="0">
                <a:solidFill>
                  <a:schemeClr val="tx1"/>
                </a:solidFill>
              </a:rPr>
              <a:t>Global connectivity</a:t>
            </a:r>
            <a:r>
              <a:rPr lang="en-US" sz="2400" dirty="0">
                <a:solidFill>
                  <a:schemeClr val="tx1"/>
                </a:solidFill>
              </a:rPr>
              <a:t> through the internet</a:t>
            </a:r>
          </a:p>
          <a:p>
            <a:pPr>
              <a:buClr>
                <a:schemeClr val="tx1"/>
              </a:buClr>
              <a:buFont typeface="Wingdings" panose="05000000000000000000" pitchFamily="2" charset="2"/>
              <a:buChar char="§"/>
            </a:pPr>
            <a:r>
              <a:rPr lang="en-US" sz="2400" b="1" dirty="0">
                <a:solidFill>
                  <a:schemeClr val="tx1"/>
                </a:solidFill>
              </a:rPr>
              <a:t>Innovation</a:t>
            </a:r>
            <a:r>
              <a:rPr lang="en-US" sz="2400" dirty="0">
                <a:solidFill>
                  <a:schemeClr val="tx1"/>
                </a:solidFill>
              </a:rPr>
              <a:t> in fields like healthcare, finance, education, and entertainment</a:t>
            </a:r>
          </a:p>
          <a:p>
            <a:endParaRPr lang="en-IN" dirty="0"/>
          </a:p>
        </p:txBody>
      </p:sp>
    </p:spTree>
    <p:extLst>
      <p:ext uri="{BB962C8B-B14F-4D97-AF65-F5344CB8AC3E}">
        <p14:creationId xmlns:p14="http://schemas.microsoft.com/office/powerpoint/2010/main" val="10985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850E-AA6B-727E-B9DA-29099D2EAB88}"/>
              </a:ext>
            </a:extLst>
          </p:cNvPr>
          <p:cNvSpPr>
            <a:spLocks noGrp="1"/>
          </p:cNvSpPr>
          <p:nvPr>
            <p:ph type="title"/>
          </p:nvPr>
        </p:nvSpPr>
        <p:spPr/>
        <p:txBody>
          <a:bodyPr/>
          <a:lstStyle/>
          <a:p>
            <a:r>
              <a:rPr lang="en-IN" b="1" dirty="0">
                <a:solidFill>
                  <a:schemeClr val="tx1"/>
                </a:solidFill>
              </a:rPr>
              <a:t>Core Components of IT</a:t>
            </a:r>
          </a:p>
        </p:txBody>
      </p:sp>
      <p:sp>
        <p:nvSpPr>
          <p:cNvPr id="4" name="Rectangle 1">
            <a:extLst>
              <a:ext uri="{FF2B5EF4-FFF2-40B4-BE49-F238E27FC236}">
                <a16:creationId xmlns:a16="http://schemas.microsoft.com/office/drawing/2014/main" id="{CE3FF35E-AFAF-F629-81E0-13BECB93A5E6}"/>
              </a:ext>
            </a:extLst>
          </p:cNvPr>
          <p:cNvSpPr>
            <a:spLocks noGrp="1" noChangeArrowheads="1"/>
          </p:cNvSpPr>
          <p:nvPr>
            <p:ph idx="1"/>
          </p:nvPr>
        </p:nvSpPr>
        <p:spPr bwMode="auto">
          <a:xfrm>
            <a:off x="369961" y="1749425"/>
            <a:ext cx="1035703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Hardware</a:t>
            </a:r>
            <a:r>
              <a:rPr kumimoji="0" lang="en-US" altLang="en-US" sz="2400" b="0" i="0" u="none" strike="noStrike" cap="none" normalizeH="0" baseline="0" dirty="0">
                <a:ln>
                  <a:noFill/>
                </a:ln>
                <a:solidFill>
                  <a:schemeClr val="tx1"/>
                </a:solidFill>
                <a:effectLst/>
                <a:latin typeface="Arial" panose="020B0604020202020204" pitchFamily="34" charset="0"/>
              </a:rPr>
              <a:t> – Physical devices (computers, servers, routers, etc.)</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Software</a:t>
            </a:r>
            <a:r>
              <a:rPr kumimoji="0" lang="en-US" altLang="en-US" sz="2400" b="0" i="0" u="none" strike="noStrike" cap="none" normalizeH="0" baseline="0" dirty="0">
                <a:ln>
                  <a:noFill/>
                </a:ln>
                <a:solidFill>
                  <a:schemeClr val="tx1"/>
                </a:solidFill>
                <a:effectLst/>
                <a:latin typeface="Arial" panose="020B0604020202020204" pitchFamily="34" charset="0"/>
              </a:rPr>
              <a:t> – Programs and operating systems that run on hardware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Networking</a:t>
            </a:r>
            <a:r>
              <a:rPr kumimoji="0" lang="en-US" altLang="en-US" sz="2400" b="0" i="0" u="none" strike="noStrike" cap="none" normalizeH="0" baseline="0" dirty="0">
                <a:ln>
                  <a:noFill/>
                </a:ln>
                <a:solidFill>
                  <a:schemeClr val="tx1"/>
                </a:solidFill>
                <a:effectLst/>
                <a:latin typeface="Arial" panose="020B0604020202020204" pitchFamily="34" charset="0"/>
              </a:rPr>
              <a:t> – Connecting systems for data sharing (Internet, LAN, WAN)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a:t>
            </a:r>
            <a:r>
              <a:rPr kumimoji="0" lang="en-US" altLang="en-US" sz="2400" b="0" i="0" u="none" strike="noStrike" cap="none" normalizeH="0" baseline="0" dirty="0">
                <a:ln>
                  <a:noFill/>
                </a:ln>
                <a:solidFill>
                  <a:schemeClr val="tx1"/>
                </a:solidFill>
                <a:effectLst/>
                <a:latin typeface="Arial" panose="020B0604020202020204" pitchFamily="34" charset="0"/>
              </a:rPr>
              <a:t> – The raw facts that are processed into meaningful information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People and Processes</a:t>
            </a:r>
            <a:r>
              <a:rPr kumimoji="0" lang="en-US" altLang="en-US" sz="2400" b="0" i="0" u="none" strike="noStrike" cap="none" normalizeH="0" baseline="0" dirty="0">
                <a:ln>
                  <a:noFill/>
                </a:ln>
                <a:solidFill>
                  <a:schemeClr val="tx1"/>
                </a:solidFill>
                <a:effectLst/>
                <a:latin typeface="Arial" panose="020B0604020202020204" pitchFamily="34" charset="0"/>
              </a:rPr>
              <a:t> – Users, IT professionals, and workflows managing systems</a:t>
            </a:r>
          </a:p>
        </p:txBody>
      </p:sp>
    </p:spTree>
    <p:extLst>
      <p:ext uri="{BB962C8B-B14F-4D97-AF65-F5344CB8AC3E}">
        <p14:creationId xmlns:p14="http://schemas.microsoft.com/office/powerpoint/2010/main" val="1171019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70CBD-3CBD-3550-2A7B-2164609B22A2}"/>
              </a:ext>
            </a:extLst>
          </p:cNvPr>
          <p:cNvSpPr>
            <a:spLocks noGrp="1"/>
          </p:cNvSpPr>
          <p:nvPr>
            <p:ph type="title"/>
          </p:nvPr>
        </p:nvSpPr>
        <p:spPr/>
        <p:txBody>
          <a:bodyPr/>
          <a:lstStyle/>
          <a:p>
            <a:r>
              <a:rPr lang="en-IN" b="1" dirty="0">
                <a:solidFill>
                  <a:schemeClr val="tx1"/>
                </a:solidFill>
              </a:rPr>
              <a:t>Computer Hardware</a:t>
            </a:r>
          </a:p>
        </p:txBody>
      </p:sp>
      <p:sp>
        <p:nvSpPr>
          <p:cNvPr id="3" name="Content Placeholder 2">
            <a:extLst>
              <a:ext uri="{FF2B5EF4-FFF2-40B4-BE49-F238E27FC236}">
                <a16:creationId xmlns:a16="http://schemas.microsoft.com/office/drawing/2014/main" id="{58BAE770-FC94-0C45-3BC6-3BD7FE70092E}"/>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IN" sz="2400" b="1" dirty="0">
                <a:solidFill>
                  <a:schemeClr val="tx1"/>
                </a:solidFill>
              </a:rPr>
              <a:t>Input devices: </a:t>
            </a:r>
            <a:r>
              <a:rPr lang="en-IN" sz="2400" dirty="0">
                <a:solidFill>
                  <a:schemeClr val="tx1"/>
                </a:solidFill>
              </a:rPr>
              <a:t>Keyboard, Mouse, Scanner</a:t>
            </a:r>
          </a:p>
          <a:p>
            <a:pPr>
              <a:buClr>
                <a:schemeClr val="tx1"/>
              </a:buClr>
              <a:buFont typeface="Wingdings" panose="05000000000000000000" pitchFamily="2" charset="2"/>
              <a:buChar char="§"/>
              <a:defRPr sz="1800">
                <a:solidFill>
                  <a:srgbClr val="3C3C3C"/>
                </a:solidFill>
              </a:defRPr>
            </a:pPr>
            <a:r>
              <a:rPr lang="en-IN" sz="2400" b="1" dirty="0">
                <a:solidFill>
                  <a:schemeClr val="tx1"/>
                </a:solidFill>
              </a:rPr>
              <a:t>Output devices: </a:t>
            </a:r>
            <a:r>
              <a:rPr lang="en-IN" sz="2400" dirty="0">
                <a:solidFill>
                  <a:schemeClr val="tx1"/>
                </a:solidFill>
              </a:rPr>
              <a:t>Monitor, Printer, Speakers</a:t>
            </a:r>
          </a:p>
          <a:p>
            <a:pPr>
              <a:buClr>
                <a:schemeClr val="tx1"/>
              </a:buClr>
              <a:buFont typeface="Wingdings" panose="05000000000000000000" pitchFamily="2" charset="2"/>
              <a:buChar char="§"/>
              <a:defRPr sz="1800">
                <a:solidFill>
                  <a:srgbClr val="3C3C3C"/>
                </a:solidFill>
              </a:defRPr>
            </a:pPr>
            <a:r>
              <a:rPr lang="en-IN" sz="2400" b="1" dirty="0">
                <a:solidFill>
                  <a:schemeClr val="tx1"/>
                </a:solidFill>
              </a:rPr>
              <a:t>CPU: </a:t>
            </a:r>
            <a:r>
              <a:rPr lang="en-IN" sz="2400" dirty="0">
                <a:solidFill>
                  <a:schemeClr val="tx1"/>
                </a:solidFill>
              </a:rPr>
              <a:t>The brain of the computer (Control Unit + ALU)</a:t>
            </a:r>
          </a:p>
          <a:p>
            <a:pPr>
              <a:buClr>
                <a:schemeClr val="tx1"/>
              </a:buClr>
              <a:buFont typeface="Wingdings" panose="05000000000000000000" pitchFamily="2" charset="2"/>
              <a:buChar char="§"/>
              <a:defRPr sz="1800">
                <a:solidFill>
                  <a:srgbClr val="3C3C3C"/>
                </a:solidFill>
              </a:defRPr>
            </a:pPr>
            <a:r>
              <a:rPr lang="en-IN" sz="2400" b="1" dirty="0">
                <a:solidFill>
                  <a:schemeClr val="tx1"/>
                </a:solidFill>
              </a:rPr>
              <a:t>Memory: </a:t>
            </a:r>
            <a:r>
              <a:rPr lang="en-IN" sz="2400" dirty="0">
                <a:solidFill>
                  <a:schemeClr val="tx1"/>
                </a:solidFill>
              </a:rPr>
              <a:t>RAM (volatile) and ROM (non-volatile)</a:t>
            </a:r>
          </a:p>
          <a:p>
            <a:pPr>
              <a:buClr>
                <a:schemeClr val="tx1"/>
              </a:buClr>
              <a:buFont typeface="Wingdings" panose="05000000000000000000" pitchFamily="2" charset="2"/>
              <a:buChar char="§"/>
              <a:defRPr sz="1800">
                <a:solidFill>
                  <a:srgbClr val="3C3C3C"/>
                </a:solidFill>
              </a:defRPr>
            </a:pPr>
            <a:r>
              <a:rPr lang="en-IN" sz="2400" b="1" dirty="0">
                <a:solidFill>
                  <a:schemeClr val="tx1"/>
                </a:solidFill>
              </a:rPr>
              <a:t>Storage: </a:t>
            </a:r>
            <a:r>
              <a:rPr lang="en-IN" sz="2400" dirty="0">
                <a:solidFill>
                  <a:schemeClr val="tx1"/>
                </a:solidFill>
              </a:rPr>
              <a:t>Hard disks, SSDs, Optical drives</a:t>
            </a:r>
          </a:p>
          <a:p>
            <a:endParaRPr lang="en-IN" dirty="0"/>
          </a:p>
        </p:txBody>
      </p:sp>
    </p:spTree>
    <p:extLst>
      <p:ext uri="{BB962C8B-B14F-4D97-AF65-F5344CB8AC3E}">
        <p14:creationId xmlns:p14="http://schemas.microsoft.com/office/powerpoint/2010/main" val="3171473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51946-37BC-5132-5CB3-15ED5E39709C}"/>
              </a:ext>
            </a:extLst>
          </p:cNvPr>
          <p:cNvSpPr>
            <a:spLocks noGrp="1"/>
          </p:cNvSpPr>
          <p:nvPr>
            <p:ph type="title"/>
          </p:nvPr>
        </p:nvSpPr>
        <p:spPr/>
        <p:txBody>
          <a:bodyPr/>
          <a:lstStyle/>
          <a:p>
            <a:r>
              <a:rPr lang="en-IN" b="1" dirty="0">
                <a:solidFill>
                  <a:schemeClr val="tx1"/>
                </a:solidFill>
              </a:rPr>
              <a:t>Computer Software</a:t>
            </a:r>
          </a:p>
        </p:txBody>
      </p:sp>
      <p:sp>
        <p:nvSpPr>
          <p:cNvPr id="3" name="Content Placeholder 2">
            <a:extLst>
              <a:ext uri="{FF2B5EF4-FFF2-40B4-BE49-F238E27FC236}">
                <a16:creationId xmlns:a16="http://schemas.microsoft.com/office/drawing/2014/main" id="{342C4B5D-5034-0696-8672-4220BC009251}"/>
              </a:ext>
            </a:extLst>
          </p:cNvPr>
          <p:cNvSpPr>
            <a:spLocks noGrp="1"/>
          </p:cNvSpPr>
          <p:nvPr>
            <p:ph idx="1"/>
          </p:nvPr>
        </p:nvSpPr>
        <p:spPr>
          <a:xfrm>
            <a:off x="677334" y="1796795"/>
            <a:ext cx="8596668" cy="3880773"/>
          </a:xfrm>
        </p:spPr>
        <p:txBody>
          <a:bodyPr/>
          <a:lstStyle/>
          <a:p>
            <a:pPr>
              <a:buClr>
                <a:schemeClr val="tx1"/>
              </a:buClr>
              <a:buFont typeface="Wingdings" panose="05000000000000000000" pitchFamily="2" charset="2"/>
              <a:buChar char="§"/>
              <a:defRPr sz="1800">
                <a:solidFill>
                  <a:srgbClr val="3C3C3C"/>
                </a:solidFill>
              </a:defRPr>
            </a:pPr>
            <a:r>
              <a:rPr lang="en-IN" sz="2400" dirty="0">
                <a:solidFill>
                  <a:schemeClr val="tx1"/>
                </a:solidFill>
              </a:rPr>
              <a:t>System Software – Operating systems (Windows, Linux, macOS)</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 Application Software – Tools for end users (MS Office, browsers, databases)</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 Utility Software – File management, antivirus, backup tools</a:t>
            </a:r>
          </a:p>
          <a:p>
            <a:pPr marL="0" indent="0">
              <a:buClr>
                <a:schemeClr val="tx1"/>
              </a:buClr>
              <a:buNone/>
              <a:defRPr sz="1800">
                <a:solidFill>
                  <a:srgbClr val="3C3C3C"/>
                </a:solidFill>
              </a:defRPr>
            </a:pPr>
            <a:endParaRPr lang="en-IN" dirty="0"/>
          </a:p>
        </p:txBody>
      </p:sp>
    </p:spTree>
    <p:extLst>
      <p:ext uri="{BB962C8B-B14F-4D97-AF65-F5344CB8AC3E}">
        <p14:creationId xmlns:p14="http://schemas.microsoft.com/office/powerpoint/2010/main" val="86507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093D4-5A12-E30D-334B-378368BBC0B9}"/>
              </a:ext>
            </a:extLst>
          </p:cNvPr>
          <p:cNvSpPr>
            <a:spLocks noGrp="1"/>
          </p:cNvSpPr>
          <p:nvPr>
            <p:ph type="title"/>
          </p:nvPr>
        </p:nvSpPr>
        <p:spPr/>
        <p:txBody>
          <a:bodyPr/>
          <a:lstStyle/>
          <a:p>
            <a:r>
              <a:rPr lang="en-IN" b="1" dirty="0">
                <a:solidFill>
                  <a:schemeClr val="tx1"/>
                </a:solidFill>
              </a:rPr>
              <a:t>Networking and Internet</a:t>
            </a:r>
          </a:p>
        </p:txBody>
      </p:sp>
      <p:sp>
        <p:nvSpPr>
          <p:cNvPr id="3" name="Content Placeholder 2">
            <a:extLst>
              <a:ext uri="{FF2B5EF4-FFF2-40B4-BE49-F238E27FC236}">
                <a16:creationId xmlns:a16="http://schemas.microsoft.com/office/drawing/2014/main" id="{06DD5CFD-9301-F2A7-92A0-DF11AFA1BFD7}"/>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IN" sz="2400" dirty="0">
                <a:solidFill>
                  <a:schemeClr val="tx1"/>
                </a:solidFill>
              </a:rPr>
              <a:t>Computer networks connect devices to share data and resources.</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Types: LAN (Local), MAN (Metropolitan), WAN (Wide Area), PAN (Personal)</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Internet: A global network enabling email, web browsing, and communication.</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Network Devices: Router, Switch, Hub, Modem, Access Point</a:t>
            </a:r>
          </a:p>
          <a:p>
            <a:endParaRPr lang="en-IN" dirty="0"/>
          </a:p>
        </p:txBody>
      </p:sp>
    </p:spTree>
    <p:extLst>
      <p:ext uri="{BB962C8B-B14F-4D97-AF65-F5344CB8AC3E}">
        <p14:creationId xmlns:p14="http://schemas.microsoft.com/office/powerpoint/2010/main" val="1035621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3D617-AB97-1A8E-2AC5-DB27E28DA5FD}"/>
              </a:ext>
            </a:extLst>
          </p:cNvPr>
          <p:cNvSpPr>
            <a:spLocks noGrp="1"/>
          </p:cNvSpPr>
          <p:nvPr>
            <p:ph type="title"/>
          </p:nvPr>
        </p:nvSpPr>
        <p:spPr/>
        <p:txBody>
          <a:bodyPr/>
          <a:lstStyle/>
          <a:p>
            <a:r>
              <a:rPr lang="en-IN" b="1" dirty="0">
                <a:solidFill>
                  <a:schemeClr val="tx1"/>
                </a:solidFill>
              </a:rPr>
              <a:t>Database Management Systems (DBMS)</a:t>
            </a:r>
          </a:p>
        </p:txBody>
      </p:sp>
      <p:sp>
        <p:nvSpPr>
          <p:cNvPr id="3" name="Content Placeholder 2">
            <a:extLst>
              <a:ext uri="{FF2B5EF4-FFF2-40B4-BE49-F238E27FC236}">
                <a16:creationId xmlns:a16="http://schemas.microsoft.com/office/drawing/2014/main" id="{1F2D4615-3AD2-BECB-7D8F-1A1860C631AB}"/>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IN" sz="2400" dirty="0">
                <a:solidFill>
                  <a:schemeClr val="tx1"/>
                </a:solidFill>
              </a:rPr>
              <a:t>Database: Structured data organized for quick access and management.</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DBMS Examples: MySQL, Oracle, SQL Server</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SQL: Structured Query Language for managing databases.</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Importance: Data integrity, security, and scalability.</a:t>
            </a:r>
          </a:p>
          <a:p>
            <a:endParaRPr lang="en-IN" dirty="0"/>
          </a:p>
        </p:txBody>
      </p:sp>
    </p:spTree>
    <p:extLst>
      <p:ext uri="{BB962C8B-B14F-4D97-AF65-F5344CB8AC3E}">
        <p14:creationId xmlns:p14="http://schemas.microsoft.com/office/powerpoint/2010/main" val="3274045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EC44-F262-3E02-46BB-42D538BCCE57}"/>
              </a:ext>
            </a:extLst>
          </p:cNvPr>
          <p:cNvSpPr>
            <a:spLocks noGrp="1"/>
          </p:cNvSpPr>
          <p:nvPr>
            <p:ph type="title"/>
          </p:nvPr>
        </p:nvSpPr>
        <p:spPr/>
        <p:txBody>
          <a:bodyPr>
            <a:normAutofit/>
          </a:bodyPr>
          <a:lstStyle/>
          <a:p>
            <a:r>
              <a:rPr lang="en-IN" sz="3200" b="1" dirty="0">
                <a:solidFill>
                  <a:schemeClr val="tx1"/>
                </a:solidFill>
              </a:rPr>
              <a:t>Information Security and Cybersecurity</a:t>
            </a:r>
          </a:p>
        </p:txBody>
      </p:sp>
      <p:sp>
        <p:nvSpPr>
          <p:cNvPr id="3" name="Content Placeholder 2">
            <a:extLst>
              <a:ext uri="{FF2B5EF4-FFF2-40B4-BE49-F238E27FC236}">
                <a16:creationId xmlns:a16="http://schemas.microsoft.com/office/drawing/2014/main" id="{F0B6A4C6-2638-3C71-2FC2-7183687E3EA3}"/>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US" sz="2400" dirty="0">
                <a:solidFill>
                  <a:schemeClr val="tx1"/>
                </a:solidFill>
              </a:rPr>
              <a:t>Protects data and systems from unauthorized access or damage.</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Threats: Viruses, Malware, Phishing, Ransomware</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Security Measures: Firewalls, Encryption, Authentication</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Policies: Data backup, user training, network monitoring.</a:t>
            </a:r>
          </a:p>
          <a:p>
            <a:endParaRPr lang="en-IN" dirty="0"/>
          </a:p>
        </p:txBody>
      </p:sp>
    </p:spTree>
    <p:extLst>
      <p:ext uri="{BB962C8B-B14F-4D97-AF65-F5344CB8AC3E}">
        <p14:creationId xmlns:p14="http://schemas.microsoft.com/office/powerpoint/2010/main" val="2807291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0DBC-0300-4CF0-2151-8B08F8FE6868}"/>
              </a:ext>
            </a:extLst>
          </p:cNvPr>
          <p:cNvSpPr>
            <a:spLocks noGrp="1"/>
          </p:cNvSpPr>
          <p:nvPr>
            <p:ph type="title"/>
          </p:nvPr>
        </p:nvSpPr>
        <p:spPr/>
        <p:txBody>
          <a:bodyPr/>
          <a:lstStyle/>
          <a:p>
            <a:r>
              <a:rPr lang="en-IN" b="1" dirty="0">
                <a:solidFill>
                  <a:schemeClr val="tx1"/>
                </a:solidFill>
              </a:rPr>
              <a:t>Cloud Computing</a:t>
            </a:r>
          </a:p>
        </p:txBody>
      </p:sp>
      <p:sp>
        <p:nvSpPr>
          <p:cNvPr id="3" name="Content Placeholder 2">
            <a:extLst>
              <a:ext uri="{FF2B5EF4-FFF2-40B4-BE49-F238E27FC236}">
                <a16:creationId xmlns:a16="http://schemas.microsoft.com/office/drawing/2014/main" id="{B08FDC43-FCB4-4086-3427-35942393DA1B}"/>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IN" sz="2400" dirty="0">
                <a:solidFill>
                  <a:schemeClr val="tx1"/>
                </a:solidFill>
              </a:rPr>
              <a:t>Provides computing services (servers, storage, databases) over the Internet.</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Models: IaaS, PaaS, SaaS</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Benefits: Scalability, cost-efficiency, accessibility</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Providers: AWS, Microsoft Azure, Google Cloud</a:t>
            </a:r>
          </a:p>
          <a:p>
            <a:endParaRPr lang="en-IN" dirty="0"/>
          </a:p>
        </p:txBody>
      </p:sp>
    </p:spTree>
    <p:extLst>
      <p:ext uri="{BB962C8B-B14F-4D97-AF65-F5344CB8AC3E}">
        <p14:creationId xmlns:p14="http://schemas.microsoft.com/office/powerpoint/2010/main" val="2622292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7BE7-7E1B-413A-B092-964E63ED6C65}"/>
              </a:ext>
            </a:extLst>
          </p:cNvPr>
          <p:cNvSpPr>
            <a:spLocks noGrp="1"/>
          </p:cNvSpPr>
          <p:nvPr>
            <p:ph type="title"/>
          </p:nvPr>
        </p:nvSpPr>
        <p:spPr/>
        <p:txBody>
          <a:bodyPr/>
          <a:lstStyle/>
          <a:p>
            <a:r>
              <a:rPr lang="en-IN" b="1" dirty="0">
                <a:solidFill>
                  <a:schemeClr val="tx1"/>
                </a:solidFill>
              </a:rPr>
              <a:t>Emerging IT Technologies</a:t>
            </a:r>
          </a:p>
        </p:txBody>
      </p:sp>
      <p:sp>
        <p:nvSpPr>
          <p:cNvPr id="3" name="Content Placeholder 2">
            <a:extLst>
              <a:ext uri="{FF2B5EF4-FFF2-40B4-BE49-F238E27FC236}">
                <a16:creationId xmlns:a16="http://schemas.microsoft.com/office/drawing/2014/main" id="{58082AE7-35F2-087D-EAB0-CBFABA026697}"/>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IN" sz="2400" dirty="0">
                <a:solidFill>
                  <a:schemeClr val="tx1"/>
                </a:solidFill>
              </a:rPr>
              <a:t> Artificial Intelligence – Machine learning, automation, NLP</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 Internet of Things (IoT) – Smart devices connected via the Internet</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 Blockchain – Secure, decentralized data ledger</a:t>
            </a:r>
          </a:p>
          <a:p>
            <a:pPr>
              <a:buClr>
                <a:schemeClr val="tx1"/>
              </a:buClr>
              <a:buFont typeface="Wingdings" panose="05000000000000000000" pitchFamily="2" charset="2"/>
              <a:buChar char="§"/>
              <a:defRPr sz="1800">
                <a:solidFill>
                  <a:srgbClr val="3C3C3C"/>
                </a:solidFill>
              </a:defRPr>
            </a:pPr>
            <a:r>
              <a:rPr lang="en-IN" sz="2400" dirty="0">
                <a:solidFill>
                  <a:schemeClr val="tx1"/>
                </a:solidFill>
              </a:rPr>
              <a:t> Big Data – Analysis of massive datasets for insights</a:t>
            </a:r>
          </a:p>
          <a:p>
            <a:endParaRPr lang="en-IN" dirty="0"/>
          </a:p>
        </p:txBody>
      </p:sp>
    </p:spTree>
    <p:extLst>
      <p:ext uri="{BB962C8B-B14F-4D97-AF65-F5344CB8AC3E}">
        <p14:creationId xmlns:p14="http://schemas.microsoft.com/office/powerpoint/2010/main" val="1500726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BAF0-580C-1AC5-41F1-2A619537D695}"/>
              </a:ext>
            </a:extLst>
          </p:cNvPr>
          <p:cNvSpPr>
            <a:spLocks noGrp="1"/>
          </p:cNvSpPr>
          <p:nvPr>
            <p:ph type="title"/>
          </p:nvPr>
        </p:nvSpPr>
        <p:spPr/>
        <p:txBody>
          <a:bodyPr/>
          <a:lstStyle/>
          <a:p>
            <a:r>
              <a:rPr lang="en-US" b="1" dirty="0">
                <a:solidFill>
                  <a:schemeClr val="tx1"/>
                </a:solidFill>
              </a:rPr>
              <a:t>Applications of IT in Business</a:t>
            </a:r>
            <a:endParaRPr lang="en-IN" b="1" dirty="0">
              <a:solidFill>
                <a:schemeClr val="tx1"/>
              </a:solidFill>
            </a:endParaRPr>
          </a:p>
        </p:txBody>
      </p:sp>
      <p:sp>
        <p:nvSpPr>
          <p:cNvPr id="3" name="Content Placeholder 2">
            <a:extLst>
              <a:ext uri="{FF2B5EF4-FFF2-40B4-BE49-F238E27FC236}">
                <a16:creationId xmlns:a16="http://schemas.microsoft.com/office/drawing/2014/main" id="{3AAAED2D-45AF-0108-393C-BBF1607325F5}"/>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US" sz="2400" dirty="0"/>
              <a:t> </a:t>
            </a:r>
            <a:r>
              <a:rPr lang="en-US" sz="2400" dirty="0">
                <a:solidFill>
                  <a:schemeClr val="tx1"/>
                </a:solidFill>
              </a:rPr>
              <a:t>E-commerce and Digital Marketing</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 Enterprise Resource Planning (ERP)</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 Customer Relationship Management (CRM)</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 Business Intelligence and Analytics</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 Remote work, collaboration, and automation tools</a:t>
            </a:r>
          </a:p>
          <a:p>
            <a:endParaRPr lang="en-IN" dirty="0"/>
          </a:p>
        </p:txBody>
      </p:sp>
    </p:spTree>
    <p:extLst>
      <p:ext uri="{BB962C8B-B14F-4D97-AF65-F5344CB8AC3E}">
        <p14:creationId xmlns:p14="http://schemas.microsoft.com/office/powerpoint/2010/main" val="2333893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90A6-A62E-D30E-AD57-DEE0BEC6F188}"/>
              </a:ext>
            </a:extLst>
          </p:cNvPr>
          <p:cNvSpPr>
            <a:spLocks noGrp="1"/>
          </p:cNvSpPr>
          <p:nvPr>
            <p:ph type="title"/>
          </p:nvPr>
        </p:nvSpPr>
        <p:spPr/>
        <p:txBody>
          <a:bodyPr/>
          <a:lstStyle/>
          <a:p>
            <a:r>
              <a:rPr lang="en-US" b="1" dirty="0">
                <a:solidFill>
                  <a:schemeClr val="tx1"/>
                </a:solidFill>
              </a:rPr>
              <a:t>IT in Education and Society</a:t>
            </a:r>
            <a:endParaRPr lang="en-IN" b="1" dirty="0">
              <a:solidFill>
                <a:schemeClr val="tx1"/>
              </a:solidFill>
            </a:endParaRPr>
          </a:p>
        </p:txBody>
      </p:sp>
      <p:sp>
        <p:nvSpPr>
          <p:cNvPr id="3" name="Content Placeholder 2">
            <a:extLst>
              <a:ext uri="{FF2B5EF4-FFF2-40B4-BE49-F238E27FC236}">
                <a16:creationId xmlns:a16="http://schemas.microsoft.com/office/drawing/2014/main" id="{D22ECE0E-A6A0-A4E8-0502-3DFF1F4DAA10}"/>
              </a:ext>
            </a:extLst>
          </p:cNvPr>
          <p:cNvSpPr>
            <a:spLocks noGrp="1"/>
          </p:cNvSpPr>
          <p:nvPr>
            <p:ph idx="1"/>
          </p:nvPr>
        </p:nvSpPr>
        <p:spPr/>
        <p:txBody>
          <a:bodyPr/>
          <a:lstStyle/>
          <a:p>
            <a:pPr>
              <a:buClr>
                <a:schemeClr val="tx1"/>
              </a:buClr>
              <a:buFont typeface="Wingdings" panose="05000000000000000000" pitchFamily="2" charset="2"/>
              <a:buChar char="§"/>
              <a:defRPr sz="1800">
                <a:solidFill>
                  <a:srgbClr val="3C3C3C"/>
                </a:solidFill>
              </a:defRPr>
            </a:pPr>
            <a:r>
              <a:rPr lang="en-US" sz="2400" dirty="0">
                <a:solidFill>
                  <a:schemeClr val="tx1"/>
                </a:solidFill>
              </a:rPr>
              <a:t>E-learning platforms and virtual classrooms</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Digital libraries and research tools</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Social media and digital communication</a:t>
            </a:r>
          </a:p>
          <a:p>
            <a:pPr>
              <a:buClr>
                <a:schemeClr val="tx1"/>
              </a:buClr>
              <a:buFont typeface="Wingdings" panose="05000000000000000000" pitchFamily="2" charset="2"/>
              <a:buChar char="§"/>
              <a:defRPr sz="1800">
                <a:solidFill>
                  <a:srgbClr val="3C3C3C"/>
                </a:solidFill>
              </a:defRPr>
            </a:pPr>
            <a:r>
              <a:rPr lang="en-US" sz="2400" dirty="0">
                <a:solidFill>
                  <a:schemeClr val="tx1"/>
                </a:solidFill>
              </a:rPr>
              <a:t>IT’s impact on social awareness and global connectivity</a:t>
            </a:r>
          </a:p>
          <a:p>
            <a:endParaRPr lang="en-IN" dirty="0"/>
          </a:p>
        </p:txBody>
      </p:sp>
    </p:spTree>
    <p:extLst>
      <p:ext uri="{BB962C8B-B14F-4D97-AF65-F5344CB8AC3E}">
        <p14:creationId xmlns:p14="http://schemas.microsoft.com/office/powerpoint/2010/main" val="1852200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F683E-9251-B5A9-81AF-10D27617D599}"/>
              </a:ext>
            </a:extLst>
          </p:cNvPr>
          <p:cNvSpPr>
            <a:spLocks noGrp="1"/>
          </p:cNvSpPr>
          <p:nvPr>
            <p:ph type="title"/>
          </p:nvPr>
        </p:nvSpPr>
        <p:spPr/>
        <p:txBody>
          <a:bodyPr>
            <a:normAutofit fontScale="90000"/>
          </a:bodyPr>
          <a:lstStyle/>
          <a:p>
            <a:r>
              <a:rPr lang="en-US" b="1" dirty="0">
                <a:solidFill>
                  <a:schemeClr val="tx1"/>
                </a:solidFill>
              </a:rPr>
              <a:t>The Role of Information Technology in Modern Business</a:t>
            </a:r>
            <a:br>
              <a:rPr lang="en-US" b="1" dirty="0"/>
            </a:br>
            <a:endParaRPr lang="en-IN" dirty="0"/>
          </a:p>
        </p:txBody>
      </p:sp>
      <p:sp>
        <p:nvSpPr>
          <p:cNvPr id="3" name="Content Placeholder 2">
            <a:extLst>
              <a:ext uri="{FF2B5EF4-FFF2-40B4-BE49-F238E27FC236}">
                <a16:creationId xmlns:a16="http://schemas.microsoft.com/office/drawing/2014/main" id="{3883C459-1C92-E76C-47A3-86E27CEDA244}"/>
              </a:ext>
            </a:extLst>
          </p:cNvPr>
          <p:cNvSpPr>
            <a:spLocks noGrp="1"/>
          </p:cNvSpPr>
          <p:nvPr>
            <p:ph idx="1"/>
          </p:nvPr>
        </p:nvSpPr>
        <p:spPr/>
        <p:txBody>
          <a:bodyPr>
            <a:normAutofit/>
          </a:bodyPr>
          <a:lstStyle/>
          <a:p>
            <a:pPr marL="0" indent="0">
              <a:buClr>
                <a:schemeClr val="tx1"/>
              </a:buClr>
              <a:buNone/>
            </a:pPr>
            <a:r>
              <a:rPr lang="en-US" sz="2400" dirty="0">
                <a:solidFill>
                  <a:schemeClr val="tx1"/>
                </a:solidFill>
              </a:rPr>
              <a:t>Information Technology (IT) plays a </a:t>
            </a:r>
            <a:r>
              <a:rPr lang="en-US" sz="2400" b="1" dirty="0">
                <a:solidFill>
                  <a:schemeClr val="tx1"/>
                </a:solidFill>
              </a:rPr>
              <a:t>vital role in transforming how businesses operate, communicate, and compete</a:t>
            </a:r>
            <a:r>
              <a:rPr lang="en-US" sz="2400" dirty="0">
                <a:solidFill>
                  <a:schemeClr val="tx1"/>
                </a:solidFill>
              </a:rPr>
              <a:t> in today’s digital world. It supports every aspect of modern business — from daily operations to strategic decision-making.</a:t>
            </a:r>
            <a:endParaRPr lang="en-IN" sz="2400" dirty="0">
              <a:solidFill>
                <a:schemeClr val="tx1"/>
              </a:solidFill>
            </a:endParaRPr>
          </a:p>
        </p:txBody>
      </p:sp>
    </p:spTree>
    <p:extLst>
      <p:ext uri="{BB962C8B-B14F-4D97-AF65-F5344CB8AC3E}">
        <p14:creationId xmlns:p14="http://schemas.microsoft.com/office/powerpoint/2010/main" val="3291457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76D1-D7F4-83C3-E02B-9F0D412F7F00}"/>
              </a:ext>
            </a:extLst>
          </p:cNvPr>
          <p:cNvSpPr>
            <a:spLocks noGrp="1"/>
          </p:cNvSpPr>
          <p:nvPr>
            <p:ph type="title"/>
          </p:nvPr>
        </p:nvSpPr>
        <p:spPr>
          <a:xfrm>
            <a:off x="677334" y="609600"/>
            <a:ext cx="8596668" cy="894735"/>
          </a:xfrm>
        </p:spPr>
        <p:txBody>
          <a:bodyPr/>
          <a:lstStyle/>
          <a:p>
            <a:r>
              <a:rPr lang="en-US" b="1" dirty="0">
                <a:solidFill>
                  <a:schemeClr val="tx1"/>
                </a:solidFill>
              </a:rPr>
              <a:t>Key roles of IT in modern business:</a:t>
            </a:r>
            <a:endParaRPr lang="en-IN" dirty="0">
              <a:solidFill>
                <a:schemeClr val="tx1"/>
              </a:solidFill>
            </a:endParaRPr>
          </a:p>
        </p:txBody>
      </p:sp>
      <p:sp>
        <p:nvSpPr>
          <p:cNvPr id="3" name="Content Placeholder 2">
            <a:extLst>
              <a:ext uri="{FF2B5EF4-FFF2-40B4-BE49-F238E27FC236}">
                <a16:creationId xmlns:a16="http://schemas.microsoft.com/office/drawing/2014/main" id="{FA6F3647-1C15-FD47-0D0D-CA8BF7C9248F}"/>
              </a:ext>
            </a:extLst>
          </p:cNvPr>
          <p:cNvSpPr>
            <a:spLocks noGrp="1"/>
          </p:cNvSpPr>
          <p:nvPr>
            <p:ph idx="1"/>
          </p:nvPr>
        </p:nvSpPr>
        <p:spPr>
          <a:xfrm>
            <a:off x="677334" y="1651819"/>
            <a:ext cx="8596668" cy="4847304"/>
          </a:xfrm>
        </p:spPr>
        <p:txBody>
          <a:bodyPr/>
          <a:lstStyle/>
          <a:p>
            <a:pPr>
              <a:buClr>
                <a:schemeClr val="tx1"/>
              </a:buClr>
              <a:buFont typeface="Wingdings" panose="05000000000000000000" pitchFamily="2" charset="2"/>
              <a:buChar char="§"/>
            </a:pPr>
            <a:r>
              <a:rPr lang="en-US" sz="2400" b="1" dirty="0">
                <a:solidFill>
                  <a:schemeClr val="tx1"/>
                </a:solidFill>
              </a:rPr>
              <a:t>Increased efficiency:</a:t>
            </a:r>
            <a:r>
              <a:rPr lang="en-US" sz="2400" dirty="0">
                <a:solidFill>
                  <a:schemeClr val="tx1"/>
                </a:solidFill>
              </a:rPr>
              <a:t> IT automates repetitive tasks, reduces manual labor, and minimizes errors, which leads to increased productivity and consistency across departments.</a:t>
            </a:r>
          </a:p>
          <a:p>
            <a:pPr>
              <a:buClr>
                <a:schemeClr val="tx1"/>
              </a:buClr>
              <a:buFont typeface="Wingdings" panose="05000000000000000000" pitchFamily="2" charset="2"/>
              <a:buChar char="§"/>
            </a:pPr>
            <a:r>
              <a:rPr lang="en-US" sz="2400" b="1" dirty="0">
                <a:solidFill>
                  <a:schemeClr val="tx1"/>
                </a:solidFill>
              </a:rPr>
              <a:t>Improved communication:</a:t>
            </a:r>
            <a:r>
              <a:rPr lang="en-US" sz="2400" dirty="0">
                <a:solidFill>
                  <a:schemeClr val="tx1"/>
                </a:solidFill>
              </a:rPr>
              <a:t> It provides tools like email, instant messaging, and video conferencing that facilitate real-time communication and collaboration among employees, clients, and partners.</a:t>
            </a:r>
          </a:p>
          <a:p>
            <a:pPr>
              <a:buClr>
                <a:schemeClr val="tx1"/>
              </a:buClr>
              <a:buFont typeface="Wingdings" panose="05000000000000000000" pitchFamily="2" charset="2"/>
              <a:buChar char="§"/>
            </a:pPr>
            <a:r>
              <a:rPr lang="en-US" sz="2400" b="1" dirty="0">
                <a:solidFill>
                  <a:schemeClr val="tx1"/>
                </a:solidFill>
              </a:rPr>
              <a:t>Data-driven decision-making:</a:t>
            </a:r>
            <a:r>
              <a:rPr lang="en-US" sz="2400" dirty="0">
                <a:solidFill>
                  <a:schemeClr val="tx1"/>
                </a:solidFill>
              </a:rPr>
              <a:t> Advanced analytics tools allow businesses to collect, analyze, and interpret vast amounts of data to gain insights for strategic planning and performance monitoring.</a:t>
            </a:r>
          </a:p>
          <a:p>
            <a:endParaRPr lang="en-IN" dirty="0"/>
          </a:p>
        </p:txBody>
      </p:sp>
    </p:spTree>
    <p:extLst>
      <p:ext uri="{BB962C8B-B14F-4D97-AF65-F5344CB8AC3E}">
        <p14:creationId xmlns:p14="http://schemas.microsoft.com/office/powerpoint/2010/main" val="850370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DA5CF-F848-016A-F99D-E7DD002240CD}"/>
              </a:ext>
            </a:extLst>
          </p:cNvPr>
          <p:cNvSpPr>
            <a:spLocks noGrp="1"/>
          </p:cNvSpPr>
          <p:nvPr>
            <p:ph idx="1"/>
          </p:nvPr>
        </p:nvSpPr>
        <p:spPr>
          <a:xfrm>
            <a:off x="677334" y="609601"/>
            <a:ext cx="9469556" cy="5431762"/>
          </a:xfrm>
        </p:spPr>
        <p:txBody>
          <a:bodyPr/>
          <a:lstStyle/>
          <a:p>
            <a:pPr>
              <a:buClr>
                <a:schemeClr val="tx1"/>
              </a:buClr>
              <a:buFont typeface="Wingdings" panose="05000000000000000000" pitchFamily="2" charset="2"/>
              <a:buChar char="§"/>
            </a:pPr>
            <a:r>
              <a:rPr lang="en-US" sz="2400" b="1" dirty="0">
                <a:solidFill>
                  <a:schemeClr val="tx1"/>
                </a:solidFill>
              </a:rPr>
              <a:t>Innovation and competitiveness:</a:t>
            </a:r>
            <a:r>
              <a:rPr lang="en-US" sz="2400" dirty="0">
                <a:solidFill>
                  <a:schemeClr val="tx1"/>
                </a:solidFill>
              </a:rPr>
              <a:t> IT provides platforms and tools for research and development, allowing companies to create innovative products and services and gain a competitive edge.</a:t>
            </a:r>
          </a:p>
          <a:p>
            <a:pPr>
              <a:buClr>
                <a:schemeClr val="tx1"/>
              </a:buClr>
              <a:buFont typeface="Wingdings" panose="05000000000000000000" pitchFamily="2" charset="2"/>
              <a:buChar char="§"/>
            </a:pPr>
            <a:r>
              <a:rPr lang="en-US" sz="2400" b="1" dirty="0">
                <a:solidFill>
                  <a:schemeClr val="tx1"/>
                </a:solidFill>
              </a:rPr>
              <a:t>Supply chain optimization:</a:t>
            </a:r>
            <a:r>
              <a:rPr lang="en-US" sz="2400" dirty="0">
                <a:solidFill>
                  <a:schemeClr val="tx1"/>
                </a:solidFill>
              </a:rPr>
              <a:t> Sophisticated software helps businesses track inventory, manage logistics, and improve demand forecasting, which reduces costs and ensures timely deliveries.</a:t>
            </a:r>
          </a:p>
          <a:p>
            <a:pPr>
              <a:buClr>
                <a:schemeClr val="tx1"/>
              </a:buClr>
              <a:buFont typeface="Wingdings" panose="05000000000000000000" pitchFamily="2" charset="2"/>
              <a:buChar char="§"/>
            </a:pPr>
            <a:r>
              <a:rPr lang="en-US" sz="2400" b="1" dirty="0">
                <a:solidFill>
                  <a:schemeClr val="tx1"/>
                </a:solidFill>
              </a:rPr>
              <a:t>Enhanced customer experience:</a:t>
            </a:r>
            <a:r>
              <a:rPr lang="en-US" sz="2400" dirty="0">
                <a:solidFill>
                  <a:schemeClr val="tx1"/>
                </a:solidFill>
              </a:rPr>
              <a:t> IT systems like CRM software allow businesses to track customer information and preferences, while tools like chatbots provide instant customer service.</a:t>
            </a:r>
          </a:p>
          <a:p>
            <a:endParaRPr lang="en-IN" dirty="0"/>
          </a:p>
        </p:txBody>
      </p:sp>
    </p:spTree>
    <p:extLst>
      <p:ext uri="{BB962C8B-B14F-4D97-AF65-F5344CB8AC3E}">
        <p14:creationId xmlns:p14="http://schemas.microsoft.com/office/powerpoint/2010/main" val="2420094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08E5C-57CA-9DD6-26C3-C42E1A3C602F}"/>
              </a:ext>
            </a:extLst>
          </p:cNvPr>
          <p:cNvSpPr>
            <a:spLocks noGrp="1"/>
          </p:cNvSpPr>
          <p:nvPr>
            <p:ph idx="1"/>
          </p:nvPr>
        </p:nvSpPr>
        <p:spPr>
          <a:xfrm>
            <a:off x="677333" y="491613"/>
            <a:ext cx="9341737" cy="5549749"/>
          </a:xfrm>
        </p:spPr>
        <p:txBody>
          <a:bodyPr/>
          <a:lstStyle/>
          <a:p>
            <a:pPr>
              <a:buClr>
                <a:schemeClr val="tx1"/>
              </a:buClr>
              <a:buFont typeface="Wingdings" panose="05000000000000000000" pitchFamily="2" charset="2"/>
              <a:buChar char="§"/>
            </a:pPr>
            <a:r>
              <a:rPr lang="en-US" sz="2400" dirty="0">
                <a:solidFill>
                  <a:schemeClr val="tx1"/>
                </a:solidFill>
              </a:rPr>
              <a:t>Cybersecurity: IT professionals use advanced security measures like firewalls, encryption, and intrusion detection systems to protect sensitive data from cyber threats and safeguard the company's reputation.</a:t>
            </a:r>
          </a:p>
          <a:p>
            <a:pPr>
              <a:buClr>
                <a:schemeClr val="tx1"/>
              </a:buClr>
              <a:buFont typeface="Wingdings" panose="05000000000000000000" pitchFamily="2" charset="2"/>
              <a:buChar char="§"/>
            </a:pPr>
            <a:r>
              <a:rPr lang="en-US" sz="2400" dirty="0">
                <a:solidFill>
                  <a:schemeClr val="tx1"/>
                </a:solidFill>
              </a:rPr>
              <a:t>Scalability and flexibility: Cloud computing, for example, provides businesses with scalable storage and access to data from anywhere, allowing them to grow and adapt their operations as needed. </a:t>
            </a:r>
          </a:p>
          <a:p>
            <a:endParaRPr lang="en-IN" dirty="0"/>
          </a:p>
        </p:txBody>
      </p:sp>
    </p:spTree>
    <p:extLst>
      <p:ext uri="{BB962C8B-B14F-4D97-AF65-F5344CB8AC3E}">
        <p14:creationId xmlns:p14="http://schemas.microsoft.com/office/powerpoint/2010/main" val="2818875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CC4E-D784-F1EC-8106-3F415D281ACE}"/>
              </a:ext>
            </a:extLst>
          </p:cNvPr>
          <p:cNvSpPr>
            <a:spLocks noGrp="1"/>
          </p:cNvSpPr>
          <p:nvPr>
            <p:ph type="title"/>
          </p:nvPr>
        </p:nvSpPr>
        <p:spPr/>
        <p:txBody>
          <a:bodyPr/>
          <a:lstStyle/>
          <a:p>
            <a:r>
              <a:rPr lang="en-US" b="1" dirty="0">
                <a:solidFill>
                  <a:schemeClr val="tx1"/>
                </a:solidFill>
              </a:rPr>
              <a:t>Enterprise Resource Planning</a:t>
            </a:r>
            <a:endParaRPr lang="en-IN" b="1" dirty="0">
              <a:solidFill>
                <a:schemeClr val="tx1"/>
              </a:solidFill>
            </a:endParaRPr>
          </a:p>
        </p:txBody>
      </p:sp>
      <p:sp>
        <p:nvSpPr>
          <p:cNvPr id="3" name="Content Placeholder 2">
            <a:extLst>
              <a:ext uri="{FF2B5EF4-FFF2-40B4-BE49-F238E27FC236}">
                <a16:creationId xmlns:a16="http://schemas.microsoft.com/office/drawing/2014/main" id="{55E1130F-AC1F-51D6-049C-2BDE781F9842}"/>
              </a:ext>
            </a:extLst>
          </p:cNvPr>
          <p:cNvSpPr>
            <a:spLocks noGrp="1"/>
          </p:cNvSpPr>
          <p:nvPr>
            <p:ph idx="1"/>
          </p:nvPr>
        </p:nvSpPr>
        <p:spPr/>
        <p:txBody>
          <a:bodyPr>
            <a:normAutofit/>
          </a:bodyPr>
          <a:lstStyle/>
          <a:p>
            <a:pPr marL="0" indent="0">
              <a:buClr>
                <a:schemeClr val="tx1"/>
              </a:buClr>
              <a:buNone/>
            </a:pPr>
            <a:r>
              <a:rPr lang="en-US" sz="2400" dirty="0">
                <a:solidFill>
                  <a:schemeClr val="tx1"/>
                </a:solidFill>
              </a:rPr>
              <a:t>Enterprise Resource Planning (ERP) is a software system that integrates and manages core business processes like finance, HR, supply chain, and manufacturing into a single, unified platform. By centralizing data, ERP streamlines operations, improves efficiency, and provides a real-time, single source of truth for an organization's activities. It allows different departments — such as </a:t>
            </a:r>
            <a:r>
              <a:rPr lang="en-US" sz="2400" b="1" dirty="0">
                <a:solidFill>
                  <a:schemeClr val="tx1"/>
                </a:solidFill>
              </a:rPr>
              <a:t>finance, HR, sales, supply chain, inventory, and manufacturing</a:t>
            </a:r>
            <a:r>
              <a:rPr lang="en-US" sz="2400" dirty="0">
                <a:solidFill>
                  <a:schemeClr val="tx1"/>
                </a:solidFill>
              </a:rPr>
              <a:t> — to share information and work efficiently together.</a:t>
            </a:r>
            <a:endParaRPr lang="en-IN" sz="2400" dirty="0">
              <a:solidFill>
                <a:schemeClr val="tx1"/>
              </a:solidFill>
            </a:endParaRPr>
          </a:p>
        </p:txBody>
      </p:sp>
    </p:spTree>
    <p:extLst>
      <p:ext uri="{BB962C8B-B14F-4D97-AF65-F5344CB8AC3E}">
        <p14:creationId xmlns:p14="http://schemas.microsoft.com/office/powerpoint/2010/main" val="931892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E742-3F29-4E04-8B7A-FCA557812544}"/>
              </a:ext>
            </a:extLst>
          </p:cNvPr>
          <p:cNvSpPr>
            <a:spLocks noGrp="1"/>
          </p:cNvSpPr>
          <p:nvPr>
            <p:ph type="title"/>
          </p:nvPr>
        </p:nvSpPr>
        <p:spPr>
          <a:xfrm>
            <a:off x="677334" y="609600"/>
            <a:ext cx="8596668" cy="806245"/>
          </a:xfrm>
        </p:spPr>
        <p:txBody>
          <a:bodyPr/>
          <a:lstStyle/>
          <a:p>
            <a:r>
              <a:rPr lang="en-US" b="1" dirty="0">
                <a:solidFill>
                  <a:schemeClr val="tx1"/>
                </a:solidFill>
              </a:rPr>
              <a:t>Key Features of ERP Systems</a:t>
            </a:r>
            <a:endParaRPr lang="en-IN" b="1" dirty="0">
              <a:solidFill>
                <a:schemeClr val="tx1"/>
              </a:solidFill>
            </a:endParaRPr>
          </a:p>
        </p:txBody>
      </p:sp>
      <p:graphicFrame>
        <p:nvGraphicFramePr>
          <p:cNvPr id="4" name="Content Placeholder 3">
            <a:extLst>
              <a:ext uri="{FF2B5EF4-FFF2-40B4-BE49-F238E27FC236}">
                <a16:creationId xmlns:a16="http://schemas.microsoft.com/office/drawing/2014/main" id="{1F8A11C3-FE6D-EE59-1E06-35FBB8C88A13}"/>
              </a:ext>
            </a:extLst>
          </p:cNvPr>
          <p:cNvGraphicFramePr>
            <a:graphicFrameLocks noGrp="1"/>
          </p:cNvGraphicFramePr>
          <p:nvPr>
            <p:ph idx="1"/>
            <p:extLst>
              <p:ext uri="{D42A27DB-BD31-4B8C-83A1-F6EECF244321}">
                <p14:modId xmlns:p14="http://schemas.microsoft.com/office/powerpoint/2010/main" val="3812835824"/>
              </p:ext>
            </p:extLst>
          </p:nvPr>
        </p:nvGraphicFramePr>
        <p:xfrm>
          <a:off x="677862" y="1415845"/>
          <a:ext cx="9547686" cy="4468542"/>
        </p:xfrm>
        <a:graphic>
          <a:graphicData uri="http://schemas.openxmlformats.org/drawingml/2006/table">
            <a:tbl>
              <a:tblPr/>
              <a:tblGrid>
                <a:gridCol w="4773843">
                  <a:extLst>
                    <a:ext uri="{9D8B030D-6E8A-4147-A177-3AD203B41FA5}">
                      <a16:colId xmlns:a16="http://schemas.microsoft.com/office/drawing/2014/main" val="2508079859"/>
                    </a:ext>
                  </a:extLst>
                </a:gridCol>
                <a:gridCol w="4773843">
                  <a:extLst>
                    <a:ext uri="{9D8B030D-6E8A-4147-A177-3AD203B41FA5}">
                      <a16:colId xmlns:a16="http://schemas.microsoft.com/office/drawing/2014/main" val="1718313978"/>
                    </a:ext>
                  </a:extLst>
                </a:gridCol>
              </a:tblGrid>
              <a:tr h="458312">
                <a:tc>
                  <a:txBody>
                    <a:bodyPr/>
                    <a:lstStyle/>
                    <a:p>
                      <a:pPr>
                        <a:buNone/>
                      </a:pPr>
                      <a:r>
                        <a:rPr lang="en-IN" sz="2000" b="1"/>
                        <a:t>Feature</a:t>
                      </a:r>
                      <a:endParaRPr lang="en-IN" sz="2000"/>
                    </a:p>
                  </a:txBody>
                  <a:tcPr anchor="ctr">
                    <a:lnL>
                      <a:noFill/>
                    </a:lnL>
                    <a:lnR>
                      <a:noFill/>
                    </a:lnR>
                    <a:lnT>
                      <a:noFill/>
                    </a:lnT>
                    <a:lnB>
                      <a:noFill/>
                    </a:lnB>
                    <a:noFill/>
                  </a:tcPr>
                </a:tc>
                <a:tc>
                  <a:txBody>
                    <a:bodyPr/>
                    <a:lstStyle/>
                    <a:p>
                      <a:pPr>
                        <a:buNone/>
                      </a:pPr>
                      <a:r>
                        <a:rPr lang="en-IN" sz="2000" b="1"/>
                        <a:t>Description</a:t>
                      </a:r>
                      <a:endParaRPr lang="en-IN" sz="2000"/>
                    </a:p>
                  </a:txBody>
                  <a:tcPr anchor="ctr">
                    <a:lnL>
                      <a:noFill/>
                    </a:lnL>
                    <a:lnR>
                      <a:noFill/>
                    </a:lnR>
                    <a:lnT>
                      <a:noFill/>
                    </a:lnT>
                    <a:lnB>
                      <a:noFill/>
                    </a:lnB>
                    <a:noFill/>
                  </a:tcPr>
                </a:tc>
                <a:extLst>
                  <a:ext uri="{0D108BD9-81ED-4DB2-BD59-A6C34878D82A}">
                    <a16:rowId xmlns:a16="http://schemas.microsoft.com/office/drawing/2014/main" val="1723167626"/>
                  </a:ext>
                </a:extLst>
              </a:tr>
              <a:tr h="802046">
                <a:tc>
                  <a:txBody>
                    <a:bodyPr/>
                    <a:lstStyle/>
                    <a:p>
                      <a:pPr>
                        <a:buNone/>
                      </a:pPr>
                      <a:r>
                        <a:rPr lang="en-IN" sz="2000" b="1"/>
                        <a:t>Centralized Database</a:t>
                      </a:r>
                      <a:endParaRPr lang="en-IN" sz="2000"/>
                    </a:p>
                  </a:txBody>
                  <a:tcPr anchor="ctr">
                    <a:lnL>
                      <a:noFill/>
                    </a:lnL>
                    <a:lnR>
                      <a:noFill/>
                    </a:lnR>
                    <a:lnT>
                      <a:noFill/>
                    </a:lnT>
                    <a:lnB>
                      <a:noFill/>
                    </a:lnB>
                    <a:noFill/>
                  </a:tcPr>
                </a:tc>
                <a:tc>
                  <a:txBody>
                    <a:bodyPr/>
                    <a:lstStyle/>
                    <a:p>
                      <a:pPr>
                        <a:buNone/>
                      </a:pPr>
                      <a:r>
                        <a:rPr lang="en-US" sz="2000"/>
                        <a:t>Stores all business data in one place for easy access and consistency.</a:t>
                      </a:r>
                    </a:p>
                  </a:txBody>
                  <a:tcPr anchor="ctr">
                    <a:lnL>
                      <a:noFill/>
                    </a:lnL>
                    <a:lnR>
                      <a:noFill/>
                    </a:lnR>
                    <a:lnT>
                      <a:noFill/>
                    </a:lnT>
                    <a:lnB>
                      <a:noFill/>
                    </a:lnB>
                    <a:noFill/>
                  </a:tcPr>
                </a:tc>
                <a:extLst>
                  <a:ext uri="{0D108BD9-81ED-4DB2-BD59-A6C34878D82A}">
                    <a16:rowId xmlns:a16="http://schemas.microsoft.com/office/drawing/2014/main" val="3082146943"/>
                  </a:ext>
                </a:extLst>
              </a:tr>
              <a:tr h="802046">
                <a:tc>
                  <a:txBody>
                    <a:bodyPr/>
                    <a:lstStyle/>
                    <a:p>
                      <a:pPr>
                        <a:buNone/>
                      </a:pPr>
                      <a:r>
                        <a:rPr lang="en-IN" sz="2000" b="1"/>
                        <a:t>Integration of Functions</a:t>
                      </a:r>
                      <a:endParaRPr lang="en-IN" sz="2000"/>
                    </a:p>
                  </a:txBody>
                  <a:tcPr anchor="ctr">
                    <a:lnL>
                      <a:noFill/>
                    </a:lnL>
                    <a:lnR>
                      <a:noFill/>
                    </a:lnR>
                    <a:lnT>
                      <a:noFill/>
                    </a:lnT>
                    <a:lnB>
                      <a:noFill/>
                    </a:lnB>
                    <a:noFill/>
                  </a:tcPr>
                </a:tc>
                <a:tc>
                  <a:txBody>
                    <a:bodyPr/>
                    <a:lstStyle/>
                    <a:p>
                      <a:pPr>
                        <a:buNone/>
                      </a:pPr>
                      <a:r>
                        <a:rPr lang="en-US" sz="2000"/>
                        <a:t>Combines processes across departments (e.g., HR, Finance, Sales).</a:t>
                      </a:r>
                    </a:p>
                  </a:txBody>
                  <a:tcPr anchor="ctr">
                    <a:lnL>
                      <a:noFill/>
                    </a:lnL>
                    <a:lnR>
                      <a:noFill/>
                    </a:lnR>
                    <a:lnT>
                      <a:noFill/>
                    </a:lnT>
                    <a:lnB>
                      <a:noFill/>
                    </a:lnB>
                    <a:noFill/>
                  </a:tcPr>
                </a:tc>
                <a:extLst>
                  <a:ext uri="{0D108BD9-81ED-4DB2-BD59-A6C34878D82A}">
                    <a16:rowId xmlns:a16="http://schemas.microsoft.com/office/drawing/2014/main" val="2581449949"/>
                  </a:ext>
                </a:extLst>
              </a:tr>
              <a:tr h="802046">
                <a:tc>
                  <a:txBody>
                    <a:bodyPr/>
                    <a:lstStyle/>
                    <a:p>
                      <a:pPr>
                        <a:buNone/>
                      </a:pPr>
                      <a:r>
                        <a:rPr lang="en-IN" sz="2000" b="1"/>
                        <a:t>Automation</a:t>
                      </a:r>
                      <a:endParaRPr lang="en-IN" sz="2000"/>
                    </a:p>
                  </a:txBody>
                  <a:tcPr anchor="ctr">
                    <a:lnL>
                      <a:noFill/>
                    </a:lnL>
                    <a:lnR>
                      <a:noFill/>
                    </a:lnR>
                    <a:lnT>
                      <a:noFill/>
                    </a:lnT>
                    <a:lnB>
                      <a:noFill/>
                    </a:lnB>
                    <a:noFill/>
                  </a:tcPr>
                </a:tc>
                <a:tc>
                  <a:txBody>
                    <a:bodyPr/>
                    <a:lstStyle/>
                    <a:p>
                      <a:pPr>
                        <a:buNone/>
                      </a:pPr>
                      <a:r>
                        <a:rPr lang="en-US" sz="2000"/>
                        <a:t>Reduces manual work and errors by automating repetitive tasks.</a:t>
                      </a:r>
                    </a:p>
                  </a:txBody>
                  <a:tcPr anchor="ctr">
                    <a:lnL>
                      <a:noFill/>
                    </a:lnL>
                    <a:lnR>
                      <a:noFill/>
                    </a:lnR>
                    <a:lnT>
                      <a:noFill/>
                    </a:lnT>
                    <a:lnB>
                      <a:noFill/>
                    </a:lnB>
                    <a:noFill/>
                  </a:tcPr>
                </a:tc>
                <a:extLst>
                  <a:ext uri="{0D108BD9-81ED-4DB2-BD59-A6C34878D82A}">
                    <a16:rowId xmlns:a16="http://schemas.microsoft.com/office/drawing/2014/main" val="1631448643"/>
                  </a:ext>
                </a:extLst>
              </a:tr>
              <a:tr h="802046">
                <a:tc>
                  <a:txBody>
                    <a:bodyPr/>
                    <a:lstStyle/>
                    <a:p>
                      <a:pPr>
                        <a:buNone/>
                      </a:pPr>
                      <a:r>
                        <a:rPr lang="en-IN" sz="2000" b="1"/>
                        <a:t>Real-Time Reporting</a:t>
                      </a:r>
                      <a:endParaRPr lang="en-IN" sz="2000"/>
                    </a:p>
                  </a:txBody>
                  <a:tcPr anchor="ctr">
                    <a:lnL>
                      <a:noFill/>
                    </a:lnL>
                    <a:lnR>
                      <a:noFill/>
                    </a:lnR>
                    <a:lnT>
                      <a:noFill/>
                    </a:lnT>
                    <a:lnB>
                      <a:noFill/>
                    </a:lnB>
                    <a:noFill/>
                  </a:tcPr>
                </a:tc>
                <a:tc>
                  <a:txBody>
                    <a:bodyPr/>
                    <a:lstStyle/>
                    <a:p>
                      <a:pPr>
                        <a:buNone/>
                      </a:pPr>
                      <a:r>
                        <a:rPr lang="en-US" sz="2000"/>
                        <a:t>Provides instant access to business insights and performance metrics.</a:t>
                      </a:r>
                    </a:p>
                  </a:txBody>
                  <a:tcPr anchor="ctr">
                    <a:lnL>
                      <a:noFill/>
                    </a:lnL>
                    <a:lnR>
                      <a:noFill/>
                    </a:lnR>
                    <a:lnT>
                      <a:noFill/>
                    </a:lnT>
                    <a:lnB>
                      <a:noFill/>
                    </a:lnB>
                    <a:noFill/>
                  </a:tcPr>
                </a:tc>
                <a:extLst>
                  <a:ext uri="{0D108BD9-81ED-4DB2-BD59-A6C34878D82A}">
                    <a16:rowId xmlns:a16="http://schemas.microsoft.com/office/drawing/2014/main" val="2828244299"/>
                  </a:ext>
                </a:extLst>
              </a:tr>
              <a:tr h="802046">
                <a:tc>
                  <a:txBody>
                    <a:bodyPr/>
                    <a:lstStyle/>
                    <a:p>
                      <a:pPr>
                        <a:buNone/>
                      </a:pPr>
                      <a:r>
                        <a:rPr lang="en-IN" sz="2000" b="1"/>
                        <a:t>Customization</a:t>
                      </a:r>
                      <a:endParaRPr lang="en-IN" sz="2000"/>
                    </a:p>
                  </a:txBody>
                  <a:tcPr anchor="ctr">
                    <a:lnL>
                      <a:noFill/>
                    </a:lnL>
                    <a:lnR>
                      <a:noFill/>
                    </a:lnR>
                    <a:lnT>
                      <a:noFill/>
                    </a:lnT>
                    <a:lnB>
                      <a:noFill/>
                    </a:lnB>
                    <a:noFill/>
                  </a:tcPr>
                </a:tc>
                <a:tc>
                  <a:txBody>
                    <a:bodyPr/>
                    <a:lstStyle/>
                    <a:p>
                      <a:pPr>
                        <a:buNone/>
                      </a:pPr>
                      <a:r>
                        <a:rPr lang="en-US" sz="2000" dirty="0"/>
                        <a:t>Can be tailored to fit specific business needs.</a:t>
                      </a:r>
                    </a:p>
                  </a:txBody>
                  <a:tcPr anchor="ctr">
                    <a:lnL>
                      <a:noFill/>
                    </a:lnL>
                    <a:lnR>
                      <a:noFill/>
                    </a:lnR>
                    <a:lnT>
                      <a:noFill/>
                    </a:lnT>
                    <a:lnB>
                      <a:noFill/>
                    </a:lnB>
                    <a:noFill/>
                  </a:tcPr>
                </a:tc>
                <a:extLst>
                  <a:ext uri="{0D108BD9-81ED-4DB2-BD59-A6C34878D82A}">
                    <a16:rowId xmlns:a16="http://schemas.microsoft.com/office/drawing/2014/main" val="172090523"/>
                  </a:ext>
                </a:extLst>
              </a:tr>
            </a:tbl>
          </a:graphicData>
        </a:graphic>
      </p:graphicFrame>
    </p:spTree>
    <p:extLst>
      <p:ext uri="{BB962C8B-B14F-4D97-AF65-F5344CB8AC3E}">
        <p14:creationId xmlns:p14="http://schemas.microsoft.com/office/powerpoint/2010/main" val="2581465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3D8C5-D20C-829D-40CC-E02EBAE4B757}"/>
              </a:ext>
            </a:extLst>
          </p:cNvPr>
          <p:cNvSpPr>
            <a:spLocks noGrp="1"/>
          </p:cNvSpPr>
          <p:nvPr>
            <p:ph type="title"/>
          </p:nvPr>
        </p:nvSpPr>
        <p:spPr/>
        <p:txBody>
          <a:bodyPr/>
          <a:lstStyle/>
          <a:p>
            <a:r>
              <a:rPr lang="en-IN" dirty="0">
                <a:solidFill>
                  <a:schemeClr val="tx1"/>
                </a:solidFill>
              </a:rPr>
              <a:t>Core Modules in ERP</a:t>
            </a:r>
          </a:p>
        </p:txBody>
      </p:sp>
      <p:sp>
        <p:nvSpPr>
          <p:cNvPr id="4" name="Rectangle 1">
            <a:extLst>
              <a:ext uri="{FF2B5EF4-FFF2-40B4-BE49-F238E27FC236}">
                <a16:creationId xmlns:a16="http://schemas.microsoft.com/office/drawing/2014/main" id="{9EA5A1AB-87BA-804D-2E0D-2F23164AD6E8}"/>
              </a:ext>
            </a:extLst>
          </p:cNvPr>
          <p:cNvSpPr>
            <a:spLocks noGrp="1" noChangeArrowheads="1"/>
          </p:cNvSpPr>
          <p:nvPr>
            <p:ph idx="1"/>
          </p:nvPr>
        </p:nvSpPr>
        <p:spPr bwMode="auto">
          <a:xfrm>
            <a:off x="677334" y="1700264"/>
            <a:ext cx="833884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Finance and Accounting</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Human Resource Management (HRM)</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Inventory Management</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Sales and Marketing</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Customer Relationship Management (CRM)</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Supply Chain Management (SCM)</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Production/Manufacturing Management</a:t>
            </a:r>
          </a:p>
        </p:txBody>
      </p:sp>
    </p:spTree>
    <p:extLst>
      <p:ext uri="{BB962C8B-B14F-4D97-AF65-F5344CB8AC3E}">
        <p14:creationId xmlns:p14="http://schemas.microsoft.com/office/powerpoint/2010/main" val="1399706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EEB08-E7D0-201B-9E99-7FC016626C07}"/>
              </a:ext>
            </a:extLst>
          </p:cNvPr>
          <p:cNvSpPr>
            <a:spLocks noGrp="1"/>
          </p:cNvSpPr>
          <p:nvPr>
            <p:ph type="title"/>
          </p:nvPr>
        </p:nvSpPr>
        <p:spPr/>
        <p:txBody>
          <a:bodyPr/>
          <a:lstStyle/>
          <a:p>
            <a:r>
              <a:rPr lang="en-IN" b="1" dirty="0">
                <a:solidFill>
                  <a:schemeClr val="tx1"/>
                </a:solidFill>
              </a:rPr>
              <a:t>Benefits of ERP</a:t>
            </a:r>
            <a:endParaRPr lang="en-IN" dirty="0">
              <a:solidFill>
                <a:schemeClr val="tx1"/>
              </a:solidFill>
            </a:endParaRPr>
          </a:p>
        </p:txBody>
      </p:sp>
      <p:sp>
        <p:nvSpPr>
          <p:cNvPr id="4" name="Rectangle 1">
            <a:extLst>
              <a:ext uri="{FF2B5EF4-FFF2-40B4-BE49-F238E27FC236}">
                <a16:creationId xmlns:a16="http://schemas.microsoft.com/office/drawing/2014/main" id="{12B8B207-BC09-6EDC-8347-2311683F2BCE}"/>
              </a:ext>
            </a:extLst>
          </p:cNvPr>
          <p:cNvSpPr>
            <a:spLocks noGrp="1" noChangeArrowheads="1"/>
          </p:cNvSpPr>
          <p:nvPr>
            <p:ph idx="1"/>
          </p:nvPr>
        </p:nvSpPr>
        <p:spPr bwMode="auto">
          <a:xfrm>
            <a:off x="480688" y="1616075"/>
            <a:ext cx="869280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Improved efficiency and productivity</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Enhanced data accuracy and reporting</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Better decision-making with real-time data</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Lower operational costs</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Greater collaboration across departments</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i="0" u="none" strike="noStrike" cap="none" normalizeH="0" baseline="0" dirty="0">
                <a:ln>
                  <a:noFill/>
                </a:ln>
                <a:solidFill>
                  <a:schemeClr val="tx1"/>
                </a:solidFill>
                <a:effectLst/>
                <a:latin typeface="Arial" panose="020B0604020202020204" pitchFamily="34" charset="0"/>
              </a:rPr>
              <a:t>Stronger customer satisfaction</a:t>
            </a:r>
          </a:p>
        </p:txBody>
      </p:sp>
    </p:spTree>
    <p:extLst>
      <p:ext uri="{BB962C8B-B14F-4D97-AF65-F5344CB8AC3E}">
        <p14:creationId xmlns:p14="http://schemas.microsoft.com/office/powerpoint/2010/main" val="2963512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0CF3-94CC-BF36-3869-001FC4946E4E}"/>
              </a:ext>
            </a:extLst>
          </p:cNvPr>
          <p:cNvSpPr>
            <a:spLocks noGrp="1"/>
          </p:cNvSpPr>
          <p:nvPr>
            <p:ph type="title"/>
          </p:nvPr>
        </p:nvSpPr>
        <p:spPr/>
        <p:txBody>
          <a:bodyPr/>
          <a:lstStyle/>
          <a:p>
            <a:r>
              <a:rPr lang="en-IN" b="1" dirty="0">
                <a:solidFill>
                  <a:schemeClr val="tx1"/>
                </a:solidFill>
              </a:rPr>
              <a:t>Popular ERP Software</a:t>
            </a:r>
          </a:p>
        </p:txBody>
      </p:sp>
      <p:sp>
        <p:nvSpPr>
          <p:cNvPr id="4" name="Rectangle 1">
            <a:extLst>
              <a:ext uri="{FF2B5EF4-FFF2-40B4-BE49-F238E27FC236}">
                <a16:creationId xmlns:a16="http://schemas.microsoft.com/office/drawing/2014/main" id="{9080C414-B2CC-B5D0-DC2E-80BA571B5757}"/>
              </a:ext>
            </a:extLst>
          </p:cNvPr>
          <p:cNvSpPr>
            <a:spLocks noGrp="1" noChangeArrowheads="1"/>
          </p:cNvSpPr>
          <p:nvPr>
            <p:ph idx="1"/>
          </p:nvPr>
        </p:nvSpPr>
        <p:spPr bwMode="auto">
          <a:xfrm>
            <a:off x="873979" y="1725467"/>
            <a:ext cx="381707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SAP ERP</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Oracle ERP Cloud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Microsoft Dynamics 365</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Odoo</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i="0" u="none" strike="noStrike" cap="none" normalizeH="0" baseline="0" dirty="0">
                <a:ln>
                  <a:noFill/>
                </a:ln>
                <a:solidFill>
                  <a:schemeClr val="tx1"/>
                </a:solidFill>
                <a:effectLst/>
                <a:latin typeface="Arial" panose="020B0604020202020204" pitchFamily="34" charset="0"/>
              </a:rPr>
              <a:t>NetSuite ERP</a:t>
            </a:r>
          </a:p>
        </p:txBody>
      </p:sp>
    </p:spTree>
    <p:extLst>
      <p:ext uri="{BB962C8B-B14F-4D97-AF65-F5344CB8AC3E}">
        <p14:creationId xmlns:p14="http://schemas.microsoft.com/office/powerpoint/2010/main" val="2874170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F51F-DEB3-1AA2-C80F-C9797C172451}"/>
              </a:ext>
            </a:extLst>
          </p:cNvPr>
          <p:cNvSpPr>
            <a:spLocks noGrp="1"/>
          </p:cNvSpPr>
          <p:nvPr>
            <p:ph type="title"/>
          </p:nvPr>
        </p:nvSpPr>
        <p:spPr/>
        <p:txBody>
          <a:bodyPr>
            <a:normAutofit/>
          </a:bodyPr>
          <a:lstStyle/>
          <a:p>
            <a:r>
              <a:rPr lang="en-US" sz="2800" b="1" dirty="0">
                <a:solidFill>
                  <a:schemeClr val="tx1"/>
                </a:solidFill>
              </a:rPr>
              <a:t>How Enterprise Resource Planning Platforms Work</a:t>
            </a:r>
            <a:endParaRPr lang="en-IN" sz="2800" b="1" dirty="0">
              <a:solidFill>
                <a:schemeClr val="tx1"/>
              </a:solidFill>
            </a:endParaRPr>
          </a:p>
        </p:txBody>
      </p:sp>
      <p:sp>
        <p:nvSpPr>
          <p:cNvPr id="3" name="Content Placeholder 2">
            <a:extLst>
              <a:ext uri="{FF2B5EF4-FFF2-40B4-BE49-F238E27FC236}">
                <a16:creationId xmlns:a16="http://schemas.microsoft.com/office/drawing/2014/main" id="{22CAFC8B-43DF-CA3C-CBDF-FCE0A0575576}"/>
              </a:ext>
            </a:extLst>
          </p:cNvPr>
          <p:cNvSpPr>
            <a:spLocks noGrp="1"/>
          </p:cNvSpPr>
          <p:nvPr>
            <p:ph idx="1"/>
          </p:nvPr>
        </p:nvSpPr>
        <p:spPr>
          <a:xfrm>
            <a:off x="677333" y="1668976"/>
            <a:ext cx="9636705" cy="3880773"/>
          </a:xfrm>
        </p:spPr>
        <p:txBody>
          <a:bodyPr>
            <a:normAutofit/>
          </a:bodyPr>
          <a:lstStyle/>
          <a:p>
            <a:pPr marL="0" indent="0">
              <a:buNone/>
            </a:pPr>
            <a:r>
              <a:rPr lang="en-US" sz="2400" dirty="0">
                <a:solidFill>
                  <a:schemeClr val="tx1"/>
                </a:solidFill>
              </a:rPr>
              <a:t>Enterprise Resource Planning (ERP) platforms work by integrating all of a company's core business functions, like finance, HR, and supply chain, into a single system that uses a central database. This structure allows different departments to share information in real-time, automate processes, and create seamless workflows that streamline operations and improve decision-making. </a:t>
            </a:r>
            <a:endParaRPr lang="en-IN" sz="2400" dirty="0">
              <a:solidFill>
                <a:schemeClr val="tx1"/>
              </a:solidFill>
            </a:endParaRPr>
          </a:p>
        </p:txBody>
      </p:sp>
    </p:spTree>
    <p:extLst>
      <p:ext uri="{BB962C8B-B14F-4D97-AF65-F5344CB8AC3E}">
        <p14:creationId xmlns:p14="http://schemas.microsoft.com/office/powerpoint/2010/main" val="1774330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BE865-A35A-D02E-3D90-B2C12AE04504}"/>
              </a:ext>
            </a:extLst>
          </p:cNvPr>
          <p:cNvSpPr>
            <a:spLocks noGrp="1"/>
          </p:cNvSpPr>
          <p:nvPr>
            <p:ph type="title"/>
          </p:nvPr>
        </p:nvSpPr>
        <p:spPr/>
        <p:txBody>
          <a:bodyPr/>
          <a:lstStyle/>
          <a:p>
            <a:r>
              <a:rPr lang="en-IN" b="1" dirty="0">
                <a:solidFill>
                  <a:schemeClr val="tx1"/>
                </a:solidFill>
              </a:rPr>
              <a:t>Centralized Database</a:t>
            </a:r>
          </a:p>
        </p:txBody>
      </p:sp>
      <p:sp>
        <p:nvSpPr>
          <p:cNvPr id="3" name="Content Placeholder 2">
            <a:extLst>
              <a:ext uri="{FF2B5EF4-FFF2-40B4-BE49-F238E27FC236}">
                <a16:creationId xmlns:a16="http://schemas.microsoft.com/office/drawing/2014/main" id="{4D3FF5D4-94DA-B289-159E-489E156961D1}"/>
              </a:ext>
            </a:extLst>
          </p:cNvPr>
          <p:cNvSpPr>
            <a:spLocks noGrp="1"/>
          </p:cNvSpPr>
          <p:nvPr>
            <p:ph idx="1"/>
          </p:nvPr>
        </p:nvSpPr>
        <p:spPr>
          <a:xfrm>
            <a:off x="677333" y="1619814"/>
            <a:ext cx="9479389" cy="3880773"/>
          </a:xfrm>
        </p:spPr>
        <p:txBody>
          <a:bodyPr/>
          <a:lstStyle/>
          <a:p>
            <a:pPr>
              <a:buClr>
                <a:schemeClr val="tx1"/>
              </a:buClr>
              <a:buFont typeface="Wingdings" panose="05000000000000000000" pitchFamily="2" charset="2"/>
              <a:buChar char="§"/>
            </a:pPr>
            <a:r>
              <a:rPr lang="en-US" sz="2400" dirty="0">
                <a:solidFill>
                  <a:schemeClr val="tx1"/>
                </a:solidFill>
              </a:rPr>
              <a:t>The </a:t>
            </a:r>
            <a:r>
              <a:rPr lang="en-US" sz="2400" b="1" dirty="0">
                <a:solidFill>
                  <a:schemeClr val="tx1"/>
                </a:solidFill>
              </a:rPr>
              <a:t>core of an ERP system</a:t>
            </a:r>
            <a:r>
              <a:rPr lang="en-US" sz="2400" dirty="0">
                <a:solidFill>
                  <a:schemeClr val="tx1"/>
                </a:solidFill>
              </a:rPr>
              <a:t> is a </a:t>
            </a:r>
            <a:r>
              <a:rPr lang="en-US" sz="2400" b="1" dirty="0">
                <a:solidFill>
                  <a:schemeClr val="tx1"/>
                </a:solidFill>
              </a:rPr>
              <a:t>central database</a:t>
            </a:r>
            <a:r>
              <a:rPr lang="en-US" sz="2400" dirty="0">
                <a:solidFill>
                  <a:schemeClr val="tx1"/>
                </a:solidFill>
              </a:rPr>
              <a:t>.</a:t>
            </a:r>
          </a:p>
          <a:p>
            <a:pPr>
              <a:buClr>
                <a:schemeClr val="tx1"/>
              </a:buClr>
              <a:buFont typeface="Wingdings" panose="05000000000000000000" pitchFamily="2" charset="2"/>
              <a:buChar char="§"/>
            </a:pPr>
            <a:r>
              <a:rPr lang="en-US" sz="2400" dirty="0">
                <a:solidFill>
                  <a:schemeClr val="tx1"/>
                </a:solidFill>
              </a:rPr>
              <a:t>All departments (Finance, HR, Sales, Inventory, etc.) </a:t>
            </a:r>
            <a:r>
              <a:rPr lang="en-US" sz="2400" b="1" dirty="0">
                <a:solidFill>
                  <a:schemeClr val="tx1"/>
                </a:solidFill>
              </a:rPr>
              <a:t>store and access data</a:t>
            </a:r>
            <a:r>
              <a:rPr lang="en-US" sz="2400" dirty="0">
                <a:solidFill>
                  <a:schemeClr val="tx1"/>
                </a:solidFill>
              </a:rPr>
              <a:t> from this one database.</a:t>
            </a:r>
          </a:p>
          <a:p>
            <a:pPr>
              <a:buClr>
                <a:schemeClr val="tx1"/>
              </a:buClr>
              <a:buFont typeface="Wingdings" panose="05000000000000000000" pitchFamily="2" charset="2"/>
              <a:buChar char="§"/>
            </a:pPr>
            <a:r>
              <a:rPr lang="en-US" sz="2400" dirty="0">
                <a:solidFill>
                  <a:schemeClr val="tx1"/>
                </a:solidFill>
              </a:rPr>
              <a:t>This avoids data duplication and ensures </a:t>
            </a:r>
            <a:r>
              <a:rPr lang="en-US" sz="2400" b="1" dirty="0">
                <a:solidFill>
                  <a:schemeClr val="tx1"/>
                </a:solidFill>
              </a:rPr>
              <a:t>real-time consistency</a:t>
            </a:r>
            <a:r>
              <a:rPr lang="en-US" sz="2400" dirty="0">
                <a:solidFill>
                  <a:schemeClr val="tx1"/>
                </a:solidFill>
              </a:rPr>
              <a:t> across the organization.</a:t>
            </a:r>
          </a:p>
          <a:p>
            <a:pPr marL="0" indent="0">
              <a:buNone/>
            </a:pPr>
            <a:r>
              <a:rPr lang="en-US" sz="2400" i="1" dirty="0">
                <a:solidFill>
                  <a:schemeClr val="tx1"/>
                </a:solidFill>
              </a:rPr>
              <a:t>Example:</a:t>
            </a:r>
            <a:br>
              <a:rPr lang="en-US" sz="2400" dirty="0">
                <a:solidFill>
                  <a:schemeClr val="tx1"/>
                </a:solidFill>
              </a:rPr>
            </a:br>
            <a:r>
              <a:rPr lang="en-US" sz="2400" dirty="0">
                <a:solidFill>
                  <a:schemeClr val="tx1"/>
                </a:solidFill>
              </a:rPr>
              <a:t>When the sales team records a new order, the inventory and accounting modules are </a:t>
            </a:r>
            <a:r>
              <a:rPr lang="en-US" sz="2400" b="1" dirty="0">
                <a:solidFill>
                  <a:schemeClr val="tx1"/>
                </a:solidFill>
              </a:rPr>
              <a:t>automatically updated</a:t>
            </a:r>
            <a:r>
              <a:rPr lang="en-US" sz="2400" dirty="0">
                <a:solidFill>
                  <a:schemeClr val="tx1"/>
                </a:solidFill>
              </a:rPr>
              <a:t>.</a:t>
            </a:r>
          </a:p>
          <a:p>
            <a:endParaRPr lang="en-IN" dirty="0"/>
          </a:p>
        </p:txBody>
      </p:sp>
    </p:spTree>
    <p:extLst>
      <p:ext uri="{BB962C8B-B14F-4D97-AF65-F5344CB8AC3E}">
        <p14:creationId xmlns:p14="http://schemas.microsoft.com/office/powerpoint/2010/main" val="2016633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76E2-0CD6-6214-7991-4A9D7DD26023}"/>
              </a:ext>
            </a:extLst>
          </p:cNvPr>
          <p:cNvSpPr>
            <a:spLocks noGrp="1"/>
          </p:cNvSpPr>
          <p:nvPr>
            <p:ph type="title"/>
          </p:nvPr>
        </p:nvSpPr>
        <p:spPr/>
        <p:txBody>
          <a:bodyPr/>
          <a:lstStyle/>
          <a:p>
            <a:r>
              <a:rPr lang="en-IN" b="1" dirty="0">
                <a:solidFill>
                  <a:schemeClr val="tx1"/>
                </a:solidFill>
              </a:rPr>
              <a:t>Integration of Business Processes</a:t>
            </a:r>
          </a:p>
        </p:txBody>
      </p:sp>
      <p:sp>
        <p:nvSpPr>
          <p:cNvPr id="3" name="Content Placeholder 2">
            <a:extLst>
              <a:ext uri="{FF2B5EF4-FFF2-40B4-BE49-F238E27FC236}">
                <a16:creationId xmlns:a16="http://schemas.microsoft.com/office/drawing/2014/main" id="{5AA58F9F-30EB-B0E7-75AC-3C0B85B57ECE}"/>
              </a:ext>
            </a:extLst>
          </p:cNvPr>
          <p:cNvSpPr>
            <a:spLocks noGrp="1"/>
          </p:cNvSpPr>
          <p:nvPr>
            <p:ph idx="1"/>
          </p:nvPr>
        </p:nvSpPr>
        <p:spPr>
          <a:xfrm>
            <a:off x="677334" y="2160589"/>
            <a:ext cx="9548214" cy="3880773"/>
          </a:xfrm>
        </p:spPr>
        <p:txBody>
          <a:bodyPr/>
          <a:lstStyle/>
          <a:p>
            <a:pPr>
              <a:buClr>
                <a:schemeClr val="tx1"/>
              </a:buClr>
              <a:buFont typeface="Wingdings" panose="05000000000000000000" pitchFamily="2" charset="2"/>
              <a:buChar char="§"/>
            </a:pPr>
            <a:r>
              <a:rPr lang="en-US" sz="2400" dirty="0">
                <a:solidFill>
                  <a:schemeClr val="tx1"/>
                </a:solidFill>
              </a:rPr>
              <a:t>ERP connects different departments so that their workflows are </a:t>
            </a:r>
            <a:r>
              <a:rPr lang="en-US" sz="2400" b="1" dirty="0">
                <a:solidFill>
                  <a:schemeClr val="tx1"/>
                </a:solidFill>
              </a:rPr>
              <a:t>interlinked</a:t>
            </a:r>
            <a:r>
              <a:rPr lang="en-US" sz="2400" dirty="0">
                <a:solidFill>
                  <a:schemeClr val="tx1"/>
                </a:solidFill>
              </a:rPr>
              <a:t>:</a:t>
            </a:r>
          </a:p>
          <a:p>
            <a:pPr>
              <a:buClr>
                <a:schemeClr val="tx1"/>
              </a:buClr>
              <a:buFont typeface="Wingdings" panose="05000000000000000000" pitchFamily="2" charset="2"/>
              <a:buChar char="§"/>
            </a:pPr>
            <a:r>
              <a:rPr lang="en-US" sz="2400" b="1" dirty="0">
                <a:solidFill>
                  <a:schemeClr val="tx1"/>
                </a:solidFill>
              </a:rPr>
              <a:t>Sales</a:t>
            </a:r>
            <a:r>
              <a:rPr lang="en-US" sz="2400" dirty="0">
                <a:solidFill>
                  <a:schemeClr val="tx1"/>
                </a:solidFill>
              </a:rPr>
              <a:t> → Triggers order processing</a:t>
            </a:r>
          </a:p>
          <a:p>
            <a:pPr>
              <a:buClr>
                <a:schemeClr val="tx1"/>
              </a:buClr>
              <a:buFont typeface="Wingdings" panose="05000000000000000000" pitchFamily="2" charset="2"/>
              <a:buChar char="§"/>
            </a:pPr>
            <a:r>
              <a:rPr lang="en-US" sz="2400" b="1" dirty="0">
                <a:solidFill>
                  <a:schemeClr val="tx1"/>
                </a:solidFill>
              </a:rPr>
              <a:t>Inventory</a:t>
            </a:r>
            <a:r>
              <a:rPr lang="en-US" sz="2400" dirty="0">
                <a:solidFill>
                  <a:schemeClr val="tx1"/>
                </a:solidFill>
              </a:rPr>
              <a:t> → Checks stock availability</a:t>
            </a:r>
          </a:p>
          <a:p>
            <a:pPr>
              <a:buClr>
                <a:schemeClr val="tx1"/>
              </a:buClr>
              <a:buFont typeface="Wingdings" panose="05000000000000000000" pitchFamily="2" charset="2"/>
              <a:buChar char="§"/>
            </a:pPr>
            <a:r>
              <a:rPr lang="en-US" sz="2400" b="1" dirty="0">
                <a:solidFill>
                  <a:schemeClr val="tx1"/>
                </a:solidFill>
              </a:rPr>
              <a:t>Production</a:t>
            </a:r>
            <a:r>
              <a:rPr lang="en-US" sz="2400" dirty="0">
                <a:solidFill>
                  <a:schemeClr val="tx1"/>
                </a:solidFill>
              </a:rPr>
              <a:t> → Plans manufacturing</a:t>
            </a:r>
          </a:p>
          <a:p>
            <a:pPr>
              <a:buClr>
                <a:schemeClr val="tx1"/>
              </a:buClr>
              <a:buFont typeface="Wingdings" panose="05000000000000000000" pitchFamily="2" charset="2"/>
              <a:buChar char="§"/>
            </a:pPr>
            <a:r>
              <a:rPr lang="en-US" sz="2400" b="1" dirty="0">
                <a:solidFill>
                  <a:schemeClr val="tx1"/>
                </a:solidFill>
              </a:rPr>
              <a:t>Finance</a:t>
            </a:r>
            <a:r>
              <a:rPr lang="en-US" sz="2400" dirty="0">
                <a:solidFill>
                  <a:schemeClr val="tx1"/>
                </a:solidFill>
              </a:rPr>
              <a:t> → Records revenue and updates accounts</a:t>
            </a:r>
          </a:p>
          <a:p>
            <a:pPr marL="0" indent="0">
              <a:buClr>
                <a:schemeClr val="tx1"/>
              </a:buClr>
              <a:buNone/>
            </a:pPr>
            <a:r>
              <a:rPr lang="en-US" sz="2400" dirty="0">
                <a:solidFill>
                  <a:schemeClr val="tx1"/>
                </a:solidFill>
              </a:rPr>
              <a:t>This </a:t>
            </a:r>
            <a:r>
              <a:rPr lang="en-US" sz="2400" b="1" dirty="0">
                <a:solidFill>
                  <a:schemeClr val="tx1"/>
                </a:solidFill>
              </a:rPr>
              <a:t>end-to-end integration</a:t>
            </a:r>
            <a:r>
              <a:rPr lang="en-US" sz="2400" dirty="0">
                <a:solidFill>
                  <a:schemeClr val="tx1"/>
                </a:solidFill>
              </a:rPr>
              <a:t> improves efficiency and accuracy.</a:t>
            </a:r>
          </a:p>
          <a:p>
            <a:endParaRPr lang="en-IN" dirty="0"/>
          </a:p>
        </p:txBody>
      </p:sp>
    </p:spTree>
    <p:extLst>
      <p:ext uri="{BB962C8B-B14F-4D97-AF65-F5344CB8AC3E}">
        <p14:creationId xmlns:p14="http://schemas.microsoft.com/office/powerpoint/2010/main" val="1990988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FE5B-04BC-214A-4400-5BDB32DE6FE2}"/>
              </a:ext>
            </a:extLst>
          </p:cNvPr>
          <p:cNvSpPr>
            <a:spLocks noGrp="1"/>
          </p:cNvSpPr>
          <p:nvPr>
            <p:ph type="title"/>
          </p:nvPr>
        </p:nvSpPr>
        <p:spPr/>
        <p:txBody>
          <a:bodyPr/>
          <a:lstStyle/>
          <a:p>
            <a:r>
              <a:rPr lang="en-IN" b="1" dirty="0">
                <a:solidFill>
                  <a:schemeClr val="tx1"/>
                </a:solidFill>
              </a:rPr>
              <a:t>Automation of Tasks</a:t>
            </a:r>
          </a:p>
        </p:txBody>
      </p:sp>
      <p:sp>
        <p:nvSpPr>
          <p:cNvPr id="3" name="Content Placeholder 2">
            <a:extLst>
              <a:ext uri="{FF2B5EF4-FFF2-40B4-BE49-F238E27FC236}">
                <a16:creationId xmlns:a16="http://schemas.microsoft.com/office/drawing/2014/main" id="{DAA0CA6F-BDED-C75E-4883-44660754DB55}"/>
              </a:ext>
            </a:extLst>
          </p:cNvPr>
          <p:cNvSpPr>
            <a:spLocks noGrp="1"/>
          </p:cNvSpPr>
          <p:nvPr>
            <p:ph idx="1"/>
          </p:nvPr>
        </p:nvSpPr>
        <p:spPr>
          <a:xfrm>
            <a:off x="755992" y="1560821"/>
            <a:ext cx="9902175" cy="3880773"/>
          </a:xfrm>
        </p:spPr>
        <p:txBody>
          <a:bodyPr/>
          <a:lstStyle/>
          <a:p>
            <a:pPr marL="0" indent="0">
              <a:buClr>
                <a:schemeClr val="tx1"/>
              </a:buClr>
              <a:buNone/>
            </a:pPr>
            <a:r>
              <a:rPr lang="en-US" sz="2400" dirty="0">
                <a:solidFill>
                  <a:schemeClr val="tx1"/>
                </a:solidFill>
              </a:rPr>
              <a:t>ERP automates </a:t>
            </a:r>
            <a:r>
              <a:rPr lang="en-US" sz="2400" b="1" dirty="0">
                <a:solidFill>
                  <a:schemeClr val="tx1"/>
                </a:solidFill>
              </a:rPr>
              <a:t>routine and repetitive tasks</a:t>
            </a:r>
            <a:r>
              <a:rPr lang="en-US" sz="2400" dirty="0">
                <a:solidFill>
                  <a:schemeClr val="tx1"/>
                </a:solidFill>
              </a:rPr>
              <a:t>, such as:</a:t>
            </a:r>
          </a:p>
          <a:p>
            <a:pPr>
              <a:buClr>
                <a:schemeClr val="tx1"/>
              </a:buClr>
              <a:buFont typeface="Wingdings" panose="05000000000000000000" pitchFamily="2" charset="2"/>
              <a:buChar char="§"/>
            </a:pPr>
            <a:r>
              <a:rPr lang="en-US" sz="2400" dirty="0">
                <a:solidFill>
                  <a:schemeClr val="tx1"/>
                </a:solidFill>
              </a:rPr>
              <a:t>Generating invoices</a:t>
            </a:r>
          </a:p>
          <a:p>
            <a:pPr>
              <a:buClr>
                <a:schemeClr val="tx1"/>
              </a:buClr>
              <a:buFont typeface="Wingdings" panose="05000000000000000000" pitchFamily="2" charset="2"/>
              <a:buChar char="§"/>
            </a:pPr>
            <a:r>
              <a:rPr lang="en-US" sz="2400" dirty="0">
                <a:solidFill>
                  <a:schemeClr val="tx1"/>
                </a:solidFill>
              </a:rPr>
              <a:t>Updating stock levels</a:t>
            </a:r>
          </a:p>
          <a:p>
            <a:pPr>
              <a:buClr>
                <a:schemeClr val="tx1"/>
              </a:buClr>
              <a:buFont typeface="Wingdings" panose="05000000000000000000" pitchFamily="2" charset="2"/>
              <a:buChar char="§"/>
            </a:pPr>
            <a:r>
              <a:rPr lang="en-US" sz="2400" dirty="0">
                <a:solidFill>
                  <a:schemeClr val="tx1"/>
                </a:solidFill>
              </a:rPr>
              <a:t>Processing payroll</a:t>
            </a:r>
          </a:p>
          <a:p>
            <a:pPr>
              <a:buClr>
                <a:schemeClr val="tx1"/>
              </a:buClr>
              <a:buFont typeface="Wingdings" panose="05000000000000000000" pitchFamily="2" charset="2"/>
              <a:buChar char="§"/>
            </a:pPr>
            <a:r>
              <a:rPr lang="en-US" sz="2400" dirty="0">
                <a:solidFill>
                  <a:schemeClr val="tx1"/>
                </a:solidFill>
              </a:rPr>
              <a:t>Tracking shipments</a:t>
            </a:r>
          </a:p>
          <a:p>
            <a:pPr marL="0" indent="0">
              <a:buClr>
                <a:schemeClr val="tx1"/>
              </a:buClr>
              <a:buNone/>
            </a:pPr>
            <a:r>
              <a:rPr lang="en-US" sz="2400" dirty="0">
                <a:solidFill>
                  <a:schemeClr val="tx1"/>
                </a:solidFill>
              </a:rPr>
              <a:t>Automation saves time, reduces manual errors, and increases productivity.</a:t>
            </a:r>
          </a:p>
          <a:p>
            <a:endParaRPr lang="en-IN" dirty="0"/>
          </a:p>
        </p:txBody>
      </p:sp>
    </p:spTree>
    <p:extLst>
      <p:ext uri="{BB962C8B-B14F-4D97-AF65-F5344CB8AC3E}">
        <p14:creationId xmlns:p14="http://schemas.microsoft.com/office/powerpoint/2010/main" val="558988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502D-1556-74A3-664B-0FEFB90DA897}"/>
              </a:ext>
            </a:extLst>
          </p:cNvPr>
          <p:cNvSpPr>
            <a:spLocks noGrp="1"/>
          </p:cNvSpPr>
          <p:nvPr>
            <p:ph type="title"/>
          </p:nvPr>
        </p:nvSpPr>
        <p:spPr/>
        <p:txBody>
          <a:bodyPr/>
          <a:lstStyle/>
          <a:p>
            <a:r>
              <a:rPr lang="en-IN" b="1" dirty="0">
                <a:solidFill>
                  <a:schemeClr val="tx1"/>
                </a:solidFill>
              </a:rPr>
              <a:t>Real-Time Data and Reporting</a:t>
            </a:r>
          </a:p>
        </p:txBody>
      </p:sp>
      <p:sp>
        <p:nvSpPr>
          <p:cNvPr id="3" name="Content Placeholder 2">
            <a:extLst>
              <a:ext uri="{FF2B5EF4-FFF2-40B4-BE49-F238E27FC236}">
                <a16:creationId xmlns:a16="http://schemas.microsoft.com/office/drawing/2014/main" id="{7388082F-7448-FEBF-F03B-C0797E082826}"/>
              </a:ext>
            </a:extLst>
          </p:cNvPr>
          <p:cNvSpPr>
            <a:spLocks noGrp="1"/>
          </p:cNvSpPr>
          <p:nvPr>
            <p:ph idx="1"/>
          </p:nvPr>
        </p:nvSpPr>
        <p:spPr/>
        <p:txBody>
          <a:bodyPr/>
          <a:lstStyle/>
          <a:p>
            <a:pPr>
              <a:buClr>
                <a:schemeClr val="tx1"/>
              </a:buClr>
              <a:buFont typeface="Wingdings" panose="05000000000000000000" pitchFamily="2" charset="2"/>
              <a:buChar char="§"/>
            </a:pPr>
            <a:r>
              <a:rPr lang="en-US" sz="2400" dirty="0">
                <a:solidFill>
                  <a:schemeClr val="tx1"/>
                </a:solidFill>
              </a:rPr>
              <a:t>ERP provides </a:t>
            </a:r>
            <a:r>
              <a:rPr lang="en-US" sz="2400" b="1" dirty="0">
                <a:solidFill>
                  <a:schemeClr val="tx1"/>
                </a:solidFill>
              </a:rPr>
              <a:t>real-time dashboards and analytics</a:t>
            </a:r>
            <a:r>
              <a:rPr lang="en-US" sz="2400" dirty="0">
                <a:solidFill>
                  <a:schemeClr val="tx1"/>
                </a:solidFill>
              </a:rPr>
              <a:t> for managers.</a:t>
            </a:r>
          </a:p>
          <a:p>
            <a:pPr>
              <a:buClr>
                <a:schemeClr val="tx1"/>
              </a:buClr>
              <a:buFont typeface="Wingdings" panose="05000000000000000000" pitchFamily="2" charset="2"/>
              <a:buChar char="§"/>
            </a:pPr>
            <a:r>
              <a:rPr lang="en-US" sz="2400" dirty="0">
                <a:solidFill>
                  <a:schemeClr val="tx1"/>
                </a:solidFill>
              </a:rPr>
              <a:t>Decision-makers can monitor sales, expenses, inventory, and performance </a:t>
            </a:r>
            <a:r>
              <a:rPr lang="en-US" sz="2400" b="1" dirty="0">
                <a:solidFill>
                  <a:schemeClr val="tx1"/>
                </a:solidFill>
              </a:rPr>
              <a:t>instantly</a:t>
            </a:r>
            <a:r>
              <a:rPr lang="en-US" sz="2400" dirty="0">
                <a:solidFill>
                  <a:schemeClr val="tx1"/>
                </a:solidFill>
              </a:rPr>
              <a:t>.</a:t>
            </a:r>
          </a:p>
          <a:p>
            <a:pPr>
              <a:buClr>
                <a:schemeClr val="tx1"/>
              </a:buClr>
              <a:buFont typeface="Wingdings" panose="05000000000000000000" pitchFamily="2" charset="2"/>
              <a:buChar char="§"/>
            </a:pPr>
            <a:r>
              <a:rPr lang="en-US" sz="2400" dirty="0">
                <a:solidFill>
                  <a:schemeClr val="tx1"/>
                </a:solidFill>
              </a:rPr>
              <a:t>Helps identify issues early and supports </a:t>
            </a:r>
            <a:r>
              <a:rPr lang="en-US" sz="2400" b="1" dirty="0">
                <a:solidFill>
                  <a:schemeClr val="tx1"/>
                </a:solidFill>
              </a:rPr>
              <a:t>data-driven decisions</a:t>
            </a:r>
            <a:r>
              <a:rPr lang="en-US" sz="2400" dirty="0">
                <a:solidFill>
                  <a:schemeClr val="tx1"/>
                </a:solidFill>
              </a:rPr>
              <a:t>.</a:t>
            </a:r>
          </a:p>
          <a:p>
            <a:endParaRPr lang="en-IN" dirty="0"/>
          </a:p>
        </p:txBody>
      </p:sp>
    </p:spTree>
    <p:extLst>
      <p:ext uri="{BB962C8B-B14F-4D97-AF65-F5344CB8AC3E}">
        <p14:creationId xmlns:p14="http://schemas.microsoft.com/office/powerpoint/2010/main" val="57168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510C0-14E5-CA72-8C89-2D180A411A30}"/>
              </a:ext>
            </a:extLst>
          </p:cNvPr>
          <p:cNvSpPr>
            <a:spLocks noGrp="1"/>
          </p:cNvSpPr>
          <p:nvPr>
            <p:ph type="title"/>
          </p:nvPr>
        </p:nvSpPr>
        <p:spPr/>
        <p:txBody>
          <a:bodyPr/>
          <a:lstStyle/>
          <a:p>
            <a:r>
              <a:rPr lang="en-IN" b="1" dirty="0">
                <a:solidFill>
                  <a:schemeClr val="tx1"/>
                </a:solidFill>
              </a:rPr>
              <a:t>Modular Structure</a:t>
            </a:r>
          </a:p>
        </p:txBody>
      </p:sp>
      <p:sp>
        <p:nvSpPr>
          <p:cNvPr id="3" name="Content Placeholder 2">
            <a:extLst>
              <a:ext uri="{FF2B5EF4-FFF2-40B4-BE49-F238E27FC236}">
                <a16:creationId xmlns:a16="http://schemas.microsoft.com/office/drawing/2014/main" id="{E7E94D0B-9545-F96E-442B-8AD19E5D353C}"/>
              </a:ext>
            </a:extLst>
          </p:cNvPr>
          <p:cNvSpPr>
            <a:spLocks noGrp="1"/>
          </p:cNvSpPr>
          <p:nvPr>
            <p:ph idx="1"/>
          </p:nvPr>
        </p:nvSpPr>
        <p:spPr>
          <a:xfrm>
            <a:off x="677333" y="2160589"/>
            <a:ext cx="9715363" cy="3880773"/>
          </a:xfrm>
        </p:spPr>
        <p:txBody>
          <a:bodyPr/>
          <a:lstStyle/>
          <a:p>
            <a:pPr marL="0" indent="0">
              <a:buClr>
                <a:schemeClr val="tx1"/>
              </a:buClr>
              <a:buNone/>
            </a:pPr>
            <a:r>
              <a:rPr lang="en-US" sz="2400" dirty="0">
                <a:solidFill>
                  <a:schemeClr val="tx1"/>
                </a:solidFill>
              </a:rPr>
              <a:t>ERP systems are built using </a:t>
            </a:r>
            <a:r>
              <a:rPr lang="en-US" sz="2400" b="1" dirty="0">
                <a:solidFill>
                  <a:schemeClr val="tx1"/>
                </a:solidFill>
              </a:rPr>
              <a:t>modules</a:t>
            </a:r>
            <a:r>
              <a:rPr lang="en-US" sz="2400" dirty="0">
                <a:solidFill>
                  <a:schemeClr val="tx1"/>
                </a:solidFill>
              </a:rPr>
              <a:t>, each focusing on a specific area of business:</a:t>
            </a:r>
          </a:p>
          <a:p>
            <a:pPr>
              <a:buClr>
                <a:schemeClr val="tx1"/>
              </a:buClr>
              <a:buFont typeface="Wingdings" panose="05000000000000000000" pitchFamily="2" charset="2"/>
              <a:buChar char="§"/>
            </a:pPr>
            <a:r>
              <a:rPr lang="en-US" sz="2400" b="1" dirty="0">
                <a:solidFill>
                  <a:schemeClr val="tx1"/>
                </a:solidFill>
              </a:rPr>
              <a:t>Finance Module:</a:t>
            </a:r>
            <a:r>
              <a:rPr lang="en-US" sz="2400" dirty="0">
                <a:solidFill>
                  <a:schemeClr val="tx1"/>
                </a:solidFill>
              </a:rPr>
              <a:t> Manages accounting and budgeting.</a:t>
            </a:r>
          </a:p>
          <a:p>
            <a:pPr>
              <a:buClr>
                <a:schemeClr val="tx1"/>
              </a:buClr>
              <a:buFont typeface="Wingdings" panose="05000000000000000000" pitchFamily="2" charset="2"/>
              <a:buChar char="§"/>
            </a:pPr>
            <a:r>
              <a:rPr lang="en-US" sz="2400" b="1" dirty="0">
                <a:solidFill>
                  <a:schemeClr val="tx1"/>
                </a:solidFill>
              </a:rPr>
              <a:t>HR Module:</a:t>
            </a:r>
            <a:r>
              <a:rPr lang="en-US" sz="2400" dirty="0">
                <a:solidFill>
                  <a:schemeClr val="tx1"/>
                </a:solidFill>
              </a:rPr>
              <a:t> Handles employee data and payroll.</a:t>
            </a:r>
          </a:p>
          <a:p>
            <a:pPr>
              <a:buClr>
                <a:schemeClr val="tx1"/>
              </a:buClr>
              <a:buFont typeface="Wingdings" panose="05000000000000000000" pitchFamily="2" charset="2"/>
              <a:buChar char="§"/>
            </a:pPr>
            <a:r>
              <a:rPr lang="en-US" sz="2400" b="1" dirty="0">
                <a:solidFill>
                  <a:schemeClr val="tx1"/>
                </a:solidFill>
              </a:rPr>
              <a:t>Inventory Module:</a:t>
            </a:r>
            <a:r>
              <a:rPr lang="en-US" sz="2400" dirty="0">
                <a:solidFill>
                  <a:schemeClr val="tx1"/>
                </a:solidFill>
              </a:rPr>
              <a:t> Tracks stock and supplies.</a:t>
            </a:r>
          </a:p>
          <a:p>
            <a:pPr>
              <a:buClr>
                <a:schemeClr val="tx1"/>
              </a:buClr>
              <a:buFont typeface="Wingdings" panose="05000000000000000000" pitchFamily="2" charset="2"/>
              <a:buChar char="§"/>
            </a:pPr>
            <a:r>
              <a:rPr lang="en-US" sz="2400" b="1" dirty="0">
                <a:solidFill>
                  <a:schemeClr val="tx1"/>
                </a:solidFill>
              </a:rPr>
              <a:t>Sales Module:</a:t>
            </a:r>
            <a:r>
              <a:rPr lang="en-US" sz="2400" dirty="0">
                <a:solidFill>
                  <a:schemeClr val="tx1"/>
                </a:solidFill>
              </a:rPr>
              <a:t> Manages customer orders and billing.</a:t>
            </a:r>
          </a:p>
          <a:p>
            <a:pPr marL="0" indent="0">
              <a:buClr>
                <a:schemeClr val="tx1"/>
              </a:buClr>
              <a:buNone/>
            </a:pPr>
            <a:r>
              <a:rPr lang="en-US" sz="2400" dirty="0">
                <a:solidFill>
                  <a:schemeClr val="tx1"/>
                </a:solidFill>
              </a:rPr>
              <a:t>Companies can </a:t>
            </a:r>
            <a:r>
              <a:rPr lang="en-US" sz="2400" b="1" dirty="0">
                <a:solidFill>
                  <a:schemeClr val="tx1"/>
                </a:solidFill>
              </a:rPr>
              <a:t>implement modules as needed</a:t>
            </a:r>
            <a:r>
              <a:rPr lang="en-US" sz="2400" dirty="0">
                <a:solidFill>
                  <a:schemeClr val="tx1"/>
                </a:solidFill>
              </a:rPr>
              <a:t> and expand later.</a:t>
            </a:r>
          </a:p>
          <a:p>
            <a:endParaRPr lang="en-IN" dirty="0"/>
          </a:p>
        </p:txBody>
      </p:sp>
    </p:spTree>
    <p:extLst>
      <p:ext uri="{BB962C8B-B14F-4D97-AF65-F5344CB8AC3E}">
        <p14:creationId xmlns:p14="http://schemas.microsoft.com/office/powerpoint/2010/main" val="2779954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A8A2-5514-80DF-5A0E-9F56F206D96E}"/>
              </a:ext>
            </a:extLst>
          </p:cNvPr>
          <p:cNvSpPr>
            <a:spLocks noGrp="1"/>
          </p:cNvSpPr>
          <p:nvPr>
            <p:ph type="title"/>
          </p:nvPr>
        </p:nvSpPr>
        <p:spPr/>
        <p:txBody>
          <a:bodyPr/>
          <a:lstStyle/>
          <a:p>
            <a:r>
              <a:rPr lang="en-IN" b="1" dirty="0">
                <a:solidFill>
                  <a:schemeClr val="tx1"/>
                </a:solidFill>
              </a:rPr>
              <a:t>Cloud and On-Premise Deployment</a:t>
            </a:r>
          </a:p>
        </p:txBody>
      </p:sp>
      <p:sp>
        <p:nvSpPr>
          <p:cNvPr id="3" name="Content Placeholder 2">
            <a:extLst>
              <a:ext uri="{FF2B5EF4-FFF2-40B4-BE49-F238E27FC236}">
                <a16:creationId xmlns:a16="http://schemas.microsoft.com/office/drawing/2014/main" id="{605125EC-8333-73D3-1AE2-8B49C22ED94D}"/>
              </a:ext>
            </a:extLst>
          </p:cNvPr>
          <p:cNvSpPr>
            <a:spLocks noGrp="1"/>
          </p:cNvSpPr>
          <p:nvPr>
            <p:ph idx="1"/>
          </p:nvPr>
        </p:nvSpPr>
        <p:spPr/>
        <p:txBody>
          <a:bodyPr/>
          <a:lstStyle/>
          <a:p>
            <a:pPr>
              <a:buClr>
                <a:schemeClr val="tx1"/>
              </a:buClr>
              <a:buFont typeface="Wingdings" panose="05000000000000000000" pitchFamily="2" charset="2"/>
              <a:buChar char="§"/>
            </a:pPr>
            <a:r>
              <a:rPr lang="en-US" sz="2400" b="1" dirty="0">
                <a:solidFill>
                  <a:schemeClr val="tx1"/>
                </a:solidFill>
              </a:rPr>
              <a:t>On-Premise ERP:</a:t>
            </a:r>
            <a:r>
              <a:rPr lang="en-US" sz="2400" dirty="0">
                <a:solidFill>
                  <a:schemeClr val="tx1"/>
                </a:solidFill>
              </a:rPr>
              <a:t> Installed locally on company servers.</a:t>
            </a:r>
          </a:p>
          <a:p>
            <a:pPr>
              <a:buClr>
                <a:schemeClr val="tx1"/>
              </a:buClr>
              <a:buFont typeface="Wingdings" panose="05000000000000000000" pitchFamily="2" charset="2"/>
              <a:buChar char="§"/>
            </a:pPr>
            <a:r>
              <a:rPr lang="en-US" sz="2400" b="1" dirty="0">
                <a:solidFill>
                  <a:schemeClr val="tx1"/>
                </a:solidFill>
              </a:rPr>
              <a:t>Cloud ERP:</a:t>
            </a:r>
            <a:r>
              <a:rPr lang="en-US" sz="2400" dirty="0">
                <a:solidFill>
                  <a:schemeClr val="tx1"/>
                </a:solidFill>
              </a:rPr>
              <a:t> Hosted online and accessed via the internet.</a:t>
            </a:r>
          </a:p>
          <a:p>
            <a:pPr>
              <a:buClr>
                <a:schemeClr val="tx1"/>
              </a:buClr>
              <a:buFont typeface="Wingdings" panose="05000000000000000000" pitchFamily="2" charset="2"/>
              <a:buChar char="§"/>
            </a:pPr>
            <a:r>
              <a:rPr lang="en-US" sz="2400" dirty="0">
                <a:solidFill>
                  <a:schemeClr val="tx1"/>
                </a:solidFill>
              </a:rPr>
              <a:t>Many modern systems offer </a:t>
            </a:r>
            <a:r>
              <a:rPr lang="en-US" sz="2400" b="1" dirty="0">
                <a:solidFill>
                  <a:schemeClr val="tx1"/>
                </a:solidFill>
              </a:rPr>
              <a:t>hybrid solutions</a:t>
            </a:r>
            <a:r>
              <a:rPr lang="en-US" sz="2400" dirty="0">
                <a:solidFill>
                  <a:schemeClr val="tx1"/>
                </a:solidFill>
              </a:rPr>
              <a:t>, combining both.</a:t>
            </a:r>
          </a:p>
          <a:p>
            <a:endParaRPr lang="en-IN" dirty="0"/>
          </a:p>
        </p:txBody>
      </p:sp>
    </p:spTree>
    <p:extLst>
      <p:ext uri="{BB962C8B-B14F-4D97-AF65-F5344CB8AC3E}">
        <p14:creationId xmlns:p14="http://schemas.microsoft.com/office/powerpoint/2010/main" val="1927604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127B-F478-F5DE-3A99-90BDF4F36617}"/>
              </a:ext>
            </a:extLst>
          </p:cNvPr>
          <p:cNvSpPr>
            <a:spLocks noGrp="1"/>
          </p:cNvSpPr>
          <p:nvPr>
            <p:ph type="title"/>
          </p:nvPr>
        </p:nvSpPr>
        <p:spPr/>
        <p:txBody>
          <a:bodyPr/>
          <a:lstStyle/>
          <a:p>
            <a:r>
              <a:rPr lang="en-IN" b="1" dirty="0">
                <a:solidFill>
                  <a:schemeClr val="tx1"/>
                </a:solidFill>
              </a:rPr>
              <a:t>Security and Access Control</a:t>
            </a:r>
          </a:p>
        </p:txBody>
      </p:sp>
      <p:sp>
        <p:nvSpPr>
          <p:cNvPr id="4" name="Rectangle 1">
            <a:extLst>
              <a:ext uri="{FF2B5EF4-FFF2-40B4-BE49-F238E27FC236}">
                <a16:creationId xmlns:a16="http://schemas.microsoft.com/office/drawing/2014/main" id="{6D4278F0-05B4-161F-AF9D-DD09467AA744}"/>
              </a:ext>
            </a:extLst>
          </p:cNvPr>
          <p:cNvSpPr>
            <a:spLocks noGrp="1" noChangeArrowheads="1"/>
          </p:cNvSpPr>
          <p:nvPr>
            <p:ph idx="1"/>
          </p:nvPr>
        </p:nvSpPr>
        <p:spPr bwMode="auto">
          <a:xfrm>
            <a:off x="313540" y="1859340"/>
            <a:ext cx="986284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ERP systems use </a:t>
            </a:r>
            <a:r>
              <a:rPr kumimoji="0" lang="en-US" altLang="en-US" sz="2400" b="1" i="0" u="none" strike="noStrike" cap="none" normalizeH="0" baseline="0" dirty="0">
                <a:ln>
                  <a:noFill/>
                </a:ln>
                <a:solidFill>
                  <a:schemeClr val="tx1"/>
                </a:solidFill>
                <a:effectLst/>
                <a:latin typeface="Arial" panose="020B0604020202020204" pitchFamily="34" charset="0"/>
              </a:rPr>
              <a:t>role-based access control</a:t>
            </a:r>
            <a:r>
              <a:rPr kumimoji="0" lang="en-US" altLang="en-US" sz="2400" b="0" i="0" u="none" strike="noStrike" cap="none" normalizeH="0" baseline="0" dirty="0">
                <a:ln>
                  <a:noFill/>
                </a:ln>
                <a:solidFill>
                  <a:schemeClr val="tx1"/>
                </a:solidFill>
                <a:effectLst/>
                <a:latin typeface="Arial" panose="020B0604020202020204" pitchFamily="34" charset="0"/>
              </a:rPr>
              <a:t>, meaning users only access data relevant to their job.</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Includes </a:t>
            </a:r>
            <a:r>
              <a:rPr kumimoji="0" lang="en-US" altLang="en-US" sz="2400" b="1" i="0" u="none" strike="noStrike" cap="none" normalizeH="0" baseline="0" dirty="0">
                <a:ln>
                  <a:noFill/>
                </a:ln>
                <a:solidFill>
                  <a:schemeClr val="tx1"/>
                </a:solidFill>
                <a:effectLst/>
                <a:latin typeface="Arial" panose="020B0604020202020204" pitchFamily="34" charset="0"/>
              </a:rPr>
              <a:t>data encryption, backups, and user authentication</a:t>
            </a:r>
            <a:r>
              <a:rPr kumimoji="0" lang="en-US" altLang="en-US" sz="2400" b="0" i="0" u="none" strike="noStrike" cap="none" normalizeH="0" baseline="0" dirty="0">
                <a:ln>
                  <a:noFill/>
                </a:ln>
                <a:solidFill>
                  <a:schemeClr val="tx1"/>
                </a:solidFill>
                <a:effectLst/>
                <a:latin typeface="Arial" panose="020B0604020202020204" pitchFamily="34" charset="0"/>
              </a:rPr>
              <a:t> to protect sensitive information.</a:t>
            </a:r>
          </a:p>
        </p:txBody>
      </p:sp>
    </p:spTree>
    <p:extLst>
      <p:ext uri="{BB962C8B-B14F-4D97-AF65-F5344CB8AC3E}">
        <p14:creationId xmlns:p14="http://schemas.microsoft.com/office/powerpoint/2010/main" val="3651744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D8CE8-04F6-6C53-8B25-121177424F12}"/>
              </a:ext>
            </a:extLst>
          </p:cNvPr>
          <p:cNvSpPr>
            <a:spLocks noGrp="1"/>
          </p:cNvSpPr>
          <p:nvPr>
            <p:ph type="title"/>
          </p:nvPr>
        </p:nvSpPr>
        <p:spPr/>
        <p:txBody>
          <a:bodyPr/>
          <a:lstStyle/>
          <a:p>
            <a:r>
              <a:rPr lang="en-IN" b="1" dirty="0">
                <a:solidFill>
                  <a:schemeClr val="tx1"/>
                </a:solidFill>
              </a:rPr>
              <a:t>Continuous Updates and Scalability</a:t>
            </a:r>
          </a:p>
        </p:txBody>
      </p:sp>
      <p:sp>
        <p:nvSpPr>
          <p:cNvPr id="4" name="Rectangle 1">
            <a:extLst>
              <a:ext uri="{FF2B5EF4-FFF2-40B4-BE49-F238E27FC236}">
                <a16:creationId xmlns:a16="http://schemas.microsoft.com/office/drawing/2014/main" id="{415A1C47-2BA4-7B4D-7965-6CF7B78CE5AE}"/>
              </a:ext>
            </a:extLst>
          </p:cNvPr>
          <p:cNvSpPr>
            <a:spLocks noGrp="1" noChangeArrowheads="1"/>
          </p:cNvSpPr>
          <p:nvPr>
            <p:ph idx="1"/>
          </p:nvPr>
        </p:nvSpPr>
        <p:spPr bwMode="auto">
          <a:xfrm>
            <a:off x="510185" y="1742985"/>
            <a:ext cx="925324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ERP platforms are updated regularly to include </a:t>
            </a:r>
            <a:r>
              <a:rPr kumimoji="0" lang="en-US" altLang="en-US" sz="2400" b="1" i="0" u="none" strike="noStrike" cap="none" normalizeH="0" baseline="0" dirty="0">
                <a:ln>
                  <a:noFill/>
                </a:ln>
                <a:solidFill>
                  <a:schemeClr val="tx1"/>
                </a:solidFill>
                <a:effectLst/>
                <a:latin typeface="Arial" panose="020B0604020202020204" pitchFamily="34" charset="0"/>
              </a:rPr>
              <a:t>new features</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security enhancements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They can scale as the business grows — adding more users, departments, or modules easily.</a:t>
            </a:r>
          </a:p>
        </p:txBody>
      </p:sp>
    </p:spTree>
    <p:extLst>
      <p:ext uri="{BB962C8B-B14F-4D97-AF65-F5344CB8AC3E}">
        <p14:creationId xmlns:p14="http://schemas.microsoft.com/office/powerpoint/2010/main" val="4223041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59B2-A0F1-C38C-BEEB-736649D94A84}"/>
              </a:ext>
            </a:extLst>
          </p:cNvPr>
          <p:cNvSpPr>
            <a:spLocks noGrp="1"/>
          </p:cNvSpPr>
          <p:nvPr>
            <p:ph type="title"/>
          </p:nvPr>
        </p:nvSpPr>
        <p:spPr>
          <a:xfrm>
            <a:off x="677334" y="609600"/>
            <a:ext cx="8596668" cy="668594"/>
          </a:xfrm>
        </p:spPr>
        <p:txBody>
          <a:bodyPr/>
          <a:lstStyle/>
          <a:p>
            <a:r>
              <a:rPr lang="en-IN" b="1" dirty="0">
                <a:solidFill>
                  <a:schemeClr val="tx1"/>
                </a:solidFill>
              </a:rPr>
              <a:t>Types of ERP</a:t>
            </a:r>
          </a:p>
        </p:txBody>
      </p:sp>
      <p:graphicFrame>
        <p:nvGraphicFramePr>
          <p:cNvPr id="4" name="Content Placeholder 3">
            <a:extLst>
              <a:ext uri="{FF2B5EF4-FFF2-40B4-BE49-F238E27FC236}">
                <a16:creationId xmlns:a16="http://schemas.microsoft.com/office/drawing/2014/main" id="{576EC0B2-FE54-4B04-14A3-823CFB09F5FB}"/>
              </a:ext>
            </a:extLst>
          </p:cNvPr>
          <p:cNvGraphicFramePr>
            <a:graphicFrameLocks noGrp="1"/>
          </p:cNvGraphicFramePr>
          <p:nvPr>
            <p:ph idx="1"/>
            <p:extLst>
              <p:ext uri="{D42A27DB-BD31-4B8C-83A1-F6EECF244321}">
                <p14:modId xmlns:p14="http://schemas.microsoft.com/office/powerpoint/2010/main" val="1847779374"/>
              </p:ext>
            </p:extLst>
          </p:nvPr>
        </p:nvGraphicFramePr>
        <p:xfrm>
          <a:off x="707923" y="1484671"/>
          <a:ext cx="9989574" cy="5053782"/>
        </p:xfrm>
        <a:graphic>
          <a:graphicData uri="http://schemas.openxmlformats.org/drawingml/2006/table">
            <a:tbl>
              <a:tblPr/>
              <a:tblGrid>
                <a:gridCol w="3309818">
                  <a:extLst>
                    <a:ext uri="{9D8B030D-6E8A-4147-A177-3AD203B41FA5}">
                      <a16:colId xmlns:a16="http://schemas.microsoft.com/office/drawing/2014/main" val="2502700109"/>
                    </a:ext>
                  </a:extLst>
                </a:gridCol>
                <a:gridCol w="3339878">
                  <a:extLst>
                    <a:ext uri="{9D8B030D-6E8A-4147-A177-3AD203B41FA5}">
                      <a16:colId xmlns:a16="http://schemas.microsoft.com/office/drawing/2014/main" val="3210799791"/>
                    </a:ext>
                  </a:extLst>
                </a:gridCol>
                <a:gridCol w="3339878">
                  <a:extLst>
                    <a:ext uri="{9D8B030D-6E8A-4147-A177-3AD203B41FA5}">
                      <a16:colId xmlns:a16="http://schemas.microsoft.com/office/drawing/2014/main" val="1260199815"/>
                    </a:ext>
                  </a:extLst>
                </a:gridCol>
              </a:tblGrid>
              <a:tr h="531977">
                <a:tc>
                  <a:txBody>
                    <a:bodyPr/>
                    <a:lstStyle/>
                    <a:p>
                      <a:pPr>
                        <a:buNone/>
                      </a:pPr>
                      <a:r>
                        <a:rPr lang="en-IN" sz="2000" b="1" dirty="0"/>
                        <a:t>Type of ERP</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Deployment</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a:t>Best For</a:t>
                      </a:r>
                      <a:endParaRPr lang="en-IN"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4993452"/>
                  </a:ext>
                </a:extLst>
              </a:tr>
              <a:tr h="531977">
                <a:tc>
                  <a:txBody>
                    <a:bodyPr/>
                    <a:lstStyle/>
                    <a:p>
                      <a:pPr>
                        <a:buNone/>
                      </a:pPr>
                      <a:r>
                        <a:rPr lang="en-IN" sz="2000" dirty="0"/>
                        <a:t>On-Premise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Local servers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Large enterprises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0771524"/>
                  </a:ext>
                </a:extLst>
              </a:tr>
              <a:tr h="531977">
                <a:tc>
                  <a:txBody>
                    <a:bodyPr/>
                    <a:lstStyle/>
                    <a:p>
                      <a:pPr>
                        <a:buNone/>
                      </a:pPr>
                      <a:r>
                        <a:rPr lang="en-IN" sz="2000" dirty="0"/>
                        <a:t>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Online/cloud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SMEs, scalable needs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0875726"/>
                  </a:ext>
                </a:extLst>
              </a:tr>
              <a:tr h="531977">
                <a:tc>
                  <a:txBody>
                    <a:bodyPr/>
                    <a:lstStyle/>
                    <a:p>
                      <a:pPr>
                        <a:buNone/>
                      </a:pPr>
                      <a:r>
                        <a:rPr lang="en-IN" sz="2000" dirty="0"/>
                        <a:t>Hybrid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Mix of cloud + on-premise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Growing companies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770591"/>
                  </a:ext>
                </a:extLst>
              </a:tr>
              <a:tr h="930960">
                <a:tc>
                  <a:txBody>
                    <a:bodyPr/>
                    <a:lstStyle/>
                    <a:p>
                      <a:pPr>
                        <a:buNone/>
                      </a:pPr>
                      <a:r>
                        <a:rPr lang="en-IN" sz="2000" dirty="0"/>
                        <a:t>Vertical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Industry-specific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Manufacturing, healthcare, retail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9918511"/>
                  </a:ext>
                </a:extLst>
              </a:tr>
              <a:tr h="930960">
                <a:tc>
                  <a:txBody>
                    <a:bodyPr/>
                    <a:lstStyle/>
                    <a:p>
                      <a:pPr>
                        <a:buNone/>
                      </a:pPr>
                      <a:r>
                        <a:rPr lang="en-IN" sz="2000"/>
                        <a:t>Horizontal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General-purpose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Most mid &amp; large businesses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728227"/>
                  </a:ext>
                </a:extLst>
              </a:tr>
              <a:tr h="531977">
                <a:tc>
                  <a:txBody>
                    <a:bodyPr/>
                    <a:lstStyle/>
                    <a:p>
                      <a:pPr>
                        <a:buNone/>
                      </a:pPr>
                      <a:r>
                        <a:rPr lang="en-IN" sz="2000"/>
                        <a:t>Open-Source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Customizable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Startups, tech teams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313640"/>
                  </a:ext>
                </a:extLst>
              </a:tr>
              <a:tr h="531977">
                <a:tc>
                  <a:txBody>
                    <a:bodyPr/>
                    <a:lstStyle/>
                    <a:p>
                      <a:pPr>
                        <a:buNone/>
                      </a:pPr>
                      <a:r>
                        <a:rPr lang="en-IN" sz="2000"/>
                        <a:t>Small Business ERP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Lightweight versions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Small businesses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3029"/>
                  </a:ext>
                </a:extLst>
              </a:tr>
            </a:tbl>
          </a:graphicData>
        </a:graphic>
      </p:graphicFrame>
    </p:spTree>
    <p:extLst>
      <p:ext uri="{BB962C8B-B14F-4D97-AF65-F5344CB8AC3E}">
        <p14:creationId xmlns:p14="http://schemas.microsoft.com/office/powerpoint/2010/main" val="263163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A1BB-A253-6D35-969A-8882321518A2}"/>
              </a:ext>
            </a:extLst>
          </p:cNvPr>
          <p:cNvSpPr>
            <a:spLocks noGrp="1"/>
          </p:cNvSpPr>
          <p:nvPr>
            <p:ph type="title"/>
          </p:nvPr>
        </p:nvSpPr>
        <p:spPr/>
        <p:txBody>
          <a:bodyPr/>
          <a:lstStyle/>
          <a:p>
            <a:r>
              <a:rPr lang="en-IN" b="1" dirty="0">
                <a:solidFill>
                  <a:schemeClr val="tx1"/>
                </a:solidFill>
              </a:rPr>
              <a:t>Benefits of ERP</a:t>
            </a:r>
          </a:p>
        </p:txBody>
      </p:sp>
      <p:sp>
        <p:nvSpPr>
          <p:cNvPr id="3" name="Content Placeholder 2">
            <a:extLst>
              <a:ext uri="{FF2B5EF4-FFF2-40B4-BE49-F238E27FC236}">
                <a16:creationId xmlns:a16="http://schemas.microsoft.com/office/drawing/2014/main" id="{A71E01E1-BA64-D402-C53D-8DAD2B85E28C}"/>
              </a:ext>
            </a:extLst>
          </p:cNvPr>
          <p:cNvSpPr>
            <a:spLocks noGrp="1"/>
          </p:cNvSpPr>
          <p:nvPr>
            <p:ph idx="1"/>
          </p:nvPr>
        </p:nvSpPr>
        <p:spPr>
          <a:xfrm>
            <a:off x="490521" y="1393673"/>
            <a:ext cx="10226640" cy="4987462"/>
          </a:xfrm>
        </p:spPr>
        <p:txBody>
          <a:bodyPr/>
          <a:lstStyle/>
          <a:p>
            <a:pPr>
              <a:buClr>
                <a:schemeClr val="tx1"/>
              </a:buClr>
              <a:buFont typeface="Wingdings" panose="05000000000000000000" pitchFamily="2" charset="2"/>
              <a:buChar char="§"/>
            </a:pPr>
            <a:r>
              <a:rPr lang="en-US" sz="2000" dirty="0">
                <a:solidFill>
                  <a:schemeClr val="tx1"/>
                </a:solidFill>
              </a:rPr>
              <a:t>ERP systems provide many advantages by integrating different business functions into a single platform.</a:t>
            </a:r>
          </a:p>
          <a:p>
            <a:pPr lvl="0">
              <a:buClr>
                <a:schemeClr val="tx1"/>
              </a:buClr>
              <a:buFont typeface="Wingdings" panose="05000000000000000000" pitchFamily="2" charset="2"/>
              <a:buChar char="§"/>
            </a:pPr>
            <a:r>
              <a:rPr lang="en-IN" sz="2000" b="1" dirty="0">
                <a:solidFill>
                  <a:schemeClr val="tx1"/>
                </a:solidFill>
              </a:rPr>
              <a:t>Increased productivity and efficiency:</a:t>
            </a:r>
            <a:r>
              <a:rPr lang="en-IN" sz="2000" dirty="0">
                <a:solidFill>
                  <a:schemeClr val="tx1"/>
                </a:solidFill>
              </a:rPr>
              <a:t> Automating routine tasks reduces manual data entry and errors, speeding up operations.</a:t>
            </a:r>
          </a:p>
          <a:p>
            <a:pPr lvl="0">
              <a:buClr>
                <a:schemeClr val="tx1"/>
              </a:buClr>
              <a:buFont typeface="Wingdings" panose="05000000000000000000" pitchFamily="2" charset="2"/>
              <a:buChar char="§"/>
            </a:pPr>
            <a:r>
              <a:rPr lang="en-IN" sz="2000" b="1" dirty="0">
                <a:solidFill>
                  <a:schemeClr val="tx1"/>
                </a:solidFill>
              </a:rPr>
              <a:t>Cost savings:</a:t>
            </a:r>
            <a:r>
              <a:rPr lang="en-IN" sz="2000" dirty="0">
                <a:solidFill>
                  <a:schemeClr val="tx1"/>
                </a:solidFill>
              </a:rPr>
              <a:t> Streamlining processes, optimizing inventory, and improving supply chain management can lead to lower operational and inventory costs.</a:t>
            </a:r>
          </a:p>
          <a:p>
            <a:pPr lvl="0">
              <a:buClr>
                <a:schemeClr val="tx1"/>
              </a:buClr>
              <a:buFont typeface="Wingdings" panose="05000000000000000000" pitchFamily="2" charset="2"/>
              <a:buChar char="§"/>
            </a:pPr>
            <a:r>
              <a:rPr lang="en-IN" sz="2000" b="1" dirty="0">
                <a:solidFill>
                  <a:schemeClr val="tx1"/>
                </a:solidFill>
              </a:rPr>
              <a:t>Improved financial management:</a:t>
            </a:r>
            <a:r>
              <a:rPr lang="en-IN" sz="2000" dirty="0">
                <a:solidFill>
                  <a:schemeClr val="tx1"/>
                </a:solidFill>
              </a:rPr>
              <a:t> ERP systems simplify financial reporting, accelerate the financial close process, and provide accurate cash flow projections.</a:t>
            </a:r>
          </a:p>
          <a:p>
            <a:pPr lvl="0">
              <a:buClr>
                <a:schemeClr val="tx1"/>
              </a:buClr>
              <a:buFont typeface="Wingdings" panose="05000000000000000000" pitchFamily="2" charset="2"/>
              <a:buChar char="§"/>
            </a:pPr>
            <a:r>
              <a:rPr lang="en-IN" sz="2000" b="1" dirty="0">
                <a:solidFill>
                  <a:schemeClr val="tx1"/>
                </a:solidFill>
              </a:rPr>
              <a:t>Real-time data and analytics:</a:t>
            </a:r>
            <a:r>
              <a:rPr lang="en-IN" sz="2000" dirty="0">
                <a:solidFill>
                  <a:schemeClr val="tx1"/>
                </a:solidFill>
              </a:rPr>
              <a:t> A single source of truth provides real-time visibility into operational and financial performance, supporting faster and more informed decision-making.</a:t>
            </a:r>
          </a:p>
          <a:p>
            <a:pPr lvl="0">
              <a:buClr>
                <a:schemeClr val="tx1"/>
              </a:buClr>
              <a:buFont typeface="Wingdings" panose="05000000000000000000" pitchFamily="2" charset="2"/>
              <a:buChar char="§"/>
            </a:pPr>
            <a:r>
              <a:rPr lang="en-IN" sz="2000" b="1" dirty="0">
                <a:solidFill>
                  <a:schemeClr val="tx1"/>
                </a:solidFill>
              </a:rPr>
              <a:t>Better inventory management:</a:t>
            </a:r>
            <a:r>
              <a:rPr lang="en-IN" sz="2000" dirty="0">
                <a:solidFill>
                  <a:schemeClr val="tx1"/>
                </a:solidFill>
              </a:rPr>
              <a:t> Automation of inventory management reduces handling costs and helps optimize cash flow by ensuring sufficient stock levels. </a:t>
            </a:r>
          </a:p>
          <a:p>
            <a:endParaRPr lang="en-IN" dirty="0"/>
          </a:p>
        </p:txBody>
      </p:sp>
    </p:spTree>
    <p:extLst>
      <p:ext uri="{BB962C8B-B14F-4D97-AF65-F5344CB8AC3E}">
        <p14:creationId xmlns:p14="http://schemas.microsoft.com/office/powerpoint/2010/main" val="346469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4FBC-D27F-B3DB-E4D2-D5BDD9C6D284}"/>
              </a:ext>
            </a:extLst>
          </p:cNvPr>
          <p:cNvSpPr>
            <a:spLocks noGrp="1"/>
          </p:cNvSpPr>
          <p:nvPr>
            <p:ph type="title"/>
          </p:nvPr>
        </p:nvSpPr>
        <p:spPr/>
        <p:txBody>
          <a:bodyPr/>
          <a:lstStyle/>
          <a:p>
            <a:r>
              <a:rPr lang="en-IN" b="1" dirty="0">
                <a:solidFill>
                  <a:schemeClr val="tx1"/>
                </a:solidFill>
              </a:rPr>
              <a:t>Benefits of ERP</a:t>
            </a:r>
            <a:endParaRPr lang="en-IN" dirty="0"/>
          </a:p>
        </p:txBody>
      </p:sp>
      <p:sp>
        <p:nvSpPr>
          <p:cNvPr id="3" name="Content Placeholder 2">
            <a:extLst>
              <a:ext uri="{FF2B5EF4-FFF2-40B4-BE49-F238E27FC236}">
                <a16:creationId xmlns:a16="http://schemas.microsoft.com/office/drawing/2014/main" id="{E765BEF6-8928-5458-D8B8-A40A9044DB9A}"/>
              </a:ext>
            </a:extLst>
          </p:cNvPr>
          <p:cNvSpPr>
            <a:spLocks noGrp="1"/>
          </p:cNvSpPr>
          <p:nvPr>
            <p:ph idx="1"/>
          </p:nvPr>
        </p:nvSpPr>
        <p:spPr>
          <a:xfrm>
            <a:off x="677334" y="1337187"/>
            <a:ext cx="10069324" cy="4911213"/>
          </a:xfrm>
        </p:spPr>
        <p:txBody>
          <a:bodyPr>
            <a:normAutofit/>
          </a:bodyPr>
          <a:lstStyle/>
          <a:p>
            <a:pPr lvl="0">
              <a:buClr>
                <a:schemeClr val="tx1"/>
              </a:buClr>
              <a:buFont typeface="Wingdings" panose="05000000000000000000" pitchFamily="2" charset="2"/>
              <a:buChar char="§"/>
            </a:pPr>
            <a:r>
              <a:rPr lang="en-IN" sz="2000" b="1" dirty="0">
                <a:solidFill>
                  <a:schemeClr val="tx1"/>
                </a:solidFill>
              </a:rPr>
              <a:t>Enhanced collaboration:</a:t>
            </a:r>
            <a:r>
              <a:rPr lang="en-IN" sz="2000" dirty="0">
                <a:solidFill>
                  <a:schemeClr val="tx1"/>
                </a:solidFill>
              </a:rPr>
              <a:t> Centralizing data allows different departments to share information easily, improving teamwork and productivity.</a:t>
            </a:r>
          </a:p>
          <a:p>
            <a:pPr lvl="0">
              <a:buClr>
                <a:schemeClr val="tx1"/>
              </a:buClr>
              <a:buFont typeface="Wingdings" panose="05000000000000000000" pitchFamily="2" charset="2"/>
              <a:buChar char="§"/>
            </a:pPr>
            <a:r>
              <a:rPr lang="en-IN" sz="2000" b="1" dirty="0">
                <a:solidFill>
                  <a:schemeClr val="tx1"/>
                </a:solidFill>
              </a:rPr>
              <a:t>Improved customer service:</a:t>
            </a:r>
            <a:r>
              <a:rPr lang="en-IN" sz="2000" dirty="0">
                <a:solidFill>
                  <a:schemeClr val="tx1"/>
                </a:solidFill>
              </a:rPr>
              <a:t> Better access to customer information allows for quicker response times and more effective complaint resolution.</a:t>
            </a:r>
          </a:p>
          <a:p>
            <a:pPr lvl="0">
              <a:buClr>
                <a:schemeClr val="tx1"/>
              </a:buClr>
              <a:buFont typeface="Wingdings" panose="05000000000000000000" pitchFamily="2" charset="2"/>
              <a:buChar char="§"/>
            </a:pPr>
            <a:r>
              <a:rPr lang="en-IN" sz="2000" b="1" dirty="0">
                <a:solidFill>
                  <a:schemeClr val="tx1"/>
                </a:solidFill>
              </a:rPr>
              <a:t>Increased agility:</a:t>
            </a:r>
            <a:r>
              <a:rPr lang="en-IN" sz="2000" dirty="0">
                <a:solidFill>
                  <a:schemeClr val="tx1"/>
                </a:solidFill>
              </a:rPr>
              <a:t> Businesses can react more quickly to opportunities and market changes due to real-time data and more efficient operations.</a:t>
            </a:r>
          </a:p>
          <a:p>
            <a:pPr lvl="0">
              <a:buClr>
                <a:schemeClr val="tx1"/>
              </a:buClr>
              <a:buFont typeface="Wingdings" panose="05000000000000000000" pitchFamily="2" charset="2"/>
              <a:buChar char="§"/>
            </a:pPr>
            <a:r>
              <a:rPr lang="en-IN" sz="2000" b="1" dirty="0">
                <a:solidFill>
                  <a:schemeClr val="tx1"/>
                </a:solidFill>
              </a:rPr>
              <a:t>Scalability:</a:t>
            </a:r>
            <a:r>
              <a:rPr lang="en-IN" sz="2000" dirty="0">
                <a:solidFill>
                  <a:schemeClr val="tx1"/>
                </a:solidFill>
              </a:rPr>
              <a:t> ERP systems can grow with the business, allowing companies to add new functionalities as they expand without disrupting existing operations. </a:t>
            </a:r>
          </a:p>
          <a:p>
            <a:pPr lvl="0">
              <a:buClr>
                <a:schemeClr val="tx1"/>
              </a:buClr>
              <a:buFont typeface="Wingdings" panose="05000000000000000000" pitchFamily="2" charset="2"/>
              <a:buChar char="§"/>
            </a:pPr>
            <a:r>
              <a:rPr lang="en-IN" sz="2000" b="1" dirty="0">
                <a:solidFill>
                  <a:schemeClr val="tx1"/>
                </a:solidFill>
              </a:rPr>
              <a:t>Regulatory compliance:</a:t>
            </a:r>
            <a:r>
              <a:rPr lang="en-IN" sz="2000" dirty="0">
                <a:solidFill>
                  <a:schemeClr val="tx1"/>
                </a:solidFill>
              </a:rPr>
              <a:t> Automation of controls and the provision of audit trails help ensure businesses meet regulatory requirements.</a:t>
            </a:r>
          </a:p>
          <a:p>
            <a:pPr lvl="0">
              <a:buClr>
                <a:schemeClr val="tx1"/>
              </a:buClr>
              <a:buFont typeface="Wingdings" panose="05000000000000000000" pitchFamily="2" charset="2"/>
              <a:buChar char="§"/>
            </a:pPr>
            <a:r>
              <a:rPr lang="en-IN" sz="2000" b="1" dirty="0">
                <a:solidFill>
                  <a:schemeClr val="tx1"/>
                </a:solidFill>
              </a:rPr>
              <a:t>Enhanced data security:</a:t>
            </a:r>
            <a:r>
              <a:rPr lang="en-IN" sz="2000" dirty="0">
                <a:solidFill>
                  <a:schemeClr val="tx1"/>
                </a:solidFill>
              </a:rPr>
              <a:t> Role-based access controls and data encryption improve the protection of sensitive business information. </a:t>
            </a:r>
          </a:p>
        </p:txBody>
      </p:sp>
    </p:spTree>
    <p:extLst>
      <p:ext uri="{BB962C8B-B14F-4D97-AF65-F5344CB8AC3E}">
        <p14:creationId xmlns:p14="http://schemas.microsoft.com/office/powerpoint/2010/main" val="4072611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F725F-4456-3544-DF4C-7568AF55FB82}"/>
              </a:ext>
            </a:extLst>
          </p:cNvPr>
          <p:cNvSpPr>
            <a:spLocks noGrp="1"/>
          </p:cNvSpPr>
          <p:nvPr>
            <p:ph type="title"/>
          </p:nvPr>
        </p:nvSpPr>
        <p:spPr>
          <a:xfrm>
            <a:off x="677334" y="609600"/>
            <a:ext cx="8596668" cy="757084"/>
          </a:xfrm>
        </p:spPr>
        <p:txBody>
          <a:bodyPr/>
          <a:lstStyle/>
          <a:p>
            <a:r>
              <a:rPr lang="en-IN" b="1" dirty="0">
                <a:solidFill>
                  <a:schemeClr val="tx1"/>
                </a:solidFill>
              </a:rPr>
              <a:t>ERP vs CRM</a:t>
            </a:r>
          </a:p>
        </p:txBody>
      </p:sp>
      <p:graphicFrame>
        <p:nvGraphicFramePr>
          <p:cNvPr id="4" name="Content Placeholder 3">
            <a:extLst>
              <a:ext uri="{FF2B5EF4-FFF2-40B4-BE49-F238E27FC236}">
                <a16:creationId xmlns:a16="http://schemas.microsoft.com/office/drawing/2014/main" id="{26E22952-15A2-3338-E097-11F91D9C89AE}"/>
              </a:ext>
            </a:extLst>
          </p:cNvPr>
          <p:cNvGraphicFramePr>
            <a:graphicFrameLocks noGrp="1"/>
          </p:cNvGraphicFramePr>
          <p:nvPr>
            <p:ph idx="1"/>
            <p:extLst>
              <p:ext uri="{D42A27DB-BD31-4B8C-83A1-F6EECF244321}">
                <p14:modId xmlns:p14="http://schemas.microsoft.com/office/powerpoint/2010/main" val="614320977"/>
              </p:ext>
            </p:extLst>
          </p:nvPr>
        </p:nvGraphicFramePr>
        <p:xfrm>
          <a:off x="677863" y="1455173"/>
          <a:ext cx="10707892" cy="4686499"/>
        </p:xfrm>
        <a:graphic>
          <a:graphicData uri="http://schemas.openxmlformats.org/drawingml/2006/table">
            <a:tbl>
              <a:tblPr firstRow="1" bandRow="1">
                <a:tableStyleId>{5C22544A-7EE6-4342-B048-85BDC9FD1C3A}</a:tableStyleId>
              </a:tblPr>
              <a:tblGrid>
                <a:gridCol w="1815589">
                  <a:extLst>
                    <a:ext uri="{9D8B030D-6E8A-4147-A177-3AD203B41FA5}">
                      <a16:colId xmlns:a16="http://schemas.microsoft.com/office/drawing/2014/main" val="3032435645"/>
                    </a:ext>
                  </a:extLst>
                </a:gridCol>
                <a:gridCol w="4338757">
                  <a:extLst>
                    <a:ext uri="{9D8B030D-6E8A-4147-A177-3AD203B41FA5}">
                      <a16:colId xmlns:a16="http://schemas.microsoft.com/office/drawing/2014/main" val="4274318791"/>
                    </a:ext>
                  </a:extLst>
                </a:gridCol>
                <a:gridCol w="4553546">
                  <a:extLst>
                    <a:ext uri="{9D8B030D-6E8A-4147-A177-3AD203B41FA5}">
                      <a16:colId xmlns:a16="http://schemas.microsoft.com/office/drawing/2014/main" val="898027886"/>
                    </a:ext>
                  </a:extLst>
                </a:gridCol>
              </a:tblGrid>
              <a:tr h="442453">
                <a:tc>
                  <a:txBody>
                    <a:bodyPr/>
                    <a:lstStyle/>
                    <a:p>
                      <a:pPr algn="ctr"/>
                      <a:r>
                        <a:rPr lang="en-IN" sz="1800" b="1" i="0" kern="1200" dirty="0">
                          <a:solidFill>
                            <a:schemeClr val="tx1"/>
                          </a:solidFill>
                          <a:effectLst/>
                          <a:latin typeface="+mn-lt"/>
                          <a:ea typeface="+mn-ea"/>
                          <a:cs typeface="+mn-cs"/>
                        </a:rPr>
                        <a:t>Aspect</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5788487"/>
                  </a:ext>
                </a:extLst>
              </a:tr>
              <a:tr h="769326">
                <a:tc>
                  <a:txBody>
                    <a:bodyPr/>
                    <a:lstStyle/>
                    <a:p>
                      <a:r>
                        <a:rPr lang="en-IN" dirty="0"/>
                        <a:t>Purpose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Manages </a:t>
                      </a:r>
                      <a:r>
                        <a:rPr lang="en-US" b="1" dirty="0"/>
                        <a:t>internal business processes</a:t>
                      </a:r>
                      <a:r>
                        <a:rPr lang="en-US" dirty="0"/>
                        <a:t> like finance, HR, inventory, supply chain, production, etc.</a:t>
                      </a:r>
                    </a:p>
                    <a:p>
                      <a:r>
                        <a:rPr lang="en-US" dirty="0"/>
                        <a:t>Focuses on </a:t>
                      </a:r>
                      <a:r>
                        <a:rPr lang="en-US" b="1" dirty="0"/>
                        <a:t>business operations and efficiency</a:t>
                      </a: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Manages </a:t>
                      </a:r>
                      <a:r>
                        <a:rPr lang="en-US" b="1" dirty="0"/>
                        <a:t>customer-related activities</a:t>
                      </a:r>
                      <a:r>
                        <a:rPr lang="en-US" dirty="0"/>
                        <a:t> like sales, customer service, marketing.</a:t>
                      </a:r>
                    </a:p>
                    <a:p>
                      <a:r>
                        <a:rPr lang="en-US" dirty="0"/>
                        <a:t>Focuses on </a:t>
                      </a:r>
                      <a:r>
                        <a:rPr lang="en-US" b="1" dirty="0"/>
                        <a:t>improving customer relationships and sales growth</a:t>
                      </a:r>
                      <a:r>
                        <a:rPr lang="en-US" dirty="0"/>
                        <a:t>.</a:t>
                      </a:r>
                    </a:p>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2692346"/>
                  </a:ext>
                </a:extLst>
              </a:tr>
              <a:tr h="7693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1" dirty="0"/>
                        <a:t>Key Functions</a:t>
                      </a:r>
                    </a:p>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dirty="0"/>
                        <a:t>Accounting &amp; Finance</a:t>
                      </a:r>
                    </a:p>
                    <a:p>
                      <a:pPr marL="285750" indent="-285750">
                        <a:buFont typeface="Arial" panose="020B0604020202020204" pitchFamily="34" charset="0"/>
                        <a:buChar char="•"/>
                      </a:pPr>
                      <a:r>
                        <a:rPr lang="en-US" dirty="0"/>
                        <a:t>Inventory Management</a:t>
                      </a:r>
                    </a:p>
                    <a:p>
                      <a:pPr marL="285750" indent="-285750">
                        <a:buFont typeface="Arial" panose="020B0604020202020204" pitchFamily="34" charset="0"/>
                        <a:buChar char="•"/>
                      </a:pPr>
                      <a:r>
                        <a:rPr lang="en-US" dirty="0"/>
                        <a:t>HR &amp; Payroll</a:t>
                      </a:r>
                    </a:p>
                    <a:p>
                      <a:pPr marL="285750" indent="-285750">
                        <a:buFont typeface="Arial" panose="020B0604020202020204" pitchFamily="34" charset="0"/>
                        <a:buChar char="•"/>
                      </a:pPr>
                      <a:r>
                        <a:rPr lang="en-US" dirty="0"/>
                        <a:t>Procurement</a:t>
                      </a:r>
                    </a:p>
                    <a:p>
                      <a:pPr marL="285750" indent="-285750">
                        <a:buFont typeface="Arial" panose="020B0604020202020204" pitchFamily="34" charset="0"/>
                        <a:buChar char="•"/>
                      </a:pPr>
                      <a:r>
                        <a:rPr lang="en-US" dirty="0"/>
                        <a:t>Supply Chain</a:t>
                      </a:r>
                    </a:p>
                    <a:p>
                      <a:pPr marL="285750" indent="-285750">
                        <a:buFont typeface="Arial" panose="020B0604020202020204" pitchFamily="34" charset="0"/>
                        <a:buChar char="•"/>
                      </a:pPr>
                      <a:r>
                        <a:rPr lang="en-US" dirty="0"/>
                        <a:t>Manufacturing</a:t>
                      </a:r>
                    </a:p>
                    <a:p>
                      <a:pPr marL="285750" indent="-285750">
                        <a:buFont typeface="Arial" panose="020B0604020202020204" pitchFamily="34" charset="0"/>
                        <a:buChar char="•"/>
                      </a:pPr>
                      <a:r>
                        <a:rPr lang="en-US" dirty="0"/>
                        <a:t>Production Planning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Lead Management</a:t>
                      </a:r>
                    </a:p>
                    <a:p>
                      <a:r>
                        <a:rPr lang="en-US" dirty="0"/>
                        <a:t>Sales Tracking</a:t>
                      </a:r>
                    </a:p>
                    <a:p>
                      <a:r>
                        <a:rPr lang="en-US" dirty="0"/>
                        <a:t>Customer Support</a:t>
                      </a:r>
                    </a:p>
                    <a:p>
                      <a:r>
                        <a:rPr lang="en-US" dirty="0"/>
                        <a:t>Marketing Campaigns</a:t>
                      </a:r>
                    </a:p>
                    <a:p>
                      <a:r>
                        <a:rPr lang="en-US" dirty="0"/>
                        <a:t>Contact Management</a:t>
                      </a:r>
                    </a:p>
                    <a:p>
                      <a:r>
                        <a:rPr lang="en-US" dirty="0"/>
                        <a:t>Service Tickets</a:t>
                      </a:r>
                    </a:p>
                    <a:p>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7590769"/>
                  </a:ext>
                </a:extLst>
              </a:tr>
              <a:tr h="769326">
                <a:tc>
                  <a:txBody>
                    <a:bodyPr/>
                    <a:lstStyle/>
                    <a:p>
                      <a:r>
                        <a:rPr lang="en-IN" dirty="0"/>
                        <a:t>Data Handled</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Internal data (suppliers, employees, inventory, costs).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Customer data (leads, buying behavior, communication history).</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249491"/>
                  </a:ext>
                </a:extLst>
              </a:tr>
            </a:tbl>
          </a:graphicData>
        </a:graphic>
      </p:graphicFrame>
    </p:spTree>
    <p:extLst>
      <p:ext uri="{BB962C8B-B14F-4D97-AF65-F5344CB8AC3E}">
        <p14:creationId xmlns:p14="http://schemas.microsoft.com/office/powerpoint/2010/main" val="3074387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740A-EDF0-1626-4C1D-FA9FBF0BD011}"/>
              </a:ext>
            </a:extLst>
          </p:cNvPr>
          <p:cNvSpPr>
            <a:spLocks noGrp="1"/>
          </p:cNvSpPr>
          <p:nvPr>
            <p:ph type="title"/>
          </p:nvPr>
        </p:nvSpPr>
        <p:spPr>
          <a:xfrm>
            <a:off x="677334" y="609600"/>
            <a:ext cx="8596668" cy="766916"/>
          </a:xfrm>
        </p:spPr>
        <p:txBody>
          <a:bodyPr/>
          <a:lstStyle/>
          <a:p>
            <a:r>
              <a:rPr lang="en-IN" b="1" dirty="0">
                <a:solidFill>
                  <a:schemeClr val="tx1"/>
                </a:solidFill>
              </a:rPr>
              <a:t>ERP vs CRM</a:t>
            </a:r>
            <a:endParaRPr lang="en-IN" dirty="0"/>
          </a:p>
        </p:txBody>
      </p:sp>
      <p:graphicFrame>
        <p:nvGraphicFramePr>
          <p:cNvPr id="5" name="Content Placeholder 4">
            <a:extLst>
              <a:ext uri="{FF2B5EF4-FFF2-40B4-BE49-F238E27FC236}">
                <a16:creationId xmlns:a16="http://schemas.microsoft.com/office/drawing/2014/main" id="{8862101F-EC3B-1588-B5FE-A0EC48A97FB5}"/>
              </a:ext>
            </a:extLst>
          </p:cNvPr>
          <p:cNvGraphicFramePr>
            <a:graphicFrameLocks noGrp="1"/>
          </p:cNvGraphicFramePr>
          <p:nvPr>
            <p:ph idx="1"/>
            <p:extLst>
              <p:ext uri="{D42A27DB-BD31-4B8C-83A1-F6EECF244321}">
                <p14:modId xmlns:p14="http://schemas.microsoft.com/office/powerpoint/2010/main" val="263327823"/>
              </p:ext>
            </p:extLst>
          </p:nvPr>
        </p:nvGraphicFramePr>
        <p:xfrm>
          <a:off x="677863" y="1455173"/>
          <a:ext cx="10442421" cy="3287614"/>
        </p:xfrm>
        <a:graphic>
          <a:graphicData uri="http://schemas.openxmlformats.org/drawingml/2006/table">
            <a:tbl>
              <a:tblPr firstRow="1" bandRow="1">
                <a:tableStyleId>{5C22544A-7EE6-4342-B048-85BDC9FD1C3A}</a:tableStyleId>
              </a:tblPr>
              <a:tblGrid>
                <a:gridCol w="1740872">
                  <a:extLst>
                    <a:ext uri="{9D8B030D-6E8A-4147-A177-3AD203B41FA5}">
                      <a16:colId xmlns:a16="http://schemas.microsoft.com/office/drawing/2014/main" val="68092935"/>
                    </a:ext>
                  </a:extLst>
                </a:gridCol>
                <a:gridCol w="4247536">
                  <a:extLst>
                    <a:ext uri="{9D8B030D-6E8A-4147-A177-3AD203B41FA5}">
                      <a16:colId xmlns:a16="http://schemas.microsoft.com/office/drawing/2014/main" val="4014362122"/>
                    </a:ext>
                  </a:extLst>
                </a:gridCol>
                <a:gridCol w="4454013">
                  <a:extLst>
                    <a:ext uri="{9D8B030D-6E8A-4147-A177-3AD203B41FA5}">
                      <a16:colId xmlns:a16="http://schemas.microsoft.com/office/drawing/2014/main" val="2263875101"/>
                    </a:ext>
                  </a:extLst>
                </a:gridCol>
              </a:tblGrid>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Aspect</a:t>
                      </a:r>
                      <a:endParaRPr lang="en-IN" dirty="0">
                        <a:solidFill>
                          <a:schemeClr val="tx1"/>
                        </a:solidFill>
                      </a:endParaRPr>
                    </a:p>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ERP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CRM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7876902"/>
                  </a:ext>
                </a:extLst>
              </a:tr>
              <a:tr h="1323767">
                <a:tc>
                  <a:txBody>
                    <a:bodyPr/>
                    <a:lstStyle/>
                    <a:p>
                      <a:r>
                        <a:rPr lang="en-IN"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Improve </a:t>
                      </a:r>
                      <a:r>
                        <a:rPr lang="en-US" b="1" dirty="0"/>
                        <a:t>efficiency</a:t>
                      </a:r>
                      <a:r>
                        <a:rPr lang="en-US" dirty="0"/>
                        <a:t>, reduce </a:t>
                      </a:r>
                      <a:r>
                        <a:rPr lang="en-US" b="1" dirty="0"/>
                        <a:t>costs</a:t>
                      </a:r>
                      <a:r>
                        <a:rPr lang="en-US" dirty="0"/>
                        <a:t>, and streamline operations.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Improve </a:t>
                      </a:r>
                      <a:r>
                        <a:rPr lang="en-US" b="1" dirty="0"/>
                        <a:t>customer satisfaction</a:t>
                      </a:r>
                      <a:r>
                        <a:rPr lang="en-US" dirty="0"/>
                        <a:t>, increase </a:t>
                      </a:r>
                      <a:r>
                        <a:rPr lang="en-US" b="1" dirty="0"/>
                        <a:t>sales</a:t>
                      </a:r>
                      <a:r>
                        <a:rPr lang="en-US" dirty="0"/>
                        <a:t>, and build relationships.</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1992047"/>
                  </a:ext>
                </a:extLst>
              </a:tr>
              <a:tr h="1323767">
                <a:tc>
                  <a:txBody>
                    <a:bodyPr/>
                    <a:lstStyle/>
                    <a:p>
                      <a:r>
                        <a:rPr lang="en-IN" dirty="0"/>
                        <a:t>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Finance team, HR team, operations, logistics, manufacturing.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Sales team, marketing team, customer support.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7418235"/>
                  </a:ext>
                </a:extLst>
              </a:tr>
            </a:tbl>
          </a:graphicData>
        </a:graphic>
      </p:graphicFrame>
    </p:spTree>
    <p:extLst>
      <p:ext uri="{BB962C8B-B14F-4D97-AF65-F5344CB8AC3E}">
        <p14:creationId xmlns:p14="http://schemas.microsoft.com/office/powerpoint/2010/main" val="2485952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2C2E-6E7B-26BF-3E3B-6FC92B85852D}"/>
              </a:ext>
            </a:extLst>
          </p:cNvPr>
          <p:cNvSpPr>
            <a:spLocks noGrp="1"/>
          </p:cNvSpPr>
          <p:nvPr>
            <p:ph type="title"/>
          </p:nvPr>
        </p:nvSpPr>
        <p:spPr>
          <a:xfrm>
            <a:off x="677333" y="609600"/>
            <a:ext cx="9253247" cy="1320800"/>
          </a:xfrm>
        </p:spPr>
        <p:txBody>
          <a:bodyPr>
            <a:normAutofit fontScale="90000"/>
          </a:bodyPr>
          <a:lstStyle/>
          <a:p>
            <a:r>
              <a:rPr lang="en-US" b="1" dirty="0">
                <a:solidFill>
                  <a:schemeClr val="tx1"/>
                </a:solidFill>
              </a:rPr>
              <a:t>The Relationship between Business Strategy, IT Strategy and Alignment Capability</a:t>
            </a:r>
            <a:br>
              <a:rPr lang="en-US" dirty="0"/>
            </a:br>
            <a:endParaRPr lang="en-IN" dirty="0"/>
          </a:p>
        </p:txBody>
      </p:sp>
      <p:sp>
        <p:nvSpPr>
          <p:cNvPr id="3" name="Content Placeholder 2">
            <a:extLst>
              <a:ext uri="{FF2B5EF4-FFF2-40B4-BE49-F238E27FC236}">
                <a16:creationId xmlns:a16="http://schemas.microsoft.com/office/drawing/2014/main" id="{26D8EE1B-C0ED-EF97-E963-35F11DA2EC5C}"/>
              </a:ext>
            </a:extLst>
          </p:cNvPr>
          <p:cNvSpPr>
            <a:spLocks noGrp="1"/>
          </p:cNvSpPr>
          <p:nvPr>
            <p:ph idx="1"/>
          </p:nvPr>
        </p:nvSpPr>
        <p:spPr>
          <a:xfrm>
            <a:off x="746159" y="1845956"/>
            <a:ext cx="9410563" cy="4721992"/>
          </a:xfrm>
        </p:spPr>
        <p:txBody>
          <a:bodyPr>
            <a:normAutofit fontScale="92500"/>
          </a:bodyPr>
          <a:lstStyle/>
          <a:p>
            <a:pPr marL="0" indent="0">
              <a:buNone/>
            </a:pPr>
            <a:r>
              <a:rPr lang="en-US" sz="2400" dirty="0">
                <a:solidFill>
                  <a:schemeClr val="tx1"/>
                </a:solidFill>
              </a:rPr>
              <a:t>Business strategy, IT strategy, and alignment capability are interdependent: </a:t>
            </a:r>
            <a:r>
              <a:rPr lang="en-US" sz="2400" b="1" dirty="0">
                <a:solidFill>
                  <a:schemeClr val="tx1"/>
                </a:solidFill>
              </a:rPr>
              <a:t>Business strategy</a:t>
            </a:r>
            <a:r>
              <a:rPr lang="en-US" sz="2400" dirty="0">
                <a:solidFill>
                  <a:schemeClr val="tx1"/>
                </a:solidFill>
              </a:rPr>
              <a:t> sets the overall goals, </a:t>
            </a:r>
            <a:r>
              <a:rPr lang="en-US" sz="2400" b="1" dirty="0">
                <a:solidFill>
                  <a:schemeClr val="tx1"/>
                </a:solidFill>
              </a:rPr>
              <a:t>IT strategy</a:t>
            </a:r>
            <a:r>
              <a:rPr lang="en-US" sz="2400" dirty="0">
                <a:solidFill>
                  <a:schemeClr val="tx1"/>
                </a:solidFill>
              </a:rPr>
              <a:t> defines how technology will support those goals, and </a:t>
            </a:r>
            <a:r>
              <a:rPr lang="en-US" sz="2400" b="1" dirty="0">
                <a:solidFill>
                  <a:schemeClr val="tx1"/>
                </a:solidFill>
              </a:rPr>
              <a:t>alignment capability</a:t>
            </a:r>
            <a:r>
              <a:rPr lang="en-US" sz="2400" dirty="0">
                <a:solidFill>
                  <a:schemeClr val="tx1"/>
                </a:solidFill>
              </a:rPr>
              <a:t> is the organization's ability to effectively coordinate the two. </a:t>
            </a:r>
          </a:p>
          <a:p>
            <a:pPr marL="0" indent="0">
              <a:buNone/>
            </a:pPr>
            <a:r>
              <a:rPr lang="en-IN" sz="2400" b="1" dirty="0">
                <a:solidFill>
                  <a:schemeClr val="tx1"/>
                </a:solidFill>
              </a:rPr>
              <a:t>Business Strategy: </a:t>
            </a:r>
            <a:r>
              <a:rPr lang="en-US" sz="2400" dirty="0">
                <a:solidFill>
                  <a:schemeClr val="tx1"/>
                </a:solidFill>
              </a:rPr>
              <a:t>A </a:t>
            </a:r>
            <a:r>
              <a:rPr lang="en-US" sz="2400" b="1" dirty="0">
                <a:solidFill>
                  <a:schemeClr val="tx1"/>
                </a:solidFill>
              </a:rPr>
              <a:t>business strategy</a:t>
            </a:r>
            <a:r>
              <a:rPr lang="en-US" sz="2400" dirty="0">
                <a:solidFill>
                  <a:schemeClr val="tx1"/>
                </a:solidFill>
              </a:rPr>
              <a:t> defines the </a:t>
            </a:r>
            <a:r>
              <a:rPr lang="en-US" sz="2400" b="1" dirty="0">
                <a:solidFill>
                  <a:schemeClr val="tx1"/>
                </a:solidFill>
              </a:rPr>
              <a:t>goals, direction, and long-term plans</a:t>
            </a:r>
            <a:r>
              <a:rPr lang="en-US" sz="2400" dirty="0">
                <a:solidFill>
                  <a:schemeClr val="tx1"/>
                </a:solidFill>
              </a:rPr>
              <a:t> of an organization.</a:t>
            </a:r>
          </a:p>
          <a:p>
            <a:pPr marL="0" indent="0">
              <a:buClr>
                <a:schemeClr val="tx1"/>
              </a:buClr>
              <a:buNone/>
            </a:pPr>
            <a:r>
              <a:rPr lang="en-US" sz="2400" b="1" dirty="0">
                <a:solidFill>
                  <a:schemeClr val="tx1"/>
                </a:solidFill>
              </a:rPr>
              <a:t>Examples:</a:t>
            </a:r>
          </a:p>
          <a:p>
            <a:pPr>
              <a:buClr>
                <a:schemeClr val="tx1"/>
              </a:buClr>
              <a:buFont typeface="Wingdings" panose="05000000000000000000" pitchFamily="2" charset="2"/>
              <a:buChar char="§"/>
            </a:pPr>
            <a:r>
              <a:rPr lang="en-US" sz="2400" dirty="0">
                <a:solidFill>
                  <a:schemeClr val="tx1"/>
                </a:solidFill>
              </a:rPr>
              <a:t>Expanding into new markets</a:t>
            </a:r>
          </a:p>
          <a:p>
            <a:pPr>
              <a:buClr>
                <a:schemeClr val="tx1"/>
              </a:buClr>
              <a:buFont typeface="Wingdings" panose="05000000000000000000" pitchFamily="2" charset="2"/>
              <a:buChar char="§"/>
            </a:pPr>
            <a:r>
              <a:rPr lang="en-US" sz="2400" dirty="0">
                <a:solidFill>
                  <a:schemeClr val="tx1"/>
                </a:solidFill>
              </a:rPr>
              <a:t>Increasing product quality</a:t>
            </a:r>
          </a:p>
          <a:p>
            <a:pPr>
              <a:buClr>
                <a:schemeClr val="tx1"/>
              </a:buClr>
              <a:buFont typeface="Wingdings" panose="05000000000000000000" pitchFamily="2" charset="2"/>
              <a:buChar char="§"/>
            </a:pPr>
            <a:r>
              <a:rPr lang="en-US" sz="2400" dirty="0">
                <a:solidFill>
                  <a:schemeClr val="tx1"/>
                </a:solidFill>
              </a:rPr>
              <a:t>Reducing operational costs</a:t>
            </a:r>
          </a:p>
          <a:p>
            <a:pPr>
              <a:buClr>
                <a:schemeClr val="tx1"/>
              </a:buClr>
              <a:buFont typeface="Wingdings" panose="05000000000000000000" pitchFamily="2" charset="2"/>
              <a:buChar char="§"/>
            </a:pPr>
            <a:r>
              <a:rPr lang="en-US" sz="2400" dirty="0">
                <a:solidFill>
                  <a:schemeClr val="tx1"/>
                </a:solidFill>
              </a:rPr>
              <a:t>Enhancing customer experience</a:t>
            </a:r>
          </a:p>
          <a:p>
            <a:pPr marL="0" indent="0">
              <a:buNone/>
            </a:pPr>
            <a:endParaRPr lang="en-IN" sz="2400" dirty="0">
              <a:solidFill>
                <a:schemeClr val="tx1"/>
              </a:solidFill>
            </a:endParaRPr>
          </a:p>
        </p:txBody>
      </p:sp>
    </p:spTree>
    <p:extLst>
      <p:ext uri="{BB962C8B-B14F-4D97-AF65-F5344CB8AC3E}">
        <p14:creationId xmlns:p14="http://schemas.microsoft.com/office/powerpoint/2010/main" val="32966741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99291-0DEE-D87B-A960-D0DA3146E79D}"/>
              </a:ext>
            </a:extLst>
          </p:cNvPr>
          <p:cNvSpPr>
            <a:spLocks noGrp="1"/>
          </p:cNvSpPr>
          <p:nvPr>
            <p:ph idx="1"/>
          </p:nvPr>
        </p:nvSpPr>
        <p:spPr>
          <a:xfrm>
            <a:off x="677333" y="481781"/>
            <a:ext cx="10108653" cy="5559581"/>
          </a:xfrm>
        </p:spPr>
        <p:txBody>
          <a:bodyPr/>
          <a:lstStyle/>
          <a:p>
            <a:pPr marL="0" indent="0">
              <a:buNone/>
            </a:pPr>
            <a:r>
              <a:rPr lang="en-IN" sz="2800" b="1" dirty="0">
                <a:solidFill>
                  <a:schemeClr val="tx1"/>
                </a:solidFill>
              </a:rPr>
              <a:t>IT Strategy</a:t>
            </a:r>
            <a:r>
              <a:rPr lang="en-IN" sz="2400" b="1" dirty="0">
                <a:solidFill>
                  <a:schemeClr val="tx1"/>
                </a:solidFill>
              </a:rPr>
              <a:t>:</a:t>
            </a:r>
          </a:p>
          <a:p>
            <a:pPr marL="0" indent="0">
              <a:buNone/>
            </a:pPr>
            <a:r>
              <a:rPr lang="en-US" sz="2400" dirty="0">
                <a:solidFill>
                  <a:schemeClr val="tx1"/>
                </a:solidFill>
              </a:rPr>
              <a:t>IT strategy defines </a:t>
            </a:r>
            <a:r>
              <a:rPr lang="en-US" sz="2400" b="1" dirty="0">
                <a:solidFill>
                  <a:schemeClr val="tx1"/>
                </a:solidFill>
              </a:rPr>
              <a:t>how technology will support the business strategy</a:t>
            </a:r>
            <a:r>
              <a:rPr lang="en-US" sz="2400" dirty="0">
                <a:solidFill>
                  <a:schemeClr val="tx1"/>
                </a:solidFill>
              </a:rPr>
              <a:t>.</a:t>
            </a:r>
            <a:br>
              <a:rPr lang="en-US" sz="2400" dirty="0">
                <a:solidFill>
                  <a:schemeClr val="tx1"/>
                </a:solidFill>
              </a:rPr>
            </a:br>
            <a:r>
              <a:rPr lang="en-US" sz="2400" dirty="0">
                <a:solidFill>
                  <a:schemeClr val="tx1"/>
                </a:solidFill>
              </a:rPr>
              <a:t>It includes decisions on:</a:t>
            </a:r>
          </a:p>
          <a:p>
            <a:pPr>
              <a:buClr>
                <a:schemeClr val="tx1"/>
              </a:buClr>
              <a:buFont typeface="Wingdings" panose="05000000000000000000" pitchFamily="2" charset="2"/>
              <a:buChar char="§"/>
            </a:pPr>
            <a:r>
              <a:rPr lang="en-US" sz="2400" dirty="0">
                <a:solidFill>
                  <a:schemeClr val="tx1"/>
                </a:solidFill>
              </a:rPr>
              <a:t>Infrastructure (cloud, servers, networks)</a:t>
            </a:r>
          </a:p>
          <a:p>
            <a:pPr>
              <a:buClr>
                <a:schemeClr val="tx1"/>
              </a:buClr>
              <a:buFont typeface="Wingdings" panose="05000000000000000000" pitchFamily="2" charset="2"/>
              <a:buChar char="§"/>
            </a:pPr>
            <a:r>
              <a:rPr lang="en-US" sz="2400" dirty="0">
                <a:solidFill>
                  <a:schemeClr val="tx1"/>
                </a:solidFill>
              </a:rPr>
              <a:t>Applications (ERP, CRM, BI tools)</a:t>
            </a:r>
          </a:p>
          <a:p>
            <a:pPr>
              <a:buClr>
                <a:schemeClr val="tx1"/>
              </a:buClr>
              <a:buFont typeface="Wingdings" panose="05000000000000000000" pitchFamily="2" charset="2"/>
              <a:buChar char="§"/>
            </a:pPr>
            <a:r>
              <a:rPr lang="en-US" sz="2400" dirty="0">
                <a:solidFill>
                  <a:schemeClr val="tx1"/>
                </a:solidFill>
              </a:rPr>
              <a:t>Cybersecurity</a:t>
            </a:r>
          </a:p>
          <a:p>
            <a:pPr>
              <a:buClr>
                <a:schemeClr val="tx1"/>
              </a:buClr>
              <a:buFont typeface="Wingdings" panose="05000000000000000000" pitchFamily="2" charset="2"/>
              <a:buChar char="§"/>
            </a:pPr>
            <a:r>
              <a:rPr lang="en-US" sz="2400" dirty="0">
                <a:solidFill>
                  <a:schemeClr val="tx1"/>
                </a:solidFill>
              </a:rPr>
              <a:t>IT investments and priorities</a:t>
            </a:r>
          </a:p>
          <a:p>
            <a:pPr marL="0" indent="0">
              <a:buNone/>
            </a:pPr>
            <a:r>
              <a:rPr lang="en-US" sz="2400" b="1" dirty="0">
                <a:solidFill>
                  <a:schemeClr val="tx1"/>
                </a:solidFill>
              </a:rPr>
              <a:t>Purpose:</a:t>
            </a:r>
          </a:p>
          <a:p>
            <a:pPr marL="0" indent="0">
              <a:buNone/>
            </a:pPr>
            <a:r>
              <a:rPr lang="en-US" sz="2400" dirty="0">
                <a:solidFill>
                  <a:schemeClr val="tx1"/>
                </a:solidFill>
              </a:rPr>
              <a:t>Ensure IT systems </a:t>
            </a:r>
            <a:r>
              <a:rPr lang="en-US" sz="2400" b="1" dirty="0">
                <a:solidFill>
                  <a:schemeClr val="tx1"/>
                </a:solidFill>
              </a:rPr>
              <a:t>enable</a:t>
            </a:r>
            <a:r>
              <a:rPr lang="en-US" sz="2400" dirty="0">
                <a:solidFill>
                  <a:schemeClr val="tx1"/>
                </a:solidFill>
              </a:rPr>
              <a:t>, </a:t>
            </a:r>
            <a:r>
              <a:rPr lang="en-US" sz="2400" b="1" dirty="0">
                <a:solidFill>
                  <a:schemeClr val="tx1"/>
                </a:solidFill>
              </a:rPr>
              <a:t>support</a:t>
            </a:r>
            <a:r>
              <a:rPr lang="en-US" sz="2400" dirty="0">
                <a:solidFill>
                  <a:schemeClr val="tx1"/>
                </a:solidFill>
              </a:rPr>
              <a:t>, and </a:t>
            </a:r>
            <a:r>
              <a:rPr lang="en-US" sz="2400" b="1" dirty="0">
                <a:solidFill>
                  <a:schemeClr val="tx1"/>
                </a:solidFill>
              </a:rPr>
              <a:t>strengthen</a:t>
            </a:r>
            <a:r>
              <a:rPr lang="en-US" sz="2400" dirty="0">
                <a:solidFill>
                  <a:schemeClr val="tx1"/>
                </a:solidFill>
              </a:rPr>
              <a:t> the organization’s objectives.</a:t>
            </a:r>
          </a:p>
          <a:p>
            <a:endParaRPr lang="en-IN" dirty="0"/>
          </a:p>
        </p:txBody>
      </p:sp>
    </p:spTree>
    <p:extLst>
      <p:ext uri="{BB962C8B-B14F-4D97-AF65-F5344CB8AC3E}">
        <p14:creationId xmlns:p14="http://schemas.microsoft.com/office/powerpoint/2010/main" val="3902676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C209B4-583B-974C-3533-EF4614D68079}"/>
              </a:ext>
            </a:extLst>
          </p:cNvPr>
          <p:cNvSpPr>
            <a:spLocks noGrp="1"/>
          </p:cNvSpPr>
          <p:nvPr>
            <p:ph idx="1"/>
          </p:nvPr>
        </p:nvSpPr>
        <p:spPr>
          <a:xfrm>
            <a:off x="677333" y="707923"/>
            <a:ext cx="10177479" cy="5545393"/>
          </a:xfrm>
        </p:spPr>
        <p:txBody>
          <a:bodyPr>
            <a:normAutofit lnSpcReduction="10000"/>
          </a:bodyPr>
          <a:lstStyle/>
          <a:p>
            <a:pPr marL="0" indent="0">
              <a:buNone/>
            </a:pPr>
            <a:r>
              <a:rPr lang="en-IN" sz="2400" b="1" dirty="0">
                <a:solidFill>
                  <a:schemeClr val="tx1"/>
                </a:solidFill>
              </a:rPr>
              <a:t>Alignment Capability:</a:t>
            </a:r>
          </a:p>
          <a:p>
            <a:pPr marL="0" indent="0">
              <a:buNone/>
            </a:pPr>
            <a:r>
              <a:rPr lang="en-US" sz="2400" b="1" dirty="0">
                <a:solidFill>
                  <a:schemeClr val="tx1"/>
                </a:solidFill>
              </a:rPr>
              <a:t>Alignment capability</a:t>
            </a:r>
            <a:r>
              <a:rPr lang="en-US" sz="2400" dirty="0">
                <a:solidFill>
                  <a:schemeClr val="tx1"/>
                </a:solidFill>
              </a:rPr>
              <a:t> is an organization’s ability to </a:t>
            </a:r>
            <a:r>
              <a:rPr lang="en-US" sz="2400" b="1" dirty="0">
                <a:solidFill>
                  <a:schemeClr val="tx1"/>
                </a:solidFill>
              </a:rPr>
              <a:t>synchronize</a:t>
            </a:r>
            <a:r>
              <a:rPr lang="en-US" sz="2400" dirty="0">
                <a:solidFill>
                  <a:schemeClr val="tx1"/>
                </a:solidFill>
              </a:rPr>
              <a:t> business and IT strategies so they work together effectively.</a:t>
            </a:r>
          </a:p>
          <a:p>
            <a:pPr marL="0" indent="0">
              <a:buNone/>
            </a:pPr>
            <a:r>
              <a:rPr lang="en-US" sz="2400" b="1" dirty="0">
                <a:solidFill>
                  <a:schemeClr val="tx1"/>
                </a:solidFill>
              </a:rPr>
              <a:t>It includes:</a:t>
            </a:r>
          </a:p>
          <a:p>
            <a:pPr>
              <a:buClr>
                <a:schemeClr val="tx1"/>
              </a:buClr>
              <a:buFont typeface="Wingdings" panose="05000000000000000000" pitchFamily="2" charset="2"/>
              <a:buChar char="§"/>
            </a:pPr>
            <a:r>
              <a:rPr lang="en-US" sz="2400" dirty="0">
                <a:solidFill>
                  <a:schemeClr val="tx1"/>
                </a:solidFill>
              </a:rPr>
              <a:t>Good communication between IT and business teams</a:t>
            </a:r>
          </a:p>
          <a:p>
            <a:pPr>
              <a:buClr>
                <a:schemeClr val="tx1"/>
              </a:buClr>
              <a:buFont typeface="Wingdings" panose="05000000000000000000" pitchFamily="2" charset="2"/>
              <a:buChar char="§"/>
            </a:pPr>
            <a:r>
              <a:rPr lang="en-US" sz="2400" dirty="0">
                <a:solidFill>
                  <a:schemeClr val="tx1"/>
                </a:solidFill>
              </a:rPr>
              <a:t>Strong leadership and collaboration</a:t>
            </a:r>
          </a:p>
          <a:p>
            <a:pPr>
              <a:buClr>
                <a:schemeClr val="tx1"/>
              </a:buClr>
              <a:buFont typeface="Wingdings" panose="05000000000000000000" pitchFamily="2" charset="2"/>
              <a:buChar char="§"/>
            </a:pPr>
            <a:r>
              <a:rPr lang="en-US" sz="2400" dirty="0">
                <a:solidFill>
                  <a:schemeClr val="tx1"/>
                </a:solidFill>
              </a:rPr>
              <a:t>Shared goals and understanding</a:t>
            </a:r>
          </a:p>
          <a:p>
            <a:pPr>
              <a:buClr>
                <a:schemeClr val="tx1"/>
              </a:buClr>
              <a:buFont typeface="Wingdings" panose="05000000000000000000" pitchFamily="2" charset="2"/>
              <a:buChar char="§"/>
            </a:pPr>
            <a:r>
              <a:rPr lang="en-US" sz="2400" dirty="0">
                <a:solidFill>
                  <a:schemeClr val="tx1"/>
                </a:solidFill>
              </a:rPr>
              <a:t>Flexible processes</a:t>
            </a:r>
          </a:p>
          <a:p>
            <a:pPr>
              <a:buClr>
                <a:schemeClr val="tx1"/>
              </a:buClr>
              <a:buFont typeface="Wingdings" panose="05000000000000000000" pitchFamily="2" charset="2"/>
              <a:buChar char="§"/>
            </a:pPr>
            <a:r>
              <a:rPr lang="en-US" sz="2400" dirty="0">
                <a:solidFill>
                  <a:schemeClr val="tx1"/>
                </a:solidFill>
              </a:rPr>
              <a:t>Governance and change management</a:t>
            </a:r>
          </a:p>
          <a:p>
            <a:pPr marL="0" indent="0">
              <a:buNone/>
            </a:pPr>
            <a:endParaRPr lang="en-US" sz="2400" dirty="0">
              <a:solidFill>
                <a:schemeClr val="tx1"/>
              </a:solidFill>
            </a:endParaRPr>
          </a:p>
          <a:p>
            <a:pPr marL="0" indent="0">
              <a:buNone/>
            </a:pPr>
            <a:r>
              <a:rPr lang="en-US" sz="2400" dirty="0">
                <a:solidFill>
                  <a:schemeClr val="tx1"/>
                </a:solidFill>
              </a:rPr>
              <a:t>Even if a company has a great business plan and strong technology, it </a:t>
            </a:r>
            <a:r>
              <a:rPr lang="en-US" sz="2400" b="1" dirty="0">
                <a:solidFill>
                  <a:schemeClr val="tx1"/>
                </a:solidFill>
              </a:rPr>
              <a:t>fails</a:t>
            </a:r>
            <a:r>
              <a:rPr lang="en-US" sz="2400" dirty="0">
                <a:solidFill>
                  <a:schemeClr val="tx1"/>
                </a:solidFill>
              </a:rPr>
              <a:t> if the two are not aligned.</a:t>
            </a:r>
          </a:p>
          <a:p>
            <a:pPr marL="0" indent="0">
              <a:buNone/>
            </a:pPr>
            <a:endParaRPr lang="en-IN" dirty="0"/>
          </a:p>
        </p:txBody>
      </p:sp>
    </p:spTree>
    <p:extLst>
      <p:ext uri="{BB962C8B-B14F-4D97-AF65-F5344CB8AC3E}">
        <p14:creationId xmlns:p14="http://schemas.microsoft.com/office/powerpoint/2010/main" val="2990649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AC78-E65C-9D30-A6CB-1C21C7F8F0A1}"/>
              </a:ext>
            </a:extLst>
          </p:cNvPr>
          <p:cNvSpPr>
            <a:spLocks noGrp="1"/>
          </p:cNvSpPr>
          <p:nvPr>
            <p:ph type="title"/>
          </p:nvPr>
        </p:nvSpPr>
        <p:spPr>
          <a:xfrm>
            <a:off x="677334" y="609600"/>
            <a:ext cx="8596668" cy="658761"/>
          </a:xfrm>
        </p:spPr>
        <p:txBody>
          <a:bodyPr>
            <a:normAutofit/>
          </a:bodyPr>
          <a:lstStyle/>
          <a:p>
            <a:r>
              <a:rPr lang="en-IN" sz="2800" b="1" dirty="0">
                <a:solidFill>
                  <a:schemeClr val="tx1"/>
                </a:solidFill>
              </a:rPr>
              <a:t>How They Work Together</a:t>
            </a:r>
          </a:p>
        </p:txBody>
      </p:sp>
      <p:sp>
        <p:nvSpPr>
          <p:cNvPr id="3" name="Content Placeholder 2">
            <a:extLst>
              <a:ext uri="{FF2B5EF4-FFF2-40B4-BE49-F238E27FC236}">
                <a16:creationId xmlns:a16="http://schemas.microsoft.com/office/drawing/2014/main" id="{A0D1DCEA-6F43-B87E-C074-39F208985D22}"/>
              </a:ext>
            </a:extLst>
          </p:cNvPr>
          <p:cNvSpPr>
            <a:spLocks noGrp="1"/>
          </p:cNvSpPr>
          <p:nvPr>
            <p:ph idx="1"/>
          </p:nvPr>
        </p:nvSpPr>
        <p:spPr>
          <a:xfrm>
            <a:off x="677334" y="1337187"/>
            <a:ext cx="10216808" cy="5083278"/>
          </a:xfrm>
        </p:spPr>
        <p:txBody>
          <a:bodyPr>
            <a:normAutofit fontScale="92500" lnSpcReduction="20000"/>
          </a:bodyPr>
          <a:lstStyle/>
          <a:p>
            <a:pPr marL="0" indent="0">
              <a:buNone/>
            </a:pPr>
            <a:r>
              <a:rPr lang="en-US" b="1" dirty="0">
                <a:solidFill>
                  <a:schemeClr val="tx1"/>
                </a:solidFill>
              </a:rPr>
              <a:t>A. Business Strategy → Drives IT Strategy</a:t>
            </a:r>
          </a:p>
          <a:p>
            <a:pPr marL="0" indent="0">
              <a:buNone/>
            </a:pPr>
            <a:r>
              <a:rPr lang="en-US" dirty="0">
                <a:solidFill>
                  <a:schemeClr val="tx1"/>
                </a:solidFill>
              </a:rPr>
              <a:t>Business goals determine what IT systems are needed.</a:t>
            </a:r>
            <a:br>
              <a:rPr lang="en-US" dirty="0">
                <a:solidFill>
                  <a:schemeClr val="tx1"/>
                </a:solidFill>
              </a:rPr>
            </a:br>
            <a:r>
              <a:rPr lang="en-US" dirty="0">
                <a:solidFill>
                  <a:schemeClr val="tx1"/>
                </a:solidFill>
              </a:rPr>
              <a:t>Example:</a:t>
            </a:r>
            <a:br>
              <a:rPr lang="en-US" dirty="0">
                <a:solidFill>
                  <a:schemeClr val="tx1"/>
                </a:solidFill>
              </a:rPr>
            </a:br>
            <a:r>
              <a:rPr lang="en-US" dirty="0">
                <a:solidFill>
                  <a:schemeClr val="tx1"/>
                </a:solidFill>
              </a:rPr>
              <a:t>If the business strategy focuses on customer experience → IT invests in CRM, chatbots, website optimization.</a:t>
            </a:r>
          </a:p>
          <a:p>
            <a:pPr marL="0" indent="0">
              <a:buNone/>
            </a:pPr>
            <a:r>
              <a:rPr lang="en-US" b="1" dirty="0">
                <a:solidFill>
                  <a:schemeClr val="tx1"/>
                </a:solidFill>
              </a:rPr>
              <a:t>B. IT Strategy → Enables Business Strategy</a:t>
            </a:r>
          </a:p>
          <a:p>
            <a:pPr marL="0" indent="0">
              <a:buNone/>
            </a:pPr>
            <a:r>
              <a:rPr lang="en-US" dirty="0">
                <a:solidFill>
                  <a:schemeClr val="tx1"/>
                </a:solidFill>
              </a:rPr>
              <a:t>IT provides the tools and infrastructure to execute the business plan.</a:t>
            </a:r>
            <a:br>
              <a:rPr lang="en-US" dirty="0">
                <a:solidFill>
                  <a:schemeClr val="tx1"/>
                </a:solidFill>
              </a:rPr>
            </a:br>
            <a:r>
              <a:rPr lang="en-US" dirty="0">
                <a:solidFill>
                  <a:schemeClr val="tx1"/>
                </a:solidFill>
              </a:rPr>
              <a:t>Example:</a:t>
            </a:r>
            <a:br>
              <a:rPr lang="en-US" dirty="0">
                <a:solidFill>
                  <a:schemeClr val="tx1"/>
                </a:solidFill>
              </a:rPr>
            </a:br>
            <a:r>
              <a:rPr lang="en-US" dirty="0">
                <a:solidFill>
                  <a:schemeClr val="tx1"/>
                </a:solidFill>
              </a:rPr>
              <a:t>If the business wants global expansion → IT sets up cloud platforms, e-commerce systems, and ERP modules.</a:t>
            </a:r>
          </a:p>
          <a:p>
            <a:pPr marL="0" indent="0">
              <a:buNone/>
            </a:pPr>
            <a:r>
              <a:rPr lang="en-US" b="1" dirty="0">
                <a:solidFill>
                  <a:schemeClr val="tx1"/>
                </a:solidFill>
              </a:rPr>
              <a:t>C. Alignment Capability → Ensures Continuous Fit</a:t>
            </a:r>
          </a:p>
          <a:p>
            <a:pPr marL="0" indent="0">
              <a:buNone/>
            </a:pPr>
            <a:r>
              <a:rPr lang="en-US" dirty="0">
                <a:solidFill>
                  <a:schemeClr val="tx1"/>
                </a:solidFill>
              </a:rPr>
              <a:t>Business environment and technology both change.</a:t>
            </a:r>
            <a:br>
              <a:rPr lang="en-US" dirty="0">
                <a:solidFill>
                  <a:schemeClr val="tx1"/>
                </a:solidFill>
              </a:rPr>
            </a:br>
            <a:r>
              <a:rPr lang="en-US" dirty="0">
                <a:solidFill>
                  <a:schemeClr val="tx1"/>
                </a:solidFill>
              </a:rPr>
              <a:t>Alignment capability ensures the two strategies stay coordinated over time through:</a:t>
            </a:r>
          </a:p>
          <a:p>
            <a:pPr>
              <a:buClr>
                <a:schemeClr val="tx1"/>
              </a:buClr>
              <a:buFont typeface="Wingdings" panose="05000000000000000000" pitchFamily="2" charset="2"/>
              <a:buChar char="§"/>
            </a:pPr>
            <a:r>
              <a:rPr lang="en-US" dirty="0">
                <a:solidFill>
                  <a:schemeClr val="tx1"/>
                </a:solidFill>
              </a:rPr>
              <a:t>Regular reviews</a:t>
            </a:r>
          </a:p>
          <a:p>
            <a:pPr>
              <a:buClr>
                <a:schemeClr val="tx1"/>
              </a:buClr>
              <a:buFont typeface="Wingdings" panose="05000000000000000000" pitchFamily="2" charset="2"/>
              <a:buChar char="§"/>
            </a:pPr>
            <a:r>
              <a:rPr lang="en-US" dirty="0">
                <a:solidFill>
                  <a:schemeClr val="tx1"/>
                </a:solidFill>
              </a:rPr>
              <a:t>Cross-department communication</a:t>
            </a:r>
          </a:p>
          <a:p>
            <a:pPr>
              <a:buClr>
                <a:schemeClr val="tx1"/>
              </a:buClr>
              <a:buFont typeface="Wingdings" panose="05000000000000000000" pitchFamily="2" charset="2"/>
              <a:buChar char="§"/>
            </a:pPr>
            <a:r>
              <a:rPr lang="en-US" dirty="0">
                <a:solidFill>
                  <a:schemeClr val="tx1"/>
                </a:solidFill>
              </a:rPr>
              <a:t>Agile adjustments</a:t>
            </a:r>
          </a:p>
          <a:p>
            <a:pPr>
              <a:buClr>
                <a:schemeClr val="tx1"/>
              </a:buClr>
              <a:buFont typeface="Wingdings" panose="05000000000000000000" pitchFamily="2" charset="2"/>
              <a:buChar char="§"/>
            </a:pPr>
            <a:r>
              <a:rPr lang="en-US" dirty="0">
                <a:solidFill>
                  <a:schemeClr val="tx1"/>
                </a:solidFill>
              </a:rPr>
              <a:t>Shared decision-making</a:t>
            </a:r>
          </a:p>
          <a:p>
            <a:endParaRPr lang="en-IN" dirty="0"/>
          </a:p>
        </p:txBody>
      </p:sp>
    </p:spTree>
    <p:extLst>
      <p:ext uri="{BB962C8B-B14F-4D97-AF65-F5344CB8AC3E}">
        <p14:creationId xmlns:p14="http://schemas.microsoft.com/office/powerpoint/2010/main" val="1041013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2A85-F287-329C-4B1F-B7818AB76E0B}"/>
              </a:ext>
            </a:extLst>
          </p:cNvPr>
          <p:cNvSpPr>
            <a:spLocks noGrp="1"/>
          </p:cNvSpPr>
          <p:nvPr>
            <p:ph type="title"/>
          </p:nvPr>
        </p:nvSpPr>
        <p:spPr/>
        <p:txBody>
          <a:bodyPr/>
          <a:lstStyle/>
          <a:p>
            <a:r>
              <a:rPr lang="en-IN" b="1" dirty="0">
                <a:solidFill>
                  <a:schemeClr val="tx1"/>
                </a:solidFill>
              </a:rPr>
              <a:t>The Alignment Cycle</a:t>
            </a:r>
          </a:p>
        </p:txBody>
      </p:sp>
      <p:sp>
        <p:nvSpPr>
          <p:cNvPr id="4" name="Rectangle 1">
            <a:extLst>
              <a:ext uri="{FF2B5EF4-FFF2-40B4-BE49-F238E27FC236}">
                <a16:creationId xmlns:a16="http://schemas.microsoft.com/office/drawing/2014/main" id="{A5583293-FAD0-0CCF-D084-2B78F6B2A4EB}"/>
              </a:ext>
            </a:extLst>
          </p:cNvPr>
          <p:cNvSpPr>
            <a:spLocks noGrp="1" noChangeArrowheads="1"/>
          </p:cNvSpPr>
          <p:nvPr>
            <p:ph idx="1"/>
          </p:nvPr>
        </p:nvSpPr>
        <p:spPr bwMode="auto">
          <a:xfrm>
            <a:off x="677334" y="1930400"/>
            <a:ext cx="890911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Business Strategy is created</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IT Strategy is designed</a:t>
            </a:r>
            <a:r>
              <a:rPr kumimoji="0" lang="en-US" altLang="en-US" sz="2400" b="0" i="0" u="none" strike="noStrike" cap="none" normalizeH="0" baseline="0" dirty="0">
                <a:ln>
                  <a:noFill/>
                </a:ln>
                <a:solidFill>
                  <a:schemeClr val="tx1"/>
                </a:solidFill>
                <a:effectLst/>
                <a:latin typeface="Arial" panose="020B0604020202020204" pitchFamily="34" charset="0"/>
              </a:rPr>
              <a:t> to support it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Alignment Capability</a:t>
            </a:r>
            <a:r>
              <a:rPr kumimoji="0" lang="en-US" altLang="en-US" sz="2400" b="0" i="0" u="none" strike="noStrike" cap="none" normalizeH="0" baseline="0" dirty="0">
                <a:ln>
                  <a:noFill/>
                </a:ln>
                <a:solidFill>
                  <a:schemeClr val="tx1"/>
                </a:solidFill>
                <a:effectLst/>
                <a:latin typeface="Arial" panose="020B0604020202020204" pitchFamily="34" charset="0"/>
              </a:rPr>
              <a:t> ensures both strategies stay connected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IT improves business performance</a:t>
            </a:r>
            <a:r>
              <a:rPr kumimoji="0" lang="en-US" altLang="en-US" sz="2400" b="0" i="0" u="none" strike="noStrike" cap="none" normalizeH="0" baseline="0" dirty="0">
                <a:ln>
                  <a:noFill/>
                </a:ln>
                <a:solidFill>
                  <a:schemeClr val="tx1"/>
                </a:solidFill>
                <a:effectLst/>
                <a:latin typeface="Arial" panose="020B0604020202020204" pitchFamily="34" charset="0"/>
              </a:rPr>
              <a:t>, which shapes future business strategy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cycle repeats</a:t>
            </a:r>
          </a:p>
        </p:txBody>
      </p:sp>
    </p:spTree>
    <p:extLst>
      <p:ext uri="{BB962C8B-B14F-4D97-AF65-F5344CB8AC3E}">
        <p14:creationId xmlns:p14="http://schemas.microsoft.com/office/powerpoint/2010/main" val="19102500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B2D9-E3F7-532E-ABC8-73358B577A57}"/>
              </a:ext>
            </a:extLst>
          </p:cNvPr>
          <p:cNvSpPr>
            <a:spLocks noGrp="1"/>
          </p:cNvSpPr>
          <p:nvPr>
            <p:ph type="title"/>
          </p:nvPr>
        </p:nvSpPr>
        <p:spPr>
          <a:xfrm>
            <a:off x="677334" y="609600"/>
            <a:ext cx="9980834" cy="983226"/>
          </a:xfrm>
        </p:spPr>
        <p:txBody>
          <a:bodyPr>
            <a:normAutofit fontScale="90000"/>
          </a:bodyPr>
          <a:lstStyle/>
          <a:p>
            <a:r>
              <a:rPr lang="en-US" sz="3100" b="1" dirty="0">
                <a:solidFill>
                  <a:schemeClr val="tx1"/>
                </a:solidFill>
              </a:rPr>
              <a:t>Difference between Structured, Semi-structured and Unstructured data</a:t>
            </a:r>
            <a:br>
              <a:rPr lang="en-US" b="1" dirty="0"/>
            </a:br>
            <a:endParaRPr lang="en-IN" dirty="0"/>
          </a:p>
        </p:txBody>
      </p:sp>
      <p:sp>
        <p:nvSpPr>
          <p:cNvPr id="3" name="Content Placeholder 2">
            <a:extLst>
              <a:ext uri="{FF2B5EF4-FFF2-40B4-BE49-F238E27FC236}">
                <a16:creationId xmlns:a16="http://schemas.microsoft.com/office/drawing/2014/main" id="{22215A59-2432-E1EF-AB0C-C12CA5F2DD75}"/>
              </a:ext>
            </a:extLst>
          </p:cNvPr>
          <p:cNvSpPr>
            <a:spLocks noGrp="1"/>
          </p:cNvSpPr>
          <p:nvPr>
            <p:ph idx="1"/>
          </p:nvPr>
        </p:nvSpPr>
        <p:spPr>
          <a:xfrm>
            <a:off x="677333" y="1796795"/>
            <a:ext cx="9980833" cy="4564676"/>
          </a:xfrm>
        </p:spPr>
        <p:txBody>
          <a:bodyPr/>
          <a:lstStyle/>
          <a:p>
            <a:pPr marL="0" indent="0">
              <a:buNone/>
            </a:pPr>
            <a:r>
              <a:rPr lang="en-US" sz="2400" dirty="0">
                <a:solidFill>
                  <a:schemeClr val="tx1"/>
                </a:solidFill>
              </a:rPr>
              <a:t>In today’s data-driven economy, businesses are inundated with information from thousands of sources, including CRMs, web apps, IoT devices, social media, internal systems, and third-party APIs. To make sense of this information and drive smarter decisions, organizations must understand how data is categorized and handled.</a:t>
            </a:r>
          </a:p>
          <a:p>
            <a:pPr marL="0" indent="0">
              <a:buNone/>
            </a:pPr>
            <a:r>
              <a:rPr lang="en-US" sz="2400" dirty="0">
                <a:solidFill>
                  <a:schemeClr val="tx1"/>
                </a:solidFill>
              </a:rPr>
              <a:t>Broadly, data falls into three categories:</a:t>
            </a:r>
          </a:p>
          <a:p>
            <a:pPr>
              <a:buClr>
                <a:schemeClr val="tx1"/>
              </a:buClr>
              <a:buFont typeface="Wingdings" panose="05000000000000000000" pitchFamily="2" charset="2"/>
              <a:buChar char="§"/>
            </a:pPr>
            <a:r>
              <a:rPr lang="en-US" sz="2400" dirty="0">
                <a:solidFill>
                  <a:schemeClr val="tx1"/>
                </a:solidFill>
              </a:rPr>
              <a:t>Structured data</a:t>
            </a:r>
          </a:p>
          <a:p>
            <a:pPr>
              <a:buClr>
                <a:schemeClr val="tx1"/>
              </a:buClr>
              <a:buFont typeface="Wingdings" panose="05000000000000000000" pitchFamily="2" charset="2"/>
              <a:buChar char="§"/>
            </a:pPr>
            <a:r>
              <a:rPr lang="en-US" sz="2400" dirty="0">
                <a:solidFill>
                  <a:schemeClr val="tx1"/>
                </a:solidFill>
              </a:rPr>
              <a:t>Unstructured data</a:t>
            </a:r>
          </a:p>
          <a:p>
            <a:pPr>
              <a:buClr>
                <a:schemeClr val="tx1"/>
              </a:buClr>
              <a:buFont typeface="Wingdings" panose="05000000000000000000" pitchFamily="2" charset="2"/>
              <a:buChar char="§"/>
            </a:pPr>
            <a:r>
              <a:rPr lang="en-US" sz="2400" dirty="0">
                <a:solidFill>
                  <a:schemeClr val="tx1"/>
                </a:solidFill>
              </a:rPr>
              <a:t>Semi-structured data</a:t>
            </a:r>
          </a:p>
          <a:p>
            <a:endParaRPr lang="en-IN" dirty="0"/>
          </a:p>
        </p:txBody>
      </p:sp>
    </p:spTree>
    <p:extLst>
      <p:ext uri="{BB962C8B-B14F-4D97-AF65-F5344CB8AC3E}">
        <p14:creationId xmlns:p14="http://schemas.microsoft.com/office/powerpoint/2010/main" val="1769169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9AD5-545B-9CC8-445B-21CE23D4DA43}"/>
              </a:ext>
            </a:extLst>
          </p:cNvPr>
          <p:cNvSpPr>
            <a:spLocks noGrp="1"/>
          </p:cNvSpPr>
          <p:nvPr>
            <p:ph type="title"/>
          </p:nvPr>
        </p:nvSpPr>
        <p:spPr>
          <a:xfrm>
            <a:off x="677334" y="609600"/>
            <a:ext cx="8596668" cy="668594"/>
          </a:xfrm>
        </p:spPr>
        <p:txBody>
          <a:bodyPr/>
          <a:lstStyle/>
          <a:p>
            <a:r>
              <a:rPr lang="en-IN" b="1" dirty="0">
                <a:solidFill>
                  <a:schemeClr val="tx1"/>
                </a:solidFill>
              </a:rPr>
              <a:t>Structured Data</a:t>
            </a:r>
          </a:p>
        </p:txBody>
      </p:sp>
      <p:sp>
        <p:nvSpPr>
          <p:cNvPr id="3" name="Content Placeholder 2">
            <a:extLst>
              <a:ext uri="{FF2B5EF4-FFF2-40B4-BE49-F238E27FC236}">
                <a16:creationId xmlns:a16="http://schemas.microsoft.com/office/drawing/2014/main" id="{7E08FB11-B5C9-A2BA-7A9B-CEAB23DE5658}"/>
              </a:ext>
            </a:extLst>
          </p:cNvPr>
          <p:cNvSpPr>
            <a:spLocks noGrp="1"/>
          </p:cNvSpPr>
          <p:nvPr>
            <p:ph idx="1"/>
          </p:nvPr>
        </p:nvSpPr>
        <p:spPr>
          <a:xfrm>
            <a:off x="677333" y="1278195"/>
            <a:ext cx="10344627" cy="4763168"/>
          </a:xfrm>
        </p:spPr>
        <p:txBody>
          <a:bodyPr/>
          <a:lstStyle/>
          <a:p>
            <a:pPr marL="0" indent="0">
              <a:buNone/>
            </a:pPr>
            <a:r>
              <a:rPr lang="en-US" sz="2000" dirty="0">
                <a:solidFill>
                  <a:schemeClr val="tx1"/>
                </a:solidFill>
              </a:rPr>
              <a:t>Data that is </a:t>
            </a:r>
            <a:r>
              <a:rPr lang="en-US" sz="2000" b="1" dirty="0">
                <a:solidFill>
                  <a:schemeClr val="tx1"/>
                </a:solidFill>
              </a:rPr>
              <a:t>highly organized</a:t>
            </a:r>
            <a:r>
              <a:rPr lang="en-US" sz="2000" dirty="0">
                <a:solidFill>
                  <a:schemeClr val="tx1"/>
                </a:solidFill>
              </a:rPr>
              <a:t> and stored in a </a:t>
            </a:r>
            <a:r>
              <a:rPr lang="en-US" sz="2000" b="1" dirty="0">
                <a:solidFill>
                  <a:schemeClr val="tx1"/>
                </a:solidFill>
              </a:rPr>
              <a:t>fixed, tabular format</a:t>
            </a:r>
            <a:r>
              <a:rPr lang="en-US" sz="2000" dirty="0">
                <a:solidFill>
                  <a:schemeClr val="tx1"/>
                </a:solidFill>
              </a:rPr>
              <a:t> (rows &amp; columns) so that it can be easily entered, stored, queried, and analyzed.</a:t>
            </a:r>
          </a:p>
          <a:p>
            <a:pPr marL="0" indent="0">
              <a:buNone/>
            </a:pPr>
            <a:r>
              <a:rPr lang="en-US" sz="2000" b="1" dirty="0">
                <a:solidFill>
                  <a:schemeClr val="tx1"/>
                </a:solidFill>
              </a:rPr>
              <a:t>Characteristics:</a:t>
            </a:r>
          </a:p>
          <a:p>
            <a:pPr>
              <a:buClr>
                <a:schemeClr val="tx1"/>
              </a:buClr>
              <a:buFont typeface="Wingdings" panose="05000000000000000000" pitchFamily="2" charset="2"/>
              <a:buChar char="§"/>
            </a:pPr>
            <a:r>
              <a:rPr lang="en-US" sz="2000" dirty="0">
                <a:solidFill>
                  <a:schemeClr val="tx1"/>
                </a:solidFill>
              </a:rPr>
              <a:t>Follows a </a:t>
            </a:r>
            <a:r>
              <a:rPr lang="en-US" sz="2000" b="1" dirty="0">
                <a:solidFill>
                  <a:schemeClr val="tx1"/>
                </a:solidFill>
              </a:rPr>
              <a:t>predefined schema</a:t>
            </a:r>
            <a:r>
              <a:rPr lang="en-US" sz="2000" dirty="0">
                <a:solidFill>
                  <a:schemeClr val="tx1"/>
                </a:solidFill>
              </a:rPr>
              <a:t> (fixed columns like Name, Age, Salary).</a:t>
            </a:r>
          </a:p>
          <a:p>
            <a:pPr>
              <a:buClr>
                <a:schemeClr val="tx1"/>
              </a:buClr>
              <a:buFont typeface="Wingdings" panose="05000000000000000000" pitchFamily="2" charset="2"/>
              <a:buChar char="§"/>
            </a:pPr>
            <a:r>
              <a:rPr lang="en-US" sz="2000" dirty="0">
                <a:solidFill>
                  <a:schemeClr val="tx1"/>
                </a:solidFill>
              </a:rPr>
              <a:t>Easy to </a:t>
            </a:r>
            <a:r>
              <a:rPr lang="en-US" sz="2000" b="1" dirty="0">
                <a:solidFill>
                  <a:schemeClr val="tx1"/>
                </a:solidFill>
              </a:rPr>
              <a:t>search, filter, and analyze</a:t>
            </a:r>
            <a:r>
              <a:rPr lang="en-US" sz="2000" dirty="0">
                <a:solidFill>
                  <a:schemeClr val="tx1"/>
                </a:solidFill>
              </a:rPr>
              <a:t> using SQL.</a:t>
            </a:r>
          </a:p>
          <a:p>
            <a:pPr>
              <a:buClr>
                <a:schemeClr val="tx1"/>
              </a:buClr>
              <a:buFont typeface="Wingdings" panose="05000000000000000000" pitchFamily="2" charset="2"/>
              <a:buChar char="§"/>
            </a:pPr>
            <a:r>
              <a:rPr lang="en-US" sz="2000" dirty="0">
                <a:solidFill>
                  <a:schemeClr val="tx1"/>
                </a:solidFill>
              </a:rPr>
              <a:t>Stored in </a:t>
            </a:r>
            <a:r>
              <a:rPr lang="en-US" sz="2000" b="1" dirty="0">
                <a:solidFill>
                  <a:schemeClr val="tx1"/>
                </a:solidFill>
              </a:rPr>
              <a:t>relational databases</a:t>
            </a:r>
            <a:r>
              <a:rPr lang="en-US" sz="2000" dirty="0">
                <a:solidFill>
                  <a:schemeClr val="tx1"/>
                </a:solidFill>
              </a:rPr>
              <a:t> (RDBMS).</a:t>
            </a:r>
          </a:p>
          <a:p>
            <a:pPr marL="0" indent="0">
              <a:buNone/>
            </a:pPr>
            <a:r>
              <a:rPr lang="en-US" sz="2000" b="1" dirty="0">
                <a:solidFill>
                  <a:schemeClr val="tx1"/>
                </a:solidFill>
              </a:rPr>
              <a:t>Examples:</a:t>
            </a:r>
          </a:p>
          <a:p>
            <a:pPr>
              <a:buClr>
                <a:schemeClr val="tx1"/>
              </a:buClr>
              <a:buFont typeface="Wingdings" panose="05000000000000000000" pitchFamily="2" charset="2"/>
              <a:buChar char="§"/>
            </a:pPr>
            <a:r>
              <a:rPr lang="en-US" sz="2000" dirty="0">
                <a:solidFill>
                  <a:schemeClr val="tx1"/>
                </a:solidFill>
              </a:rPr>
              <a:t>Excel sheets</a:t>
            </a:r>
          </a:p>
          <a:p>
            <a:pPr>
              <a:buClr>
                <a:schemeClr val="tx1"/>
              </a:buClr>
              <a:buFont typeface="Wingdings" panose="05000000000000000000" pitchFamily="2" charset="2"/>
              <a:buChar char="§"/>
            </a:pPr>
            <a:r>
              <a:rPr lang="en-US" sz="2000" dirty="0">
                <a:solidFill>
                  <a:schemeClr val="tx1"/>
                </a:solidFill>
              </a:rPr>
              <a:t>SQL database tables (e.g., Students table, Sales table)</a:t>
            </a:r>
          </a:p>
          <a:p>
            <a:pPr>
              <a:buClr>
                <a:schemeClr val="tx1"/>
              </a:buClr>
              <a:buFont typeface="Wingdings" panose="05000000000000000000" pitchFamily="2" charset="2"/>
              <a:buChar char="§"/>
            </a:pPr>
            <a:r>
              <a:rPr lang="en-US" sz="2000" dirty="0">
                <a:solidFill>
                  <a:schemeClr val="tx1"/>
                </a:solidFill>
              </a:rPr>
              <a:t>Bank transaction records</a:t>
            </a:r>
          </a:p>
          <a:p>
            <a:pPr>
              <a:buClr>
                <a:schemeClr val="tx1"/>
              </a:buClr>
              <a:buFont typeface="Wingdings" panose="05000000000000000000" pitchFamily="2" charset="2"/>
              <a:buChar char="§"/>
            </a:pPr>
            <a:r>
              <a:rPr lang="en-US" sz="2000" dirty="0">
                <a:solidFill>
                  <a:schemeClr val="tx1"/>
                </a:solidFill>
              </a:rPr>
              <a:t>Employee records (Emp ID, Name, Dept, Salary)</a:t>
            </a:r>
          </a:p>
          <a:p>
            <a:endParaRPr lang="en-IN" dirty="0"/>
          </a:p>
        </p:txBody>
      </p:sp>
    </p:spTree>
    <p:extLst>
      <p:ext uri="{BB962C8B-B14F-4D97-AF65-F5344CB8AC3E}">
        <p14:creationId xmlns:p14="http://schemas.microsoft.com/office/powerpoint/2010/main" val="15099183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B34F-4415-AC38-8F2F-AB00B81AF20A}"/>
              </a:ext>
            </a:extLst>
          </p:cNvPr>
          <p:cNvSpPr>
            <a:spLocks noGrp="1"/>
          </p:cNvSpPr>
          <p:nvPr>
            <p:ph type="title"/>
          </p:nvPr>
        </p:nvSpPr>
        <p:spPr>
          <a:xfrm>
            <a:off x="677334" y="609600"/>
            <a:ext cx="8596668" cy="747252"/>
          </a:xfrm>
        </p:spPr>
        <p:txBody>
          <a:bodyPr/>
          <a:lstStyle/>
          <a:p>
            <a:r>
              <a:rPr lang="en-IN" b="1" dirty="0">
                <a:solidFill>
                  <a:schemeClr val="tx1"/>
                </a:solidFill>
              </a:rPr>
              <a:t>Semi-structured Data</a:t>
            </a:r>
          </a:p>
        </p:txBody>
      </p:sp>
      <p:sp>
        <p:nvSpPr>
          <p:cNvPr id="3" name="Content Placeholder 2">
            <a:extLst>
              <a:ext uri="{FF2B5EF4-FFF2-40B4-BE49-F238E27FC236}">
                <a16:creationId xmlns:a16="http://schemas.microsoft.com/office/drawing/2014/main" id="{E68A82FC-8DF6-4F28-78E8-3D999B24C911}"/>
              </a:ext>
            </a:extLst>
          </p:cNvPr>
          <p:cNvSpPr>
            <a:spLocks noGrp="1"/>
          </p:cNvSpPr>
          <p:nvPr>
            <p:ph idx="1"/>
          </p:nvPr>
        </p:nvSpPr>
        <p:spPr>
          <a:xfrm>
            <a:off x="677333" y="1356853"/>
            <a:ext cx="9961169" cy="5083276"/>
          </a:xfrm>
        </p:spPr>
        <p:txBody>
          <a:bodyPr>
            <a:normAutofit fontScale="92500" lnSpcReduction="10000"/>
          </a:bodyPr>
          <a:lstStyle/>
          <a:p>
            <a:pPr marL="0" indent="0">
              <a:buNone/>
            </a:pPr>
            <a:r>
              <a:rPr lang="en-US" sz="2200" dirty="0">
                <a:solidFill>
                  <a:schemeClr val="tx1"/>
                </a:solidFill>
              </a:rPr>
              <a:t>Data that </a:t>
            </a:r>
            <a:r>
              <a:rPr lang="en-US" sz="2200" b="1" dirty="0">
                <a:solidFill>
                  <a:schemeClr val="tx1"/>
                </a:solidFill>
              </a:rPr>
              <a:t>does not follow a strict tabular format</a:t>
            </a:r>
            <a:r>
              <a:rPr lang="en-US" sz="2200" dirty="0">
                <a:solidFill>
                  <a:schemeClr val="tx1"/>
                </a:solidFill>
              </a:rPr>
              <a:t>, but still has </a:t>
            </a:r>
            <a:r>
              <a:rPr lang="en-US" sz="2200" b="1" dirty="0">
                <a:solidFill>
                  <a:schemeClr val="tx1"/>
                </a:solidFill>
              </a:rPr>
              <a:t>some organizational structure</a:t>
            </a:r>
            <a:r>
              <a:rPr lang="en-US" sz="2200" dirty="0">
                <a:solidFill>
                  <a:schemeClr val="tx1"/>
                </a:solidFill>
              </a:rPr>
              <a:t> using tags or markers.</a:t>
            </a:r>
          </a:p>
          <a:p>
            <a:pPr marL="0" indent="0">
              <a:buNone/>
            </a:pPr>
            <a:r>
              <a:rPr lang="en-US" sz="2200" b="1" dirty="0">
                <a:solidFill>
                  <a:schemeClr val="tx1"/>
                </a:solidFill>
              </a:rPr>
              <a:t>Characteristics:</a:t>
            </a:r>
          </a:p>
          <a:p>
            <a:pPr>
              <a:buClr>
                <a:schemeClr val="tx1"/>
              </a:buClr>
              <a:buFont typeface="Wingdings" panose="05000000000000000000" pitchFamily="2" charset="2"/>
              <a:buChar char="§"/>
            </a:pPr>
            <a:r>
              <a:rPr lang="en-US" sz="2200" dirty="0">
                <a:solidFill>
                  <a:schemeClr val="tx1"/>
                </a:solidFill>
              </a:rPr>
              <a:t>No fixed row-column format.</a:t>
            </a:r>
          </a:p>
          <a:p>
            <a:pPr>
              <a:buClr>
                <a:schemeClr val="tx1"/>
              </a:buClr>
              <a:buFont typeface="Wingdings" panose="05000000000000000000" pitchFamily="2" charset="2"/>
              <a:buChar char="§"/>
            </a:pPr>
            <a:r>
              <a:rPr lang="en-US" sz="2200" dirty="0">
                <a:solidFill>
                  <a:schemeClr val="tx1"/>
                </a:solidFill>
              </a:rPr>
              <a:t>Has </a:t>
            </a:r>
            <a:r>
              <a:rPr lang="en-US" sz="2200" b="1" dirty="0">
                <a:solidFill>
                  <a:schemeClr val="tx1"/>
                </a:solidFill>
              </a:rPr>
              <a:t>tags, key–value pairs or hierarchical structure</a:t>
            </a:r>
            <a:r>
              <a:rPr lang="en-US" sz="2200" dirty="0">
                <a:solidFill>
                  <a:schemeClr val="tx1"/>
                </a:solidFill>
              </a:rPr>
              <a:t>.</a:t>
            </a:r>
          </a:p>
          <a:p>
            <a:pPr>
              <a:buClr>
                <a:schemeClr val="tx1"/>
              </a:buClr>
              <a:buFont typeface="Wingdings" panose="05000000000000000000" pitchFamily="2" charset="2"/>
              <a:buChar char="§"/>
            </a:pPr>
            <a:r>
              <a:rPr lang="en-US" sz="2200" dirty="0">
                <a:solidFill>
                  <a:schemeClr val="tx1"/>
                </a:solidFill>
              </a:rPr>
              <a:t>Easier to organize than unstructured data, but harder than structured data.</a:t>
            </a:r>
          </a:p>
          <a:p>
            <a:pPr>
              <a:buClr>
                <a:schemeClr val="tx1"/>
              </a:buClr>
              <a:buFont typeface="Wingdings" panose="05000000000000000000" pitchFamily="2" charset="2"/>
              <a:buChar char="§"/>
            </a:pPr>
            <a:r>
              <a:rPr lang="en-US" sz="2200" dirty="0">
                <a:solidFill>
                  <a:schemeClr val="tx1"/>
                </a:solidFill>
              </a:rPr>
              <a:t>Often used in </a:t>
            </a:r>
            <a:r>
              <a:rPr lang="en-US" sz="2200" b="1" dirty="0">
                <a:solidFill>
                  <a:schemeClr val="tx1"/>
                </a:solidFill>
              </a:rPr>
              <a:t>web and big data applications</a:t>
            </a:r>
            <a:r>
              <a:rPr lang="en-US" sz="2200" dirty="0">
                <a:solidFill>
                  <a:schemeClr val="tx1"/>
                </a:solidFill>
              </a:rPr>
              <a:t>.</a:t>
            </a:r>
          </a:p>
          <a:p>
            <a:pPr marL="0" indent="0">
              <a:buNone/>
            </a:pPr>
            <a:r>
              <a:rPr lang="en-US" sz="2200" b="1" dirty="0">
                <a:solidFill>
                  <a:schemeClr val="tx1"/>
                </a:solidFill>
              </a:rPr>
              <a:t>Examples:</a:t>
            </a:r>
          </a:p>
          <a:p>
            <a:pPr>
              <a:buClr>
                <a:schemeClr val="tx1"/>
              </a:buClr>
              <a:buFont typeface="Wingdings" panose="05000000000000000000" pitchFamily="2" charset="2"/>
              <a:buChar char="§"/>
            </a:pPr>
            <a:r>
              <a:rPr lang="en-US" sz="2200" dirty="0">
                <a:solidFill>
                  <a:schemeClr val="tx1"/>
                </a:solidFill>
              </a:rPr>
              <a:t>JSON files</a:t>
            </a:r>
          </a:p>
          <a:p>
            <a:pPr>
              <a:buClr>
                <a:schemeClr val="tx1"/>
              </a:buClr>
              <a:buFont typeface="Wingdings" panose="05000000000000000000" pitchFamily="2" charset="2"/>
              <a:buChar char="§"/>
            </a:pPr>
            <a:r>
              <a:rPr lang="en-US" sz="2200" dirty="0">
                <a:solidFill>
                  <a:schemeClr val="tx1"/>
                </a:solidFill>
              </a:rPr>
              <a:t>XML files</a:t>
            </a:r>
          </a:p>
          <a:p>
            <a:pPr>
              <a:buClr>
                <a:schemeClr val="tx1"/>
              </a:buClr>
              <a:buFont typeface="Wingdings" panose="05000000000000000000" pitchFamily="2" charset="2"/>
              <a:buChar char="§"/>
            </a:pPr>
            <a:r>
              <a:rPr lang="en-US" sz="2200" dirty="0">
                <a:solidFill>
                  <a:schemeClr val="tx1"/>
                </a:solidFill>
              </a:rPr>
              <a:t>HTML pages</a:t>
            </a:r>
          </a:p>
          <a:p>
            <a:pPr>
              <a:buClr>
                <a:schemeClr val="tx1"/>
              </a:buClr>
              <a:buFont typeface="Wingdings" panose="05000000000000000000" pitchFamily="2" charset="2"/>
              <a:buChar char="§"/>
            </a:pPr>
            <a:r>
              <a:rPr lang="en-US" sz="2200" dirty="0">
                <a:solidFill>
                  <a:schemeClr val="tx1"/>
                </a:solidFill>
              </a:rPr>
              <a:t>Emails (subject, from, to, body – some structure + free text)</a:t>
            </a:r>
          </a:p>
          <a:p>
            <a:pPr>
              <a:buClr>
                <a:schemeClr val="tx1"/>
              </a:buClr>
              <a:buFont typeface="Wingdings" panose="05000000000000000000" pitchFamily="2" charset="2"/>
              <a:buChar char="§"/>
            </a:pPr>
            <a:r>
              <a:rPr lang="en-US" sz="2200" dirty="0">
                <a:solidFill>
                  <a:schemeClr val="tx1"/>
                </a:solidFill>
              </a:rPr>
              <a:t>NoSQL databases (like MongoDB documents)</a:t>
            </a:r>
          </a:p>
          <a:p>
            <a:endParaRPr lang="en-IN" dirty="0"/>
          </a:p>
        </p:txBody>
      </p:sp>
    </p:spTree>
    <p:extLst>
      <p:ext uri="{BB962C8B-B14F-4D97-AF65-F5344CB8AC3E}">
        <p14:creationId xmlns:p14="http://schemas.microsoft.com/office/powerpoint/2010/main" val="2340984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D09A-5094-215A-42E6-5EA52FBC7ED6}"/>
              </a:ext>
            </a:extLst>
          </p:cNvPr>
          <p:cNvSpPr>
            <a:spLocks noGrp="1"/>
          </p:cNvSpPr>
          <p:nvPr>
            <p:ph type="title"/>
          </p:nvPr>
        </p:nvSpPr>
        <p:spPr>
          <a:xfrm>
            <a:off x="677334" y="609600"/>
            <a:ext cx="8596668" cy="668594"/>
          </a:xfrm>
        </p:spPr>
        <p:txBody>
          <a:bodyPr/>
          <a:lstStyle/>
          <a:p>
            <a:r>
              <a:rPr lang="en-IN" b="1" dirty="0">
                <a:solidFill>
                  <a:schemeClr val="tx1"/>
                </a:solidFill>
              </a:rPr>
              <a:t>Unstructured Data</a:t>
            </a:r>
          </a:p>
        </p:txBody>
      </p:sp>
      <p:sp>
        <p:nvSpPr>
          <p:cNvPr id="3" name="Content Placeholder 2">
            <a:extLst>
              <a:ext uri="{FF2B5EF4-FFF2-40B4-BE49-F238E27FC236}">
                <a16:creationId xmlns:a16="http://schemas.microsoft.com/office/drawing/2014/main" id="{C21FC707-7E44-82D7-0023-0205A884DD04}"/>
              </a:ext>
            </a:extLst>
          </p:cNvPr>
          <p:cNvSpPr>
            <a:spLocks noGrp="1"/>
          </p:cNvSpPr>
          <p:nvPr>
            <p:ph idx="1"/>
          </p:nvPr>
        </p:nvSpPr>
        <p:spPr>
          <a:xfrm>
            <a:off x="677333" y="1278194"/>
            <a:ext cx="10639595" cy="5132437"/>
          </a:xfrm>
        </p:spPr>
        <p:txBody>
          <a:bodyPr>
            <a:normAutofit lnSpcReduction="10000"/>
          </a:bodyPr>
          <a:lstStyle/>
          <a:p>
            <a:pPr marL="0" indent="0">
              <a:buNone/>
            </a:pPr>
            <a:r>
              <a:rPr lang="en-US" sz="2000" dirty="0">
                <a:solidFill>
                  <a:schemeClr val="tx1"/>
                </a:solidFill>
              </a:rPr>
              <a:t>Data that </a:t>
            </a:r>
            <a:r>
              <a:rPr lang="en-US" sz="2000" b="1" dirty="0">
                <a:solidFill>
                  <a:schemeClr val="tx1"/>
                </a:solidFill>
              </a:rPr>
              <a:t>has no predefined structure or schema</a:t>
            </a:r>
            <a:r>
              <a:rPr lang="en-US" sz="2000" dirty="0">
                <a:solidFill>
                  <a:schemeClr val="tx1"/>
                </a:solidFill>
              </a:rPr>
              <a:t>, and does not fit into rows and columns.</a:t>
            </a:r>
          </a:p>
          <a:p>
            <a:pPr marL="0" indent="0">
              <a:buNone/>
            </a:pPr>
            <a:r>
              <a:rPr lang="en-US" sz="2000" b="1" dirty="0">
                <a:solidFill>
                  <a:schemeClr val="tx1"/>
                </a:solidFill>
              </a:rPr>
              <a:t>Characteristics</a:t>
            </a:r>
          </a:p>
          <a:p>
            <a:pPr>
              <a:buClr>
                <a:schemeClr val="tx1"/>
              </a:buClr>
              <a:buFont typeface="Wingdings" panose="05000000000000000000" pitchFamily="2" charset="2"/>
              <a:buChar char="§"/>
            </a:pPr>
            <a:r>
              <a:rPr lang="en-US" sz="2000" dirty="0">
                <a:solidFill>
                  <a:schemeClr val="tx1"/>
                </a:solidFill>
              </a:rPr>
              <a:t>Mostly </a:t>
            </a:r>
            <a:r>
              <a:rPr lang="en-US" sz="2000" b="1" dirty="0">
                <a:solidFill>
                  <a:schemeClr val="tx1"/>
                </a:solidFill>
              </a:rPr>
              <a:t>free-form</a:t>
            </a:r>
            <a:r>
              <a:rPr lang="en-US" sz="2000" dirty="0">
                <a:solidFill>
                  <a:schemeClr val="tx1"/>
                </a:solidFill>
              </a:rPr>
              <a:t> content.</a:t>
            </a:r>
          </a:p>
          <a:p>
            <a:pPr>
              <a:buClr>
                <a:schemeClr val="tx1"/>
              </a:buClr>
              <a:buFont typeface="Wingdings" panose="05000000000000000000" pitchFamily="2" charset="2"/>
              <a:buChar char="§"/>
            </a:pPr>
            <a:r>
              <a:rPr lang="en-US" sz="2000" dirty="0">
                <a:solidFill>
                  <a:schemeClr val="tx1"/>
                </a:solidFill>
              </a:rPr>
              <a:t>Difficult to store in traditional databases.</a:t>
            </a:r>
          </a:p>
          <a:p>
            <a:pPr>
              <a:buClr>
                <a:schemeClr val="tx1"/>
              </a:buClr>
              <a:buFont typeface="Wingdings" panose="05000000000000000000" pitchFamily="2" charset="2"/>
              <a:buChar char="§"/>
            </a:pPr>
            <a:r>
              <a:rPr lang="en-US" sz="2000" dirty="0">
                <a:solidFill>
                  <a:schemeClr val="tx1"/>
                </a:solidFill>
              </a:rPr>
              <a:t>Requires techniques like </a:t>
            </a:r>
            <a:r>
              <a:rPr lang="en-US" sz="2000" b="1" dirty="0">
                <a:solidFill>
                  <a:schemeClr val="tx1"/>
                </a:solidFill>
              </a:rPr>
              <a:t>text mining, NLP, image processing</a:t>
            </a:r>
            <a:r>
              <a:rPr lang="en-US" sz="2000" dirty="0">
                <a:solidFill>
                  <a:schemeClr val="tx1"/>
                </a:solidFill>
              </a:rPr>
              <a:t> for analysis.</a:t>
            </a:r>
          </a:p>
          <a:p>
            <a:pPr>
              <a:buClr>
                <a:schemeClr val="tx1"/>
              </a:buClr>
              <a:buFont typeface="Wingdings" panose="05000000000000000000" pitchFamily="2" charset="2"/>
              <a:buChar char="§"/>
            </a:pPr>
            <a:r>
              <a:rPr lang="en-US" sz="2000" dirty="0">
                <a:solidFill>
                  <a:schemeClr val="tx1"/>
                </a:solidFill>
              </a:rPr>
              <a:t>Makes up a large portion of real-world data.</a:t>
            </a:r>
          </a:p>
          <a:p>
            <a:pPr marL="0" indent="0">
              <a:buNone/>
            </a:pPr>
            <a:r>
              <a:rPr lang="en-US" sz="2000" b="1" dirty="0">
                <a:solidFill>
                  <a:schemeClr val="tx1"/>
                </a:solidFill>
              </a:rPr>
              <a:t>Examples</a:t>
            </a:r>
          </a:p>
          <a:p>
            <a:pPr>
              <a:buClr>
                <a:schemeClr val="tx1"/>
              </a:buClr>
              <a:buFont typeface="Wingdings" panose="05000000000000000000" pitchFamily="2" charset="2"/>
              <a:buChar char="§"/>
            </a:pPr>
            <a:r>
              <a:rPr lang="en-US" sz="2000" dirty="0">
                <a:solidFill>
                  <a:schemeClr val="tx1"/>
                </a:solidFill>
              </a:rPr>
              <a:t>Text documents (Word, PDFs)</a:t>
            </a:r>
          </a:p>
          <a:p>
            <a:pPr>
              <a:buClr>
                <a:schemeClr val="tx1"/>
              </a:buClr>
              <a:buFont typeface="Wingdings" panose="05000000000000000000" pitchFamily="2" charset="2"/>
              <a:buChar char="§"/>
            </a:pPr>
            <a:r>
              <a:rPr lang="en-US" sz="2000" dirty="0">
                <a:solidFill>
                  <a:schemeClr val="tx1"/>
                </a:solidFill>
              </a:rPr>
              <a:t>Images, photos</a:t>
            </a:r>
          </a:p>
          <a:p>
            <a:pPr>
              <a:buClr>
                <a:schemeClr val="tx1"/>
              </a:buClr>
              <a:buFont typeface="Wingdings" panose="05000000000000000000" pitchFamily="2" charset="2"/>
              <a:buChar char="§"/>
            </a:pPr>
            <a:r>
              <a:rPr lang="en-US" sz="2000" dirty="0">
                <a:solidFill>
                  <a:schemeClr val="tx1"/>
                </a:solidFill>
              </a:rPr>
              <a:t>Audio files, videos</a:t>
            </a:r>
          </a:p>
          <a:p>
            <a:pPr>
              <a:buClr>
                <a:schemeClr val="tx1"/>
              </a:buClr>
              <a:buFont typeface="Wingdings" panose="05000000000000000000" pitchFamily="2" charset="2"/>
              <a:buChar char="§"/>
            </a:pPr>
            <a:r>
              <a:rPr lang="en-US" sz="2000" dirty="0">
                <a:solidFill>
                  <a:schemeClr val="tx1"/>
                </a:solidFill>
              </a:rPr>
              <a:t>Social media posts, comments, chats</a:t>
            </a:r>
          </a:p>
          <a:p>
            <a:pPr>
              <a:buClr>
                <a:schemeClr val="tx1"/>
              </a:buClr>
              <a:buFont typeface="Wingdings" panose="05000000000000000000" pitchFamily="2" charset="2"/>
              <a:buChar char="§"/>
            </a:pPr>
            <a:r>
              <a:rPr lang="en-US" sz="2000" dirty="0">
                <a:solidFill>
                  <a:schemeClr val="tx1"/>
                </a:solidFill>
              </a:rPr>
              <a:t>Scanned documents</a:t>
            </a:r>
          </a:p>
          <a:p>
            <a:endParaRPr lang="en-IN" dirty="0"/>
          </a:p>
        </p:txBody>
      </p:sp>
    </p:spTree>
    <p:extLst>
      <p:ext uri="{BB962C8B-B14F-4D97-AF65-F5344CB8AC3E}">
        <p14:creationId xmlns:p14="http://schemas.microsoft.com/office/powerpoint/2010/main" val="797114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D450-5ADB-064B-E284-093F058F2523}"/>
              </a:ext>
            </a:extLst>
          </p:cNvPr>
          <p:cNvSpPr>
            <a:spLocks noGrp="1"/>
          </p:cNvSpPr>
          <p:nvPr>
            <p:ph type="title"/>
          </p:nvPr>
        </p:nvSpPr>
        <p:spPr>
          <a:xfrm>
            <a:off x="677334" y="609600"/>
            <a:ext cx="8596668" cy="963561"/>
          </a:xfrm>
        </p:spPr>
        <p:txBody>
          <a:bodyPr>
            <a:normAutofit fontScale="90000"/>
          </a:bodyPr>
          <a:lstStyle/>
          <a:p>
            <a:r>
              <a:rPr lang="en-IN" sz="3100" b="1" dirty="0">
                <a:solidFill>
                  <a:schemeClr val="tx1"/>
                </a:solidFill>
              </a:rPr>
              <a:t>Common Data Sources (</a:t>
            </a:r>
            <a:r>
              <a:rPr lang="en-US" sz="3100" b="1" dirty="0">
                <a:solidFill>
                  <a:schemeClr val="tx1"/>
                </a:solidFill>
              </a:rPr>
              <a:t>internal data, third-party analytics, external data and open data</a:t>
            </a:r>
            <a:r>
              <a:rPr lang="en-IN" sz="3100" b="1" dirty="0">
                <a:solidFill>
                  <a:schemeClr val="tx1"/>
                </a:solidFill>
              </a:rPr>
              <a:t>)</a:t>
            </a:r>
            <a:br>
              <a:rPr lang="en-IN" b="1" dirty="0"/>
            </a:br>
            <a:endParaRPr lang="en-IN" dirty="0"/>
          </a:p>
        </p:txBody>
      </p:sp>
      <p:sp>
        <p:nvSpPr>
          <p:cNvPr id="3" name="Content Placeholder 2">
            <a:extLst>
              <a:ext uri="{FF2B5EF4-FFF2-40B4-BE49-F238E27FC236}">
                <a16:creationId xmlns:a16="http://schemas.microsoft.com/office/drawing/2014/main" id="{F59F50A3-C163-42EF-3031-440F5768EC23}"/>
              </a:ext>
            </a:extLst>
          </p:cNvPr>
          <p:cNvSpPr>
            <a:spLocks noGrp="1"/>
          </p:cNvSpPr>
          <p:nvPr>
            <p:ph idx="1"/>
          </p:nvPr>
        </p:nvSpPr>
        <p:spPr>
          <a:xfrm>
            <a:off x="677334" y="1573161"/>
            <a:ext cx="10285634" cy="4847304"/>
          </a:xfrm>
        </p:spPr>
        <p:txBody>
          <a:bodyPr>
            <a:normAutofit fontScale="92500" lnSpcReduction="10000"/>
          </a:bodyPr>
          <a:lstStyle/>
          <a:p>
            <a:pPr marL="0" indent="0">
              <a:buNone/>
            </a:pPr>
            <a:r>
              <a:rPr lang="en-US" dirty="0">
                <a:solidFill>
                  <a:schemeClr val="tx1"/>
                </a:solidFill>
              </a:rPr>
              <a:t>Organizations use different </a:t>
            </a:r>
            <a:r>
              <a:rPr lang="en-US" b="1" dirty="0">
                <a:solidFill>
                  <a:schemeClr val="tx1"/>
                </a:solidFill>
              </a:rPr>
              <a:t>data sources</a:t>
            </a:r>
            <a:r>
              <a:rPr lang="en-US" dirty="0">
                <a:solidFill>
                  <a:schemeClr val="tx1"/>
                </a:solidFill>
              </a:rPr>
              <a:t> for analysis and decision-making. These include </a:t>
            </a:r>
            <a:r>
              <a:rPr lang="en-US" b="1" dirty="0">
                <a:solidFill>
                  <a:schemeClr val="tx1"/>
                </a:solidFill>
              </a:rPr>
              <a:t>internal data, third-party analytics, external data, and open data</a:t>
            </a:r>
            <a:r>
              <a:rPr lang="en-US" dirty="0">
                <a:solidFill>
                  <a:schemeClr val="tx1"/>
                </a:solidFill>
              </a:rPr>
              <a:t>.</a:t>
            </a:r>
          </a:p>
          <a:p>
            <a:pPr marL="0" indent="0">
              <a:buNone/>
            </a:pPr>
            <a:r>
              <a:rPr lang="en-IN" b="1" dirty="0">
                <a:solidFill>
                  <a:schemeClr val="tx1"/>
                </a:solidFill>
              </a:rPr>
              <a:t>Internal Data: </a:t>
            </a:r>
            <a:r>
              <a:rPr lang="en-US" dirty="0">
                <a:solidFill>
                  <a:schemeClr val="tx1"/>
                </a:solidFill>
              </a:rPr>
              <a:t>Internal data is the data </a:t>
            </a:r>
            <a:r>
              <a:rPr lang="en-US" b="1" dirty="0">
                <a:solidFill>
                  <a:schemeClr val="tx1"/>
                </a:solidFill>
              </a:rPr>
              <a:t>generated and stored within an organization</a:t>
            </a:r>
            <a:r>
              <a:rPr lang="en-US" dirty="0">
                <a:solidFill>
                  <a:schemeClr val="tx1"/>
                </a:solidFill>
              </a:rPr>
              <a:t> during its day-to-day operations.</a:t>
            </a:r>
          </a:p>
          <a:p>
            <a:pPr marL="0" indent="0">
              <a:buNone/>
            </a:pPr>
            <a:r>
              <a:rPr lang="en-US" b="1" dirty="0">
                <a:solidFill>
                  <a:schemeClr val="tx1"/>
                </a:solidFill>
              </a:rPr>
              <a:t>Examples:</a:t>
            </a:r>
            <a:endParaRPr lang="en-US" dirty="0">
              <a:solidFill>
                <a:schemeClr val="tx1"/>
              </a:solidFill>
            </a:endParaRPr>
          </a:p>
          <a:p>
            <a:pPr>
              <a:buClr>
                <a:schemeClr val="tx1"/>
              </a:buClr>
              <a:buFont typeface="Wingdings" panose="05000000000000000000" pitchFamily="2" charset="2"/>
              <a:buChar char="§"/>
            </a:pPr>
            <a:r>
              <a:rPr lang="en-US" dirty="0">
                <a:solidFill>
                  <a:schemeClr val="tx1"/>
                </a:solidFill>
              </a:rPr>
              <a:t>Sales records, invoices, billing data</a:t>
            </a:r>
          </a:p>
          <a:p>
            <a:pPr>
              <a:buClr>
                <a:schemeClr val="tx1"/>
              </a:buClr>
              <a:buFont typeface="Wingdings" panose="05000000000000000000" pitchFamily="2" charset="2"/>
              <a:buChar char="§"/>
            </a:pPr>
            <a:r>
              <a:rPr lang="en-US" dirty="0">
                <a:solidFill>
                  <a:schemeClr val="tx1"/>
                </a:solidFill>
              </a:rPr>
              <a:t>Customer details from CRM</a:t>
            </a:r>
          </a:p>
          <a:p>
            <a:pPr>
              <a:buClr>
                <a:schemeClr val="tx1"/>
              </a:buClr>
              <a:buFont typeface="Wingdings" panose="05000000000000000000" pitchFamily="2" charset="2"/>
              <a:buChar char="§"/>
            </a:pPr>
            <a:r>
              <a:rPr lang="en-US" dirty="0">
                <a:solidFill>
                  <a:schemeClr val="tx1"/>
                </a:solidFill>
              </a:rPr>
              <a:t>Employee records, attendance, payroll</a:t>
            </a:r>
          </a:p>
          <a:p>
            <a:pPr>
              <a:buClr>
                <a:schemeClr val="tx1"/>
              </a:buClr>
              <a:buFont typeface="Wingdings" panose="05000000000000000000" pitchFamily="2" charset="2"/>
              <a:buChar char="§"/>
            </a:pPr>
            <a:r>
              <a:rPr lang="en-US" dirty="0">
                <a:solidFill>
                  <a:schemeClr val="tx1"/>
                </a:solidFill>
              </a:rPr>
              <a:t>Inventory and stock levels</a:t>
            </a:r>
          </a:p>
          <a:p>
            <a:pPr>
              <a:buClr>
                <a:schemeClr val="tx1"/>
              </a:buClr>
              <a:buFont typeface="Wingdings" panose="05000000000000000000" pitchFamily="2" charset="2"/>
              <a:buChar char="§"/>
            </a:pPr>
            <a:r>
              <a:rPr lang="en-US" dirty="0">
                <a:solidFill>
                  <a:schemeClr val="tx1"/>
                </a:solidFill>
              </a:rPr>
              <a:t>Production and logistics data</a:t>
            </a:r>
          </a:p>
          <a:p>
            <a:pPr marL="0" indent="0">
              <a:buNone/>
            </a:pPr>
            <a:r>
              <a:rPr lang="en-US" b="1" dirty="0">
                <a:solidFill>
                  <a:schemeClr val="tx1"/>
                </a:solidFill>
              </a:rPr>
              <a:t>Key Points:</a:t>
            </a:r>
            <a:endParaRPr lang="en-US" dirty="0">
              <a:solidFill>
                <a:schemeClr val="tx1"/>
              </a:solidFill>
            </a:endParaRPr>
          </a:p>
          <a:p>
            <a:pPr>
              <a:buClr>
                <a:schemeClr val="tx1"/>
              </a:buClr>
              <a:buFont typeface="Wingdings" panose="05000000000000000000" pitchFamily="2" charset="2"/>
              <a:buChar char="§"/>
            </a:pPr>
            <a:r>
              <a:rPr lang="en-US" dirty="0">
                <a:solidFill>
                  <a:schemeClr val="tx1"/>
                </a:solidFill>
              </a:rPr>
              <a:t>Usually stored in </a:t>
            </a:r>
            <a:r>
              <a:rPr lang="en-US" b="1" dirty="0">
                <a:solidFill>
                  <a:schemeClr val="tx1"/>
                </a:solidFill>
              </a:rPr>
              <a:t>internal databases</a:t>
            </a:r>
            <a:r>
              <a:rPr lang="en-US" dirty="0">
                <a:solidFill>
                  <a:schemeClr val="tx1"/>
                </a:solidFill>
              </a:rPr>
              <a:t>, ERP, CRM, HR systems.</a:t>
            </a:r>
          </a:p>
          <a:p>
            <a:pPr>
              <a:buClr>
                <a:schemeClr val="tx1"/>
              </a:buClr>
              <a:buFont typeface="Wingdings" panose="05000000000000000000" pitchFamily="2" charset="2"/>
              <a:buChar char="§"/>
            </a:pPr>
            <a:r>
              <a:rPr lang="en-US" dirty="0">
                <a:solidFill>
                  <a:schemeClr val="tx1"/>
                </a:solidFill>
              </a:rPr>
              <a:t>Considered </a:t>
            </a:r>
            <a:r>
              <a:rPr lang="en-US" b="1" dirty="0">
                <a:solidFill>
                  <a:schemeClr val="tx1"/>
                </a:solidFill>
              </a:rPr>
              <a:t>reliable and confidential</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Main source for </a:t>
            </a:r>
            <a:r>
              <a:rPr lang="en-US" b="1" dirty="0">
                <a:solidFill>
                  <a:schemeClr val="tx1"/>
                </a:solidFill>
              </a:rPr>
              <a:t>management reports, KPIs, and performance analysis</a:t>
            </a:r>
            <a:r>
              <a:rPr lang="en-US" dirty="0">
                <a:solidFill>
                  <a:schemeClr val="tx1"/>
                </a:solidFill>
              </a:rPr>
              <a:t>.</a:t>
            </a:r>
          </a:p>
          <a:p>
            <a:pPr marL="0" indent="0">
              <a:buNone/>
            </a:pPr>
            <a:endParaRPr lang="en-IN" dirty="0"/>
          </a:p>
        </p:txBody>
      </p:sp>
    </p:spTree>
    <p:extLst>
      <p:ext uri="{BB962C8B-B14F-4D97-AF65-F5344CB8AC3E}">
        <p14:creationId xmlns:p14="http://schemas.microsoft.com/office/powerpoint/2010/main" val="877873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EC74DC-A33A-C31C-4928-45781056B32E}"/>
              </a:ext>
            </a:extLst>
          </p:cNvPr>
          <p:cNvSpPr>
            <a:spLocks noGrp="1"/>
          </p:cNvSpPr>
          <p:nvPr>
            <p:ph idx="1"/>
          </p:nvPr>
        </p:nvSpPr>
        <p:spPr>
          <a:xfrm>
            <a:off x="677333" y="648929"/>
            <a:ext cx="10393789" cy="5653548"/>
          </a:xfrm>
        </p:spPr>
        <p:txBody>
          <a:bodyPr/>
          <a:lstStyle/>
          <a:p>
            <a:pPr marL="0" indent="0">
              <a:lnSpc>
                <a:spcPct val="150000"/>
              </a:lnSpc>
              <a:buNone/>
            </a:pPr>
            <a:r>
              <a:rPr lang="en-IN" sz="2000" b="1" dirty="0">
                <a:solidFill>
                  <a:schemeClr val="tx1"/>
                </a:solidFill>
              </a:rPr>
              <a:t>Third-Party Analytics: </a:t>
            </a:r>
            <a:r>
              <a:rPr lang="en-US" sz="2000" dirty="0">
                <a:solidFill>
                  <a:schemeClr val="tx1"/>
                </a:solidFill>
              </a:rPr>
              <a:t>Third-party analytics refers to </a:t>
            </a:r>
            <a:r>
              <a:rPr lang="en-US" sz="2000" b="1" dirty="0">
                <a:solidFill>
                  <a:schemeClr val="tx1"/>
                </a:solidFill>
              </a:rPr>
              <a:t>data and insights provided by external analytics service providers</a:t>
            </a:r>
            <a:r>
              <a:rPr lang="en-US" sz="2000" dirty="0">
                <a:solidFill>
                  <a:schemeClr val="tx1"/>
                </a:solidFill>
              </a:rPr>
              <a:t> or platforms that collect and analyze data on behalf of many clients.</a:t>
            </a:r>
          </a:p>
          <a:p>
            <a:pPr marL="0" indent="0">
              <a:buNone/>
            </a:pPr>
            <a:r>
              <a:rPr lang="en-US" sz="2000" b="1" dirty="0">
                <a:solidFill>
                  <a:schemeClr val="tx1"/>
                </a:solidFill>
              </a:rPr>
              <a:t>Examples:</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Website traffic data from tools like Google Analytics</a:t>
            </a:r>
          </a:p>
          <a:p>
            <a:pPr>
              <a:buClr>
                <a:schemeClr val="tx1"/>
              </a:buClr>
              <a:buFont typeface="Wingdings" panose="05000000000000000000" pitchFamily="2" charset="2"/>
              <a:buChar char="§"/>
            </a:pPr>
            <a:r>
              <a:rPr lang="en-US" sz="2000" dirty="0">
                <a:solidFill>
                  <a:schemeClr val="tx1"/>
                </a:solidFill>
              </a:rPr>
              <a:t>Social media analytics from platforms or marketing tools</a:t>
            </a:r>
          </a:p>
          <a:p>
            <a:pPr>
              <a:buClr>
                <a:schemeClr val="tx1"/>
              </a:buClr>
              <a:buFont typeface="Wingdings" panose="05000000000000000000" pitchFamily="2" charset="2"/>
              <a:buChar char="§"/>
            </a:pPr>
            <a:r>
              <a:rPr lang="en-US" sz="2000" dirty="0">
                <a:solidFill>
                  <a:schemeClr val="tx1"/>
                </a:solidFill>
              </a:rPr>
              <a:t>Market research reports bought from research firms</a:t>
            </a:r>
          </a:p>
          <a:p>
            <a:pPr>
              <a:buClr>
                <a:schemeClr val="tx1"/>
              </a:buClr>
              <a:buFont typeface="Wingdings" panose="05000000000000000000" pitchFamily="2" charset="2"/>
              <a:buChar char="§"/>
            </a:pPr>
            <a:r>
              <a:rPr lang="en-US" sz="2000" dirty="0">
                <a:solidFill>
                  <a:schemeClr val="tx1"/>
                </a:solidFill>
              </a:rPr>
              <a:t>Advertising performance data from ad platforms</a:t>
            </a:r>
          </a:p>
          <a:p>
            <a:pPr marL="0" indent="0">
              <a:buNone/>
            </a:pPr>
            <a:r>
              <a:rPr lang="en-US" sz="2000" b="1" dirty="0">
                <a:solidFill>
                  <a:schemeClr val="tx1"/>
                </a:solidFill>
              </a:rPr>
              <a:t>Key Points:</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Helps organizations understand user behaviors, marketing performance, trends.</a:t>
            </a:r>
          </a:p>
          <a:p>
            <a:pPr>
              <a:buClr>
                <a:schemeClr val="tx1"/>
              </a:buClr>
              <a:buFont typeface="Wingdings" panose="05000000000000000000" pitchFamily="2" charset="2"/>
              <a:buChar char="§"/>
            </a:pPr>
            <a:r>
              <a:rPr lang="en-US" sz="2000" dirty="0">
                <a:solidFill>
                  <a:schemeClr val="tx1"/>
                </a:solidFill>
              </a:rPr>
              <a:t>Often provided via dashboards, reports, or APIs.</a:t>
            </a:r>
          </a:p>
          <a:p>
            <a:pPr>
              <a:buClr>
                <a:schemeClr val="tx1"/>
              </a:buClr>
              <a:buFont typeface="Wingdings" panose="05000000000000000000" pitchFamily="2" charset="2"/>
              <a:buChar char="§"/>
            </a:pPr>
            <a:r>
              <a:rPr lang="en-US" sz="2000" dirty="0">
                <a:solidFill>
                  <a:schemeClr val="tx1"/>
                </a:solidFill>
              </a:rPr>
              <a:t>Useful when a company doesn’t have its own advanced analytics tools.</a:t>
            </a:r>
          </a:p>
          <a:p>
            <a:endParaRPr lang="en-IN" dirty="0"/>
          </a:p>
        </p:txBody>
      </p:sp>
    </p:spTree>
    <p:extLst>
      <p:ext uri="{BB962C8B-B14F-4D97-AF65-F5344CB8AC3E}">
        <p14:creationId xmlns:p14="http://schemas.microsoft.com/office/powerpoint/2010/main" val="638360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C5B461-18F2-E09A-35B0-EF612663F84D}"/>
              </a:ext>
            </a:extLst>
          </p:cNvPr>
          <p:cNvSpPr>
            <a:spLocks noGrp="1"/>
          </p:cNvSpPr>
          <p:nvPr>
            <p:ph idx="1"/>
          </p:nvPr>
        </p:nvSpPr>
        <p:spPr>
          <a:xfrm>
            <a:off x="677334" y="619433"/>
            <a:ext cx="10305298" cy="5421930"/>
          </a:xfrm>
        </p:spPr>
        <p:txBody>
          <a:bodyPr/>
          <a:lstStyle/>
          <a:p>
            <a:pPr marL="0" indent="0">
              <a:lnSpc>
                <a:spcPct val="150000"/>
              </a:lnSpc>
              <a:buNone/>
            </a:pPr>
            <a:r>
              <a:rPr lang="en-IN" sz="2000" b="1" dirty="0">
                <a:solidFill>
                  <a:schemeClr val="tx1"/>
                </a:solidFill>
              </a:rPr>
              <a:t>External Data: </a:t>
            </a:r>
            <a:r>
              <a:rPr lang="en-US" sz="2000" dirty="0">
                <a:solidFill>
                  <a:schemeClr val="tx1"/>
                </a:solidFill>
              </a:rPr>
              <a:t>External data is data that comes from </a:t>
            </a:r>
            <a:r>
              <a:rPr lang="en-US" sz="2000" b="1" dirty="0">
                <a:solidFill>
                  <a:schemeClr val="tx1"/>
                </a:solidFill>
              </a:rPr>
              <a:t>outside the organization</a:t>
            </a:r>
            <a:r>
              <a:rPr lang="en-US" sz="2000" dirty="0">
                <a:solidFill>
                  <a:schemeClr val="tx1"/>
                </a:solidFill>
              </a:rPr>
              <a:t>, collected from other companies, institutions, or the general environment.</a:t>
            </a:r>
          </a:p>
          <a:p>
            <a:pPr marL="0" indent="0">
              <a:buNone/>
            </a:pPr>
            <a:r>
              <a:rPr lang="en-US" sz="2000" b="1" dirty="0">
                <a:solidFill>
                  <a:schemeClr val="tx1"/>
                </a:solidFill>
              </a:rPr>
              <a:t>Examples:</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Market trends and </a:t>
            </a:r>
            <a:r>
              <a:rPr lang="en-US" sz="2000">
                <a:solidFill>
                  <a:schemeClr val="tx1"/>
                </a:solidFill>
              </a:rPr>
              <a:t>competitor information</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Customer demographics from external agencies</a:t>
            </a:r>
          </a:p>
          <a:p>
            <a:pPr>
              <a:buClr>
                <a:schemeClr val="tx1"/>
              </a:buClr>
              <a:buFont typeface="Wingdings" panose="05000000000000000000" pitchFamily="2" charset="2"/>
              <a:buChar char="§"/>
            </a:pPr>
            <a:r>
              <a:rPr lang="en-US" sz="2000" dirty="0">
                <a:solidFill>
                  <a:schemeClr val="tx1"/>
                </a:solidFill>
              </a:rPr>
              <a:t>Industry reports and statistics</a:t>
            </a:r>
          </a:p>
          <a:p>
            <a:pPr>
              <a:buClr>
                <a:schemeClr val="tx1"/>
              </a:buClr>
              <a:buFont typeface="Wingdings" panose="05000000000000000000" pitchFamily="2" charset="2"/>
              <a:buChar char="§"/>
            </a:pPr>
            <a:r>
              <a:rPr lang="en-US" sz="2000" dirty="0">
                <a:solidFill>
                  <a:schemeClr val="tx1"/>
                </a:solidFill>
              </a:rPr>
              <a:t>Supplier and vendor data</a:t>
            </a:r>
          </a:p>
          <a:p>
            <a:pPr marL="0" indent="0">
              <a:buClr>
                <a:schemeClr val="tx1"/>
              </a:buClr>
              <a:buNone/>
            </a:pPr>
            <a:r>
              <a:rPr lang="en-US" sz="2000" b="1" dirty="0">
                <a:solidFill>
                  <a:schemeClr val="tx1"/>
                </a:solidFill>
              </a:rPr>
              <a:t>Key Points:</a:t>
            </a:r>
          </a:p>
          <a:p>
            <a:pPr>
              <a:buClr>
                <a:schemeClr val="tx1"/>
              </a:buClr>
              <a:buFont typeface="Wingdings" panose="05000000000000000000" pitchFamily="2" charset="2"/>
              <a:buChar char="§"/>
            </a:pPr>
            <a:r>
              <a:rPr lang="en-US" sz="2000" dirty="0">
                <a:solidFill>
                  <a:schemeClr val="tx1"/>
                </a:solidFill>
              </a:rPr>
              <a:t>Used to understand the business environment and competition.</a:t>
            </a:r>
          </a:p>
          <a:p>
            <a:pPr>
              <a:buClr>
                <a:schemeClr val="tx1"/>
              </a:buClr>
              <a:buFont typeface="Wingdings" panose="05000000000000000000" pitchFamily="2" charset="2"/>
              <a:buChar char="§"/>
            </a:pPr>
            <a:r>
              <a:rPr lang="en-US" sz="2000" dirty="0">
                <a:solidFill>
                  <a:schemeClr val="tx1"/>
                </a:solidFill>
              </a:rPr>
              <a:t>Often obtained through subscriptions, data vendors, industry bodies.</a:t>
            </a:r>
          </a:p>
          <a:p>
            <a:pPr>
              <a:buClr>
                <a:schemeClr val="tx1"/>
              </a:buClr>
              <a:buFont typeface="Wingdings" panose="05000000000000000000" pitchFamily="2" charset="2"/>
              <a:buChar char="§"/>
            </a:pPr>
            <a:r>
              <a:rPr lang="en-US" sz="2000" dirty="0">
                <a:solidFill>
                  <a:schemeClr val="tx1"/>
                </a:solidFill>
              </a:rPr>
              <a:t>Complements internal data for better forecasting and strategy.</a:t>
            </a:r>
          </a:p>
          <a:p>
            <a:endParaRPr lang="en-IN" dirty="0"/>
          </a:p>
        </p:txBody>
      </p:sp>
    </p:spTree>
    <p:extLst>
      <p:ext uri="{BB962C8B-B14F-4D97-AF65-F5344CB8AC3E}">
        <p14:creationId xmlns:p14="http://schemas.microsoft.com/office/powerpoint/2010/main" val="25471063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7D4F6-B1F1-C824-45F6-35D1E1E747A1}"/>
              </a:ext>
            </a:extLst>
          </p:cNvPr>
          <p:cNvSpPr>
            <a:spLocks noGrp="1"/>
          </p:cNvSpPr>
          <p:nvPr>
            <p:ph idx="1"/>
          </p:nvPr>
        </p:nvSpPr>
        <p:spPr>
          <a:xfrm>
            <a:off x="677333" y="776747"/>
            <a:ext cx="10413453" cy="5496234"/>
          </a:xfrm>
        </p:spPr>
        <p:txBody>
          <a:bodyPr/>
          <a:lstStyle/>
          <a:p>
            <a:pPr marL="0" indent="0">
              <a:lnSpc>
                <a:spcPct val="150000"/>
              </a:lnSpc>
              <a:buNone/>
            </a:pPr>
            <a:r>
              <a:rPr lang="en-IN" sz="2000" b="1" dirty="0">
                <a:solidFill>
                  <a:schemeClr val="tx1"/>
                </a:solidFill>
              </a:rPr>
              <a:t>Open Data: </a:t>
            </a:r>
            <a:r>
              <a:rPr lang="en-US" sz="2000" dirty="0">
                <a:solidFill>
                  <a:schemeClr val="tx1"/>
                </a:solidFill>
              </a:rPr>
              <a:t>Open data is data that is </a:t>
            </a:r>
            <a:r>
              <a:rPr lang="en-US" sz="2000" b="1" dirty="0">
                <a:solidFill>
                  <a:schemeClr val="tx1"/>
                </a:solidFill>
              </a:rPr>
              <a:t>freely available to everyone</a:t>
            </a:r>
            <a:r>
              <a:rPr lang="en-US" sz="2000" dirty="0">
                <a:solidFill>
                  <a:schemeClr val="tx1"/>
                </a:solidFill>
              </a:rPr>
              <a:t> to use, reuse, and share, usually published by </a:t>
            </a:r>
            <a:r>
              <a:rPr lang="en-US" sz="2000" b="1" dirty="0">
                <a:solidFill>
                  <a:schemeClr val="tx1"/>
                </a:solidFill>
              </a:rPr>
              <a:t>governments, public organizations, or international bodies</a:t>
            </a:r>
            <a:r>
              <a:rPr lang="en-US" sz="2000" dirty="0">
                <a:solidFill>
                  <a:schemeClr val="tx1"/>
                </a:solidFill>
              </a:rPr>
              <a:t>.</a:t>
            </a:r>
          </a:p>
          <a:p>
            <a:pPr marL="0" indent="0">
              <a:buNone/>
            </a:pPr>
            <a:r>
              <a:rPr lang="en-US" sz="2000" b="1" dirty="0">
                <a:solidFill>
                  <a:schemeClr val="tx1"/>
                </a:solidFill>
              </a:rPr>
              <a:t>Examples:</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Government census data</a:t>
            </a:r>
          </a:p>
          <a:p>
            <a:pPr>
              <a:buClr>
                <a:schemeClr val="tx1"/>
              </a:buClr>
              <a:buFont typeface="Wingdings" panose="05000000000000000000" pitchFamily="2" charset="2"/>
              <a:buChar char="§"/>
            </a:pPr>
            <a:r>
              <a:rPr lang="en-US" sz="2000" dirty="0">
                <a:solidFill>
                  <a:schemeClr val="tx1"/>
                </a:solidFill>
              </a:rPr>
              <a:t>Health, education, and crime statistics</a:t>
            </a:r>
          </a:p>
          <a:p>
            <a:pPr>
              <a:buClr>
                <a:schemeClr val="tx1"/>
              </a:buClr>
              <a:buFont typeface="Wingdings" panose="05000000000000000000" pitchFamily="2" charset="2"/>
              <a:buChar char="§"/>
            </a:pPr>
            <a:r>
              <a:rPr lang="en-US" sz="2000" dirty="0">
                <a:solidFill>
                  <a:schemeClr val="tx1"/>
                </a:solidFill>
              </a:rPr>
              <a:t>Weather and climate data</a:t>
            </a:r>
          </a:p>
          <a:p>
            <a:pPr>
              <a:buClr>
                <a:schemeClr val="tx1"/>
              </a:buClr>
              <a:buFont typeface="Wingdings" panose="05000000000000000000" pitchFamily="2" charset="2"/>
              <a:buChar char="§"/>
            </a:pPr>
            <a:r>
              <a:rPr lang="en-US" sz="2000" dirty="0">
                <a:solidFill>
                  <a:schemeClr val="tx1"/>
                </a:solidFill>
              </a:rPr>
              <a:t>Transport and traffic data</a:t>
            </a:r>
          </a:p>
          <a:p>
            <a:pPr>
              <a:buClr>
                <a:schemeClr val="tx1"/>
              </a:buClr>
              <a:buFont typeface="Wingdings" panose="05000000000000000000" pitchFamily="2" charset="2"/>
              <a:buChar char="§"/>
            </a:pPr>
            <a:r>
              <a:rPr lang="en-US" sz="2000" dirty="0">
                <a:solidFill>
                  <a:schemeClr val="tx1"/>
                </a:solidFill>
              </a:rPr>
              <a:t>Open data portals (national or city-level)</a:t>
            </a:r>
          </a:p>
          <a:p>
            <a:pPr marL="0" indent="0">
              <a:buNone/>
            </a:pPr>
            <a:r>
              <a:rPr lang="en-US" sz="2000" b="1" dirty="0">
                <a:solidFill>
                  <a:schemeClr val="tx1"/>
                </a:solidFill>
              </a:rPr>
              <a:t>Key Points:</a:t>
            </a:r>
            <a:endParaRPr lang="en-US" sz="2000" dirty="0">
              <a:solidFill>
                <a:schemeClr val="tx1"/>
              </a:solidFill>
            </a:endParaRPr>
          </a:p>
          <a:p>
            <a:pPr>
              <a:buClr>
                <a:schemeClr val="tx1"/>
              </a:buClr>
              <a:buFont typeface="Wingdings" panose="05000000000000000000" pitchFamily="2" charset="2"/>
              <a:buChar char="§"/>
            </a:pPr>
            <a:r>
              <a:rPr lang="en-US" sz="2000" dirty="0">
                <a:solidFill>
                  <a:schemeClr val="tx1"/>
                </a:solidFill>
              </a:rPr>
              <a:t>Generally free or low-cost.</a:t>
            </a:r>
          </a:p>
          <a:p>
            <a:pPr>
              <a:buClr>
                <a:schemeClr val="tx1"/>
              </a:buClr>
              <a:buFont typeface="Wingdings" panose="05000000000000000000" pitchFamily="2" charset="2"/>
              <a:buChar char="§"/>
            </a:pPr>
            <a:r>
              <a:rPr lang="en-US" sz="2000" dirty="0">
                <a:solidFill>
                  <a:schemeClr val="tx1"/>
                </a:solidFill>
              </a:rPr>
              <a:t>Promotes research, innovation, transparency, and public services.</a:t>
            </a:r>
          </a:p>
          <a:p>
            <a:pPr>
              <a:buClr>
                <a:schemeClr val="tx1"/>
              </a:buClr>
              <a:buFont typeface="Wingdings" panose="05000000000000000000" pitchFamily="2" charset="2"/>
              <a:buChar char="§"/>
            </a:pPr>
            <a:r>
              <a:rPr lang="en-US" sz="2000" dirty="0">
                <a:solidFill>
                  <a:schemeClr val="tx1"/>
                </a:solidFill>
              </a:rPr>
              <a:t>Can be combined with internal data for deeper analysis and insights.</a:t>
            </a:r>
          </a:p>
          <a:p>
            <a:pPr marL="0" indent="0">
              <a:buNone/>
            </a:pPr>
            <a:endParaRPr lang="en-IN" dirty="0">
              <a:solidFill>
                <a:schemeClr val="tx1"/>
              </a:solidFill>
            </a:endParaRPr>
          </a:p>
        </p:txBody>
      </p:sp>
    </p:spTree>
    <p:extLst>
      <p:ext uri="{BB962C8B-B14F-4D97-AF65-F5344CB8AC3E}">
        <p14:creationId xmlns:p14="http://schemas.microsoft.com/office/powerpoint/2010/main" val="30580652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356D-C1E6-7658-6A75-F42E63823C80}"/>
              </a:ext>
            </a:extLst>
          </p:cNvPr>
          <p:cNvSpPr>
            <a:spLocks noGrp="1"/>
          </p:cNvSpPr>
          <p:nvPr>
            <p:ph type="title"/>
          </p:nvPr>
        </p:nvSpPr>
        <p:spPr>
          <a:xfrm>
            <a:off x="677334" y="609600"/>
            <a:ext cx="8596668" cy="678426"/>
          </a:xfrm>
        </p:spPr>
        <p:txBody>
          <a:bodyPr/>
          <a:lstStyle/>
          <a:p>
            <a:r>
              <a:rPr lang="en-IN" b="1" dirty="0">
                <a:solidFill>
                  <a:schemeClr val="tx1"/>
                </a:solidFill>
              </a:rPr>
              <a:t>Data Collection</a:t>
            </a:r>
          </a:p>
        </p:txBody>
      </p:sp>
      <p:sp>
        <p:nvSpPr>
          <p:cNvPr id="3" name="Content Placeholder 2">
            <a:extLst>
              <a:ext uri="{FF2B5EF4-FFF2-40B4-BE49-F238E27FC236}">
                <a16:creationId xmlns:a16="http://schemas.microsoft.com/office/drawing/2014/main" id="{9EE5BD9D-2CC7-8DC0-6C3D-D003E8CECDB5}"/>
              </a:ext>
            </a:extLst>
          </p:cNvPr>
          <p:cNvSpPr>
            <a:spLocks noGrp="1"/>
          </p:cNvSpPr>
          <p:nvPr>
            <p:ph idx="1"/>
          </p:nvPr>
        </p:nvSpPr>
        <p:spPr>
          <a:xfrm>
            <a:off x="677333" y="1288026"/>
            <a:ext cx="10334795" cy="5250425"/>
          </a:xfrm>
        </p:spPr>
        <p:txBody>
          <a:bodyPr>
            <a:normAutofit/>
          </a:bodyPr>
          <a:lstStyle/>
          <a:p>
            <a:pPr marL="0" indent="0">
              <a:buNone/>
            </a:pPr>
            <a:r>
              <a:rPr lang="en-US" b="1" dirty="0">
                <a:solidFill>
                  <a:schemeClr val="tx1"/>
                </a:solidFill>
              </a:rPr>
              <a:t>Data collection</a:t>
            </a:r>
            <a:r>
              <a:rPr lang="en-US" dirty="0">
                <a:solidFill>
                  <a:schemeClr val="tx1"/>
                </a:solidFill>
              </a:rPr>
              <a:t> is the process of </a:t>
            </a:r>
            <a:r>
              <a:rPr lang="en-US" b="1" dirty="0">
                <a:solidFill>
                  <a:schemeClr val="tx1"/>
                </a:solidFill>
              </a:rPr>
              <a:t>gathering information</a:t>
            </a:r>
            <a:r>
              <a:rPr lang="en-US" dirty="0">
                <a:solidFill>
                  <a:schemeClr val="tx1"/>
                </a:solidFill>
              </a:rPr>
              <a:t> from various sources to </a:t>
            </a:r>
            <a:r>
              <a:rPr lang="en-US" b="1" dirty="0">
                <a:solidFill>
                  <a:schemeClr val="tx1"/>
                </a:solidFill>
              </a:rPr>
              <a:t>answer questions, test hypotheses, or make decisions</a:t>
            </a:r>
            <a:r>
              <a:rPr lang="en-US" dirty="0">
                <a:solidFill>
                  <a:schemeClr val="tx1"/>
                </a:solidFill>
              </a:rPr>
              <a:t>. It is used in </a:t>
            </a:r>
            <a:r>
              <a:rPr lang="en-US" b="1" dirty="0">
                <a:solidFill>
                  <a:schemeClr val="tx1"/>
                </a:solidFill>
              </a:rPr>
              <a:t>research, business, education, government, and data analytics</a:t>
            </a:r>
            <a:r>
              <a:rPr lang="en-US" dirty="0">
                <a:solidFill>
                  <a:schemeClr val="tx1"/>
                </a:solidFill>
              </a:rPr>
              <a:t>.</a:t>
            </a:r>
          </a:p>
          <a:p>
            <a:pPr marL="0" indent="0">
              <a:buNone/>
            </a:pPr>
            <a:r>
              <a:rPr lang="en-US" b="1" dirty="0">
                <a:solidFill>
                  <a:schemeClr val="tx1"/>
                </a:solidFill>
              </a:rPr>
              <a:t>Types of Data (Based on Nature)</a:t>
            </a:r>
            <a:endParaRPr lang="en-US" dirty="0">
              <a:solidFill>
                <a:schemeClr val="tx1"/>
              </a:solidFill>
            </a:endParaRPr>
          </a:p>
          <a:p>
            <a:pPr marL="0" indent="0">
              <a:buNone/>
            </a:pPr>
            <a:r>
              <a:rPr lang="en-US" b="1" dirty="0">
                <a:solidFill>
                  <a:schemeClr val="tx1"/>
                </a:solidFill>
              </a:rPr>
              <a:t> a) Qualitative Data (Non-numerical)</a:t>
            </a:r>
          </a:p>
          <a:p>
            <a:pPr>
              <a:buClr>
                <a:schemeClr val="tx1"/>
              </a:buClr>
              <a:buFont typeface="Wingdings" panose="05000000000000000000" pitchFamily="2" charset="2"/>
              <a:buChar char="§"/>
            </a:pPr>
            <a:r>
              <a:rPr lang="en-US" dirty="0">
                <a:solidFill>
                  <a:schemeClr val="tx1"/>
                </a:solidFill>
              </a:rPr>
              <a:t>Descriptive, textual information</a:t>
            </a:r>
          </a:p>
          <a:p>
            <a:pPr>
              <a:buClr>
                <a:schemeClr val="tx1"/>
              </a:buClr>
              <a:buFont typeface="Wingdings" panose="05000000000000000000" pitchFamily="2" charset="2"/>
              <a:buChar char="§"/>
            </a:pPr>
            <a:r>
              <a:rPr lang="en-US" dirty="0">
                <a:solidFill>
                  <a:schemeClr val="tx1"/>
                </a:solidFill>
              </a:rPr>
              <a:t>Answers “</a:t>
            </a:r>
            <a:r>
              <a:rPr lang="en-US" b="1" dirty="0">
                <a:solidFill>
                  <a:schemeClr val="tx1"/>
                </a:solidFill>
              </a:rPr>
              <a:t>why</a:t>
            </a:r>
            <a:r>
              <a:rPr lang="en-US" dirty="0">
                <a:solidFill>
                  <a:schemeClr val="tx1"/>
                </a:solidFill>
              </a:rPr>
              <a:t>” and “</a:t>
            </a:r>
            <a:r>
              <a:rPr lang="en-US" b="1" dirty="0">
                <a:solidFill>
                  <a:schemeClr val="tx1"/>
                </a:solidFill>
              </a:rPr>
              <a:t>how</a:t>
            </a:r>
            <a:r>
              <a:rPr lang="en-US" dirty="0">
                <a:solidFill>
                  <a:schemeClr val="tx1"/>
                </a:solidFill>
              </a:rPr>
              <a:t>”</a:t>
            </a:r>
          </a:p>
          <a:p>
            <a:pPr marL="0" indent="0">
              <a:buNone/>
            </a:pPr>
            <a:r>
              <a:rPr lang="en-US" dirty="0">
                <a:solidFill>
                  <a:schemeClr val="tx1"/>
                </a:solidFill>
              </a:rPr>
              <a:t>Examples: opinions, feedback, comments, interview responses</a:t>
            </a:r>
          </a:p>
          <a:p>
            <a:pPr marL="0" indent="0">
              <a:buNone/>
            </a:pPr>
            <a:r>
              <a:rPr lang="en-US" b="1" dirty="0">
                <a:solidFill>
                  <a:schemeClr val="tx1"/>
                </a:solidFill>
              </a:rPr>
              <a:t> b) Quantitative Data (Numerical)</a:t>
            </a:r>
          </a:p>
          <a:p>
            <a:pPr>
              <a:buClr>
                <a:schemeClr val="tx1"/>
              </a:buClr>
              <a:buFont typeface="Wingdings" panose="05000000000000000000" pitchFamily="2" charset="2"/>
              <a:buChar char="§"/>
            </a:pPr>
            <a:r>
              <a:rPr lang="en-US" dirty="0">
                <a:solidFill>
                  <a:schemeClr val="tx1"/>
                </a:solidFill>
              </a:rPr>
              <a:t>Data in numbers</a:t>
            </a:r>
          </a:p>
          <a:p>
            <a:pPr>
              <a:buClr>
                <a:schemeClr val="tx1"/>
              </a:buClr>
              <a:buFont typeface="Wingdings" panose="05000000000000000000" pitchFamily="2" charset="2"/>
              <a:buChar char="§"/>
            </a:pPr>
            <a:r>
              <a:rPr lang="en-US" dirty="0">
                <a:solidFill>
                  <a:schemeClr val="tx1"/>
                </a:solidFill>
              </a:rPr>
              <a:t>Answers “how much”, “how many”</a:t>
            </a:r>
          </a:p>
          <a:p>
            <a:pPr marL="0" indent="0">
              <a:buNone/>
            </a:pPr>
            <a:r>
              <a:rPr lang="en-US" dirty="0">
                <a:solidFill>
                  <a:schemeClr val="tx1"/>
                </a:solidFill>
              </a:rPr>
              <a:t>Examples: marks, sales figures, age, income, rating (1–5)</a:t>
            </a:r>
          </a:p>
          <a:p>
            <a:pPr marL="0" indent="0">
              <a:buNone/>
            </a:pPr>
            <a:r>
              <a:rPr lang="en-US" dirty="0">
                <a:solidFill>
                  <a:schemeClr val="tx1"/>
                </a:solidFill>
              </a:rPr>
              <a:t>Data collection methods are often chosen based on whether you need </a:t>
            </a:r>
            <a:r>
              <a:rPr lang="en-US" b="1" dirty="0">
                <a:solidFill>
                  <a:schemeClr val="tx1"/>
                </a:solidFill>
              </a:rPr>
              <a:t>qualitative</a:t>
            </a:r>
            <a:r>
              <a:rPr lang="en-US" dirty="0">
                <a:solidFill>
                  <a:schemeClr val="tx1"/>
                </a:solidFill>
              </a:rPr>
              <a:t> or </a:t>
            </a:r>
            <a:r>
              <a:rPr lang="en-US" b="1" dirty="0">
                <a:solidFill>
                  <a:schemeClr val="tx1"/>
                </a:solidFill>
              </a:rPr>
              <a:t>quantitative</a:t>
            </a:r>
            <a:r>
              <a:rPr lang="en-US" dirty="0">
                <a:solidFill>
                  <a:schemeClr val="tx1"/>
                </a:solidFill>
              </a:rPr>
              <a:t> data.</a:t>
            </a:r>
          </a:p>
          <a:p>
            <a:pPr marL="0" indent="0">
              <a:buNone/>
            </a:pPr>
            <a:endParaRPr lang="en-IN" dirty="0"/>
          </a:p>
        </p:txBody>
      </p:sp>
    </p:spTree>
    <p:extLst>
      <p:ext uri="{BB962C8B-B14F-4D97-AF65-F5344CB8AC3E}">
        <p14:creationId xmlns:p14="http://schemas.microsoft.com/office/powerpoint/2010/main" val="10229205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74510-A60D-4448-9910-AB11640F25D8}"/>
              </a:ext>
            </a:extLst>
          </p:cNvPr>
          <p:cNvSpPr>
            <a:spLocks noGrp="1"/>
          </p:cNvSpPr>
          <p:nvPr>
            <p:ph type="title"/>
          </p:nvPr>
        </p:nvSpPr>
        <p:spPr>
          <a:xfrm>
            <a:off x="677334" y="609600"/>
            <a:ext cx="9528550" cy="776748"/>
          </a:xfrm>
        </p:spPr>
        <p:txBody>
          <a:bodyPr/>
          <a:lstStyle/>
          <a:p>
            <a:r>
              <a:rPr lang="en-US" b="1" dirty="0">
                <a:solidFill>
                  <a:schemeClr val="tx1"/>
                </a:solidFill>
              </a:rPr>
              <a:t>Types of Data Collection (Based on Source)</a:t>
            </a:r>
            <a:endParaRPr lang="en-IN" b="1" dirty="0">
              <a:solidFill>
                <a:schemeClr val="tx1"/>
              </a:solidFill>
            </a:endParaRPr>
          </a:p>
        </p:txBody>
      </p:sp>
      <p:sp>
        <p:nvSpPr>
          <p:cNvPr id="3" name="Content Placeholder 2">
            <a:extLst>
              <a:ext uri="{FF2B5EF4-FFF2-40B4-BE49-F238E27FC236}">
                <a16:creationId xmlns:a16="http://schemas.microsoft.com/office/drawing/2014/main" id="{988A5603-64F6-9497-AEBC-94881DE8C9AE}"/>
              </a:ext>
            </a:extLst>
          </p:cNvPr>
          <p:cNvSpPr>
            <a:spLocks noGrp="1"/>
          </p:cNvSpPr>
          <p:nvPr>
            <p:ph idx="1"/>
          </p:nvPr>
        </p:nvSpPr>
        <p:spPr>
          <a:xfrm>
            <a:off x="677334" y="1386348"/>
            <a:ext cx="10295466" cy="5024283"/>
          </a:xfrm>
        </p:spPr>
        <p:txBody>
          <a:bodyPr/>
          <a:lstStyle/>
          <a:p>
            <a:pPr marL="0" indent="0">
              <a:buNone/>
            </a:pPr>
            <a:r>
              <a:rPr lang="en-US" b="1" dirty="0">
                <a:solidFill>
                  <a:schemeClr val="tx1"/>
                </a:solidFill>
              </a:rPr>
              <a:t>a) Primary Data Collection</a:t>
            </a:r>
          </a:p>
          <a:p>
            <a:pPr marL="0" indent="0">
              <a:buNone/>
            </a:pPr>
            <a:r>
              <a:rPr lang="en-US" dirty="0">
                <a:solidFill>
                  <a:schemeClr val="tx1"/>
                </a:solidFill>
              </a:rPr>
              <a:t>Data collected </a:t>
            </a:r>
            <a:r>
              <a:rPr lang="en-US" b="1" dirty="0">
                <a:solidFill>
                  <a:schemeClr val="tx1"/>
                </a:solidFill>
              </a:rPr>
              <a:t>first-hand</a:t>
            </a:r>
            <a:r>
              <a:rPr lang="en-US" dirty="0">
                <a:solidFill>
                  <a:schemeClr val="tx1"/>
                </a:solidFill>
              </a:rPr>
              <a:t> by the researcher for a specific purpose.</a:t>
            </a:r>
          </a:p>
          <a:p>
            <a:pPr marL="0" indent="0">
              <a:buNone/>
            </a:pPr>
            <a:r>
              <a:rPr lang="en-US" dirty="0">
                <a:solidFill>
                  <a:schemeClr val="tx1"/>
                </a:solidFill>
              </a:rPr>
              <a:t>Methods: </a:t>
            </a:r>
            <a:r>
              <a:rPr lang="en-US" b="1" dirty="0">
                <a:solidFill>
                  <a:schemeClr val="tx1"/>
                </a:solidFill>
              </a:rPr>
              <a:t>surveys, interviews, experiments, observations, focus groups</a:t>
            </a:r>
            <a:r>
              <a:rPr lang="en-US" dirty="0">
                <a:solidFill>
                  <a:schemeClr val="tx1"/>
                </a:solidFill>
              </a:rPr>
              <a:t>.</a:t>
            </a:r>
          </a:p>
          <a:p>
            <a:pPr marL="0" indent="0">
              <a:buNone/>
            </a:pPr>
            <a:r>
              <a:rPr lang="en-US" dirty="0">
                <a:solidFill>
                  <a:schemeClr val="tx1"/>
                </a:solidFill>
              </a:rPr>
              <a:t>Advantage: </a:t>
            </a:r>
            <a:r>
              <a:rPr lang="en-US" b="1" dirty="0">
                <a:solidFill>
                  <a:schemeClr val="tx1"/>
                </a:solidFill>
              </a:rPr>
              <a:t>Original and specific</a:t>
            </a:r>
            <a:br>
              <a:rPr lang="en-US" dirty="0">
                <a:solidFill>
                  <a:schemeClr val="tx1"/>
                </a:solidFill>
              </a:rPr>
            </a:br>
            <a:r>
              <a:rPr lang="en-US" dirty="0">
                <a:solidFill>
                  <a:schemeClr val="tx1"/>
                </a:solidFill>
              </a:rPr>
              <a:t>Disadvantage: Takes </a:t>
            </a:r>
            <a:r>
              <a:rPr lang="en-US" b="1" dirty="0">
                <a:solidFill>
                  <a:schemeClr val="tx1"/>
                </a:solidFill>
              </a:rPr>
              <a:t>more time and cost</a:t>
            </a:r>
            <a:r>
              <a:rPr lang="en-US" dirty="0">
                <a:solidFill>
                  <a:schemeClr val="tx1"/>
                </a:solidFill>
              </a:rPr>
              <a:t>.</a:t>
            </a:r>
          </a:p>
          <a:p>
            <a:pPr marL="0" indent="0">
              <a:buNone/>
            </a:pPr>
            <a:br>
              <a:rPr lang="en-US" dirty="0">
                <a:solidFill>
                  <a:schemeClr val="tx1"/>
                </a:solidFill>
              </a:rPr>
            </a:br>
            <a:endParaRPr lang="en-US" dirty="0">
              <a:solidFill>
                <a:schemeClr val="tx1"/>
              </a:solidFill>
            </a:endParaRPr>
          </a:p>
          <a:p>
            <a:pPr marL="0" indent="0">
              <a:buNone/>
            </a:pPr>
            <a:r>
              <a:rPr lang="en-US" b="1" dirty="0">
                <a:solidFill>
                  <a:schemeClr val="tx1"/>
                </a:solidFill>
              </a:rPr>
              <a:t>b) Secondary Data Collection</a:t>
            </a:r>
          </a:p>
          <a:p>
            <a:pPr marL="0" indent="0">
              <a:buNone/>
            </a:pPr>
            <a:r>
              <a:rPr lang="en-US" dirty="0">
                <a:solidFill>
                  <a:schemeClr val="tx1"/>
                </a:solidFill>
              </a:rPr>
              <a:t>Data collected </a:t>
            </a:r>
            <a:r>
              <a:rPr lang="en-US" b="1" dirty="0">
                <a:solidFill>
                  <a:schemeClr val="tx1"/>
                </a:solidFill>
              </a:rPr>
              <a:t>from existing sources</a:t>
            </a:r>
            <a:r>
              <a:rPr lang="en-US" dirty="0">
                <a:solidFill>
                  <a:schemeClr val="tx1"/>
                </a:solidFill>
              </a:rPr>
              <a:t> that were gathered by others.</a:t>
            </a:r>
          </a:p>
          <a:p>
            <a:pPr marL="0" indent="0">
              <a:buNone/>
            </a:pPr>
            <a:r>
              <a:rPr lang="en-US" dirty="0">
                <a:solidFill>
                  <a:schemeClr val="tx1"/>
                </a:solidFill>
              </a:rPr>
              <a:t>Sources: books, websites, reports, research papers, government data.</a:t>
            </a:r>
          </a:p>
          <a:p>
            <a:pPr marL="0" indent="0">
              <a:buNone/>
            </a:pPr>
            <a:r>
              <a:rPr lang="en-US" dirty="0">
                <a:solidFill>
                  <a:schemeClr val="tx1"/>
                </a:solidFill>
              </a:rPr>
              <a:t>Advantage: </a:t>
            </a:r>
            <a:r>
              <a:rPr lang="en-US" b="1" dirty="0">
                <a:solidFill>
                  <a:schemeClr val="tx1"/>
                </a:solidFill>
              </a:rPr>
              <a:t>Quick and cheap</a:t>
            </a:r>
            <a:br>
              <a:rPr lang="en-US" dirty="0">
                <a:solidFill>
                  <a:schemeClr val="tx1"/>
                </a:solidFill>
              </a:rPr>
            </a:br>
            <a:r>
              <a:rPr lang="en-US" dirty="0">
                <a:solidFill>
                  <a:schemeClr val="tx1"/>
                </a:solidFill>
              </a:rPr>
              <a:t>Disadvantage: May be </a:t>
            </a:r>
            <a:r>
              <a:rPr lang="en-US" b="1" dirty="0">
                <a:solidFill>
                  <a:schemeClr val="tx1"/>
                </a:solidFill>
              </a:rPr>
              <a:t>less relevant or outdated</a:t>
            </a:r>
            <a:r>
              <a:rPr lang="en-US" dirty="0">
                <a:solidFill>
                  <a:schemeClr val="tx1"/>
                </a:solidFill>
              </a:rPr>
              <a:t>.</a:t>
            </a:r>
          </a:p>
          <a:p>
            <a:endParaRPr lang="en-IN" dirty="0"/>
          </a:p>
        </p:txBody>
      </p:sp>
    </p:spTree>
    <p:extLst>
      <p:ext uri="{BB962C8B-B14F-4D97-AF65-F5344CB8AC3E}">
        <p14:creationId xmlns:p14="http://schemas.microsoft.com/office/powerpoint/2010/main" val="3291104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B33F-6687-E083-F894-95D6FEF187F5}"/>
              </a:ext>
            </a:extLst>
          </p:cNvPr>
          <p:cNvSpPr>
            <a:spLocks noGrp="1"/>
          </p:cNvSpPr>
          <p:nvPr>
            <p:ph type="title"/>
          </p:nvPr>
        </p:nvSpPr>
        <p:spPr>
          <a:xfrm>
            <a:off x="677334" y="609600"/>
            <a:ext cx="9764524" cy="1320800"/>
          </a:xfrm>
        </p:spPr>
        <p:txBody>
          <a:bodyPr>
            <a:normAutofit fontScale="90000"/>
          </a:bodyPr>
          <a:lstStyle/>
          <a:p>
            <a:r>
              <a:rPr lang="en-US" b="1" dirty="0">
                <a:solidFill>
                  <a:schemeClr val="tx1"/>
                </a:solidFill>
              </a:rPr>
              <a:t>Introduction to data lifecycle management (DLM)</a:t>
            </a:r>
            <a:br>
              <a:rPr lang="en-US" b="1" dirty="0"/>
            </a:br>
            <a:endParaRPr lang="en-IN" dirty="0"/>
          </a:p>
        </p:txBody>
      </p:sp>
      <p:sp>
        <p:nvSpPr>
          <p:cNvPr id="3" name="Content Placeholder 2">
            <a:extLst>
              <a:ext uri="{FF2B5EF4-FFF2-40B4-BE49-F238E27FC236}">
                <a16:creationId xmlns:a16="http://schemas.microsoft.com/office/drawing/2014/main" id="{CF3DDF58-E139-EE5E-FF5A-8D92CA45852D}"/>
              </a:ext>
            </a:extLst>
          </p:cNvPr>
          <p:cNvSpPr>
            <a:spLocks noGrp="1"/>
          </p:cNvSpPr>
          <p:nvPr>
            <p:ph idx="1"/>
          </p:nvPr>
        </p:nvSpPr>
        <p:spPr>
          <a:xfrm>
            <a:off x="755991" y="1350540"/>
            <a:ext cx="10639595" cy="4897859"/>
          </a:xfrm>
        </p:spPr>
        <p:txBody>
          <a:bodyPr/>
          <a:lstStyle/>
          <a:p>
            <a:r>
              <a:rPr lang="en-US" b="1" dirty="0">
                <a:solidFill>
                  <a:schemeClr val="tx1"/>
                </a:solidFill>
              </a:rPr>
              <a:t>Data Life Cycle Management (DLM)</a:t>
            </a:r>
            <a:r>
              <a:rPr lang="en-US" dirty="0">
                <a:solidFill>
                  <a:schemeClr val="tx1"/>
                </a:solidFill>
              </a:rPr>
              <a:t> is all about how data is handled from the moment it is created until it is no longer needed and is deleted or archived.</a:t>
            </a:r>
          </a:p>
          <a:p>
            <a:r>
              <a:rPr lang="en-US" dirty="0">
                <a:solidFill>
                  <a:schemeClr val="tx1"/>
                </a:solidFill>
              </a:rPr>
              <a:t>Main Stages of the Data Life Cycle:</a:t>
            </a:r>
          </a:p>
          <a:p>
            <a:endParaRPr lang="en-US" dirty="0">
              <a:solidFill>
                <a:schemeClr val="tx1"/>
              </a:solidFill>
            </a:endParaRPr>
          </a:p>
          <a:p>
            <a:endParaRPr lang="en-IN" dirty="0">
              <a:solidFill>
                <a:schemeClr val="tx1"/>
              </a:solidFill>
            </a:endParaRPr>
          </a:p>
        </p:txBody>
      </p:sp>
      <p:pic>
        <p:nvPicPr>
          <p:cNvPr id="1026" name="Picture 2">
            <a:extLst>
              <a:ext uri="{FF2B5EF4-FFF2-40B4-BE49-F238E27FC236}">
                <a16:creationId xmlns:a16="http://schemas.microsoft.com/office/drawing/2014/main" id="{63BD8EAF-07E6-64F3-1652-FE3550B7C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5698" y="2359128"/>
            <a:ext cx="3492968" cy="346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750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469C4-A7B5-0F23-15EF-93A38F8732B1}"/>
              </a:ext>
            </a:extLst>
          </p:cNvPr>
          <p:cNvSpPr>
            <a:spLocks noGrp="1"/>
          </p:cNvSpPr>
          <p:nvPr>
            <p:ph type="title"/>
          </p:nvPr>
        </p:nvSpPr>
        <p:spPr>
          <a:xfrm>
            <a:off x="677334" y="609600"/>
            <a:ext cx="8596668" cy="658761"/>
          </a:xfrm>
        </p:spPr>
        <p:txBody>
          <a:bodyPr>
            <a:normAutofit fontScale="90000"/>
          </a:bodyPr>
          <a:lstStyle/>
          <a:p>
            <a:r>
              <a:rPr lang="en-US" b="1" dirty="0">
                <a:solidFill>
                  <a:schemeClr val="tx1"/>
                </a:solidFill>
              </a:rPr>
              <a:t>What Do Business Analysts Do?</a:t>
            </a:r>
            <a:br>
              <a:rPr lang="en-US" b="1"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F6164F5C-AE75-6E78-B3AB-709079904317}"/>
              </a:ext>
            </a:extLst>
          </p:cNvPr>
          <p:cNvSpPr>
            <a:spLocks noGrp="1"/>
          </p:cNvSpPr>
          <p:nvPr>
            <p:ph idx="1"/>
          </p:nvPr>
        </p:nvSpPr>
        <p:spPr>
          <a:xfrm>
            <a:off x="677334" y="1553497"/>
            <a:ext cx="10433118" cy="4487865"/>
          </a:xfrm>
        </p:spPr>
        <p:txBody>
          <a:bodyPr>
            <a:normAutofit/>
          </a:bodyPr>
          <a:lstStyle/>
          <a:p>
            <a:pPr marL="0" indent="0">
              <a:buNone/>
            </a:pPr>
            <a:r>
              <a:rPr lang="en-US" sz="2400" dirty="0">
                <a:solidFill>
                  <a:schemeClr val="tx1"/>
                </a:solidFill>
              </a:rPr>
              <a:t>Business analysts assess an organization's current processes, systems, and products to identify areas for improvement, increase efficiency, and boost revenue. They act as a bridge between business needs and solutions by gathering requirements, analyzing data, and communicating insights to stakeholders to help guide strategic decisions and implement changes. </a:t>
            </a:r>
            <a:endParaRPr lang="en-IN" sz="2400" dirty="0">
              <a:solidFill>
                <a:schemeClr val="tx1"/>
              </a:solidFill>
            </a:endParaRPr>
          </a:p>
        </p:txBody>
      </p:sp>
    </p:spTree>
    <p:extLst>
      <p:ext uri="{BB962C8B-B14F-4D97-AF65-F5344CB8AC3E}">
        <p14:creationId xmlns:p14="http://schemas.microsoft.com/office/powerpoint/2010/main" val="877864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0D23-0B5D-6841-F02D-CE63E9398F22}"/>
              </a:ext>
            </a:extLst>
          </p:cNvPr>
          <p:cNvSpPr>
            <a:spLocks noGrp="1"/>
          </p:cNvSpPr>
          <p:nvPr>
            <p:ph type="title"/>
          </p:nvPr>
        </p:nvSpPr>
        <p:spPr>
          <a:xfrm>
            <a:off x="677334" y="609600"/>
            <a:ext cx="8596668" cy="658761"/>
          </a:xfrm>
        </p:spPr>
        <p:txBody>
          <a:bodyPr/>
          <a:lstStyle/>
          <a:p>
            <a:r>
              <a:rPr lang="en-IN" b="1" dirty="0">
                <a:solidFill>
                  <a:schemeClr val="tx1"/>
                </a:solidFill>
              </a:rPr>
              <a:t>Key responsibilities:</a:t>
            </a:r>
            <a:endParaRPr lang="en-IN" dirty="0">
              <a:solidFill>
                <a:schemeClr val="tx1"/>
              </a:solidFill>
            </a:endParaRPr>
          </a:p>
        </p:txBody>
      </p:sp>
      <p:sp>
        <p:nvSpPr>
          <p:cNvPr id="3" name="Content Placeholder 2">
            <a:extLst>
              <a:ext uri="{FF2B5EF4-FFF2-40B4-BE49-F238E27FC236}">
                <a16:creationId xmlns:a16="http://schemas.microsoft.com/office/drawing/2014/main" id="{F2076E3C-D573-1683-34BC-9FD8156359A6}"/>
              </a:ext>
            </a:extLst>
          </p:cNvPr>
          <p:cNvSpPr>
            <a:spLocks noGrp="1"/>
          </p:cNvSpPr>
          <p:nvPr>
            <p:ph idx="1"/>
          </p:nvPr>
        </p:nvSpPr>
        <p:spPr>
          <a:xfrm>
            <a:off x="677334" y="1501828"/>
            <a:ext cx="10669092" cy="4746572"/>
          </a:xfrm>
        </p:spPr>
        <p:txBody>
          <a:bodyPr>
            <a:normAutofit lnSpcReduction="10000"/>
          </a:bodyPr>
          <a:lstStyle/>
          <a:p>
            <a:pPr>
              <a:buClr>
                <a:schemeClr val="tx1"/>
              </a:buClr>
              <a:buFont typeface="Wingdings" panose="05000000000000000000" pitchFamily="2" charset="2"/>
              <a:buChar char="§"/>
            </a:pPr>
            <a:r>
              <a:rPr lang="en-US" sz="2400" b="1" dirty="0">
                <a:solidFill>
                  <a:schemeClr val="tx1"/>
                </a:solidFill>
              </a:rPr>
              <a:t>Analyzing business needs:</a:t>
            </a:r>
            <a:r>
              <a:rPr lang="en-US" sz="2400" dirty="0">
                <a:solidFill>
                  <a:schemeClr val="tx1"/>
                </a:solidFill>
              </a:rPr>
              <a:t> They research and identify the organization's functional and technical needs and requirements to solve problems or capitalize on opportunities.</a:t>
            </a:r>
          </a:p>
          <a:p>
            <a:pPr>
              <a:buClr>
                <a:schemeClr val="tx1"/>
              </a:buClr>
              <a:buFont typeface="Wingdings" panose="05000000000000000000" pitchFamily="2" charset="2"/>
              <a:buChar char="§"/>
            </a:pPr>
            <a:r>
              <a:rPr lang="en-US" sz="2400" b="1" dirty="0">
                <a:solidFill>
                  <a:schemeClr val="tx1"/>
                </a:solidFill>
              </a:rPr>
              <a:t>Data analysis:</a:t>
            </a:r>
            <a:r>
              <a:rPr lang="en-US" sz="2400" dirty="0">
                <a:solidFill>
                  <a:schemeClr val="tx1"/>
                </a:solidFill>
              </a:rPr>
              <a:t> They analyze large datasets using tools like SQL and Excel to find trends, create reports, and build financial models to support decision-making.</a:t>
            </a:r>
          </a:p>
          <a:p>
            <a:pPr>
              <a:buClr>
                <a:schemeClr val="tx1"/>
              </a:buClr>
              <a:buFont typeface="Wingdings" panose="05000000000000000000" pitchFamily="2" charset="2"/>
              <a:buChar char="§"/>
            </a:pPr>
            <a:r>
              <a:rPr lang="en-US" sz="2400" b="1" dirty="0">
                <a:solidFill>
                  <a:schemeClr val="tx1"/>
                </a:solidFill>
              </a:rPr>
              <a:t>Process improvement:</a:t>
            </a:r>
            <a:r>
              <a:rPr lang="en-US" sz="2400" dirty="0">
                <a:solidFill>
                  <a:schemeClr val="tx1"/>
                </a:solidFill>
              </a:rPr>
              <a:t> They evaluate existing processes, identify inefficiencies, and propose solutions, which can include recommending new technology, policies, or system changes.</a:t>
            </a:r>
          </a:p>
          <a:p>
            <a:pPr>
              <a:buClr>
                <a:schemeClr val="tx1"/>
              </a:buClr>
              <a:buFont typeface="Wingdings" panose="05000000000000000000" pitchFamily="2" charset="2"/>
              <a:buChar char="§"/>
            </a:pPr>
            <a:r>
              <a:rPr lang="en-IN" sz="2400" b="1" dirty="0">
                <a:solidFill>
                  <a:schemeClr val="tx1"/>
                </a:solidFill>
              </a:rPr>
              <a:t>Requirements gathering:</a:t>
            </a:r>
            <a:r>
              <a:rPr lang="en-IN" sz="2400" dirty="0">
                <a:solidFill>
                  <a:schemeClr val="tx1"/>
                </a:solidFill>
              </a:rPr>
              <a:t> They collect detailed requirements from stakeholders and use them to define the scope of projects.</a:t>
            </a:r>
          </a:p>
          <a:p>
            <a:pPr marL="0" indent="0">
              <a:buNone/>
            </a:pPr>
            <a:br>
              <a:rPr lang="en-US" dirty="0"/>
            </a:br>
            <a:endParaRPr lang="en-IN" dirty="0"/>
          </a:p>
        </p:txBody>
      </p:sp>
    </p:spTree>
    <p:extLst>
      <p:ext uri="{BB962C8B-B14F-4D97-AF65-F5344CB8AC3E}">
        <p14:creationId xmlns:p14="http://schemas.microsoft.com/office/powerpoint/2010/main" val="41745161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97A250-B59E-6FA4-D32A-A6E19E8B4D16}"/>
              </a:ext>
            </a:extLst>
          </p:cNvPr>
          <p:cNvSpPr>
            <a:spLocks noGrp="1"/>
          </p:cNvSpPr>
          <p:nvPr>
            <p:ph idx="1"/>
          </p:nvPr>
        </p:nvSpPr>
        <p:spPr>
          <a:xfrm>
            <a:off x="1188611" y="1315015"/>
            <a:ext cx="9833349" cy="3880773"/>
          </a:xfrm>
        </p:spPr>
        <p:txBody>
          <a:bodyPr>
            <a:normAutofit/>
          </a:bodyPr>
          <a:lstStyle/>
          <a:p>
            <a:pPr>
              <a:buClr>
                <a:schemeClr val="tx1"/>
              </a:buClr>
              <a:buFont typeface="Wingdings" panose="05000000000000000000" pitchFamily="2" charset="2"/>
              <a:buChar char="§"/>
            </a:pPr>
            <a:r>
              <a:rPr lang="en-IN" sz="2400" b="1" dirty="0">
                <a:solidFill>
                  <a:schemeClr val="tx1"/>
                </a:solidFill>
              </a:rPr>
              <a:t>Communication and documentation:</a:t>
            </a:r>
            <a:r>
              <a:rPr lang="en-IN" sz="2400" dirty="0">
                <a:solidFill>
                  <a:schemeClr val="tx1"/>
                </a:solidFill>
              </a:rPr>
              <a:t> They create reports and presentations to communicate their findings to senior management and other stakeholders. </a:t>
            </a:r>
          </a:p>
          <a:p>
            <a:pPr>
              <a:buClr>
                <a:schemeClr val="tx1"/>
              </a:buClr>
              <a:buFont typeface="Wingdings" panose="05000000000000000000" pitchFamily="2" charset="2"/>
              <a:buChar char="§"/>
            </a:pPr>
            <a:r>
              <a:rPr lang="en-IN" sz="2400" b="1" dirty="0">
                <a:solidFill>
                  <a:schemeClr val="tx1"/>
                </a:solidFill>
              </a:rPr>
              <a:t>Solution implementation:</a:t>
            </a:r>
            <a:r>
              <a:rPr lang="en-IN" sz="2400" dirty="0">
                <a:solidFill>
                  <a:schemeClr val="tx1"/>
                </a:solidFill>
              </a:rPr>
              <a:t> They may help oversee the implementation of new systems or processes and ensure they meet the defined requirements and provide value to the business. </a:t>
            </a:r>
            <a:br>
              <a:rPr lang="en-US" sz="2400" dirty="0">
                <a:solidFill>
                  <a:schemeClr val="tx1"/>
                </a:solidFill>
              </a:rPr>
            </a:br>
            <a:endParaRPr lang="en-IN" sz="2400" dirty="0">
              <a:solidFill>
                <a:schemeClr val="tx1"/>
              </a:solidFill>
            </a:endParaRPr>
          </a:p>
        </p:txBody>
      </p:sp>
    </p:spTree>
    <p:extLst>
      <p:ext uri="{BB962C8B-B14F-4D97-AF65-F5344CB8AC3E}">
        <p14:creationId xmlns:p14="http://schemas.microsoft.com/office/powerpoint/2010/main" val="10368364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349A-7492-4DC7-B144-2B34111C4C04}"/>
              </a:ext>
            </a:extLst>
          </p:cNvPr>
          <p:cNvSpPr>
            <a:spLocks noGrp="1"/>
          </p:cNvSpPr>
          <p:nvPr>
            <p:ph type="title"/>
          </p:nvPr>
        </p:nvSpPr>
        <p:spPr>
          <a:xfrm>
            <a:off x="677334" y="648929"/>
            <a:ext cx="8596668" cy="1320800"/>
          </a:xfrm>
        </p:spPr>
        <p:txBody>
          <a:bodyPr/>
          <a:lstStyle/>
          <a:p>
            <a:r>
              <a:rPr lang="en-US" b="1" dirty="0">
                <a:solidFill>
                  <a:schemeClr val="tx1"/>
                </a:solidFill>
              </a:rPr>
              <a:t>Skills of a Business Analyst</a:t>
            </a:r>
            <a:endParaRPr lang="en-IN" b="1" dirty="0">
              <a:solidFill>
                <a:schemeClr val="tx1"/>
              </a:solidFill>
            </a:endParaRPr>
          </a:p>
        </p:txBody>
      </p:sp>
      <p:sp>
        <p:nvSpPr>
          <p:cNvPr id="4" name="Rectangle 1">
            <a:extLst>
              <a:ext uri="{FF2B5EF4-FFF2-40B4-BE49-F238E27FC236}">
                <a16:creationId xmlns:a16="http://schemas.microsoft.com/office/drawing/2014/main" id="{C9A13540-9049-9DFF-8321-6AD05A1C00D6}"/>
              </a:ext>
            </a:extLst>
          </p:cNvPr>
          <p:cNvSpPr>
            <a:spLocks noGrp="1" noChangeArrowheads="1"/>
          </p:cNvSpPr>
          <p:nvPr>
            <p:ph idx="1"/>
          </p:nvPr>
        </p:nvSpPr>
        <p:spPr bwMode="auto">
          <a:xfrm>
            <a:off x="677334" y="1816103"/>
            <a:ext cx="1009443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Analytical thinking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Communication skills</a:t>
            </a:r>
            <a:r>
              <a:rPr kumimoji="0" lang="en-US" altLang="en-US" sz="2400" b="0" i="0" u="none" strike="noStrike" cap="none" normalizeH="0" baseline="0" dirty="0">
                <a:ln>
                  <a:noFill/>
                </a:ln>
                <a:solidFill>
                  <a:schemeClr val="tx1"/>
                </a:solidFill>
                <a:effectLst/>
                <a:latin typeface="Arial" panose="020B0604020202020204" pitchFamily="34" charset="0"/>
              </a:rPr>
              <a:t> (talking to both business &amp; technical people)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Problem-solving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Documentation and modelling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Basic knowledge of </a:t>
            </a:r>
            <a:r>
              <a:rPr kumimoji="0" lang="en-US" altLang="en-US" sz="2400" b="1" i="0" u="none" strike="noStrike" cap="none" normalizeH="0" baseline="0" dirty="0">
                <a:ln>
                  <a:noFill/>
                </a:ln>
                <a:solidFill>
                  <a:schemeClr val="tx1"/>
                </a:solidFill>
                <a:effectLst/>
                <a:latin typeface="Arial" panose="020B0604020202020204" pitchFamily="34" charset="0"/>
              </a:rPr>
              <a:t>databases, Excel, BI tools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Understanding of </a:t>
            </a:r>
            <a:r>
              <a:rPr kumimoji="0" lang="en-US" altLang="en-US" sz="2400" b="1" i="0" u="none" strike="noStrike" cap="none" normalizeH="0" baseline="0" dirty="0">
                <a:ln>
                  <a:noFill/>
                </a:ln>
                <a:solidFill>
                  <a:schemeClr val="tx1"/>
                </a:solidFill>
                <a:effectLst/>
                <a:latin typeface="Arial" panose="020B0604020202020204" pitchFamily="34" charset="0"/>
              </a:rPr>
              <a:t>business domains</a:t>
            </a:r>
            <a:r>
              <a:rPr kumimoji="0" lang="en-US" altLang="en-US" sz="2400" b="0" i="0" u="none" strike="noStrike" cap="none" normalizeH="0" baseline="0" dirty="0">
                <a:ln>
                  <a:noFill/>
                </a:ln>
                <a:solidFill>
                  <a:schemeClr val="tx1"/>
                </a:solidFill>
                <a:effectLst/>
                <a:latin typeface="Arial" panose="020B0604020202020204" pitchFamily="34" charset="0"/>
              </a:rPr>
              <a:t> (finance, sales, operations, etc.)</a:t>
            </a:r>
          </a:p>
        </p:txBody>
      </p:sp>
    </p:spTree>
    <p:extLst>
      <p:ext uri="{BB962C8B-B14F-4D97-AF65-F5344CB8AC3E}">
        <p14:creationId xmlns:p14="http://schemas.microsoft.com/office/powerpoint/2010/main" val="4197130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7645D-2C4D-E00B-D35D-49E0C83A122D}"/>
              </a:ext>
            </a:extLst>
          </p:cNvPr>
          <p:cNvSpPr>
            <a:spLocks noGrp="1"/>
          </p:cNvSpPr>
          <p:nvPr>
            <p:ph type="title"/>
          </p:nvPr>
        </p:nvSpPr>
        <p:spPr>
          <a:xfrm>
            <a:off x="677334" y="609600"/>
            <a:ext cx="8596668" cy="698090"/>
          </a:xfrm>
        </p:spPr>
        <p:txBody>
          <a:bodyPr>
            <a:normAutofit/>
          </a:bodyPr>
          <a:lstStyle/>
          <a:p>
            <a:r>
              <a:rPr lang="en-US" b="1" dirty="0">
                <a:solidFill>
                  <a:schemeClr val="tx1"/>
                </a:solidFill>
              </a:rPr>
              <a:t>The Tools Used by Business Analysts</a:t>
            </a:r>
            <a:endParaRPr lang="en-IN" dirty="0">
              <a:solidFill>
                <a:schemeClr val="tx1"/>
              </a:solidFill>
            </a:endParaRPr>
          </a:p>
        </p:txBody>
      </p:sp>
      <p:sp>
        <p:nvSpPr>
          <p:cNvPr id="3" name="Content Placeholder 2">
            <a:extLst>
              <a:ext uri="{FF2B5EF4-FFF2-40B4-BE49-F238E27FC236}">
                <a16:creationId xmlns:a16="http://schemas.microsoft.com/office/drawing/2014/main" id="{83FE09F6-31E9-7FB4-F15F-AB1EDBC2A31E}"/>
              </a:ext>
            </a:extLst>
          </p:cNvPr>
          <p:cNvSpPr>
            <a:spLocks noGrp="1"/>
          </p:cNvSpPr>
          <p:nvPr>
            <p:ph idx="1"/>
          </p:nvPr>
        </p:nvSpPr>
        <p:spPr>
          <a:xfrm>
            <a:off x="677333" y="1560822"/>
            <a:ext cx="10265969" cy="4879307"/>
          </a:xfrm>
        </p:spPr>
        <p:txBody>
          <a:bodyPr>
            <a:normAutofit/>
          </a:bodyPr>
          <a:lstStyle/>
          <a:p>
            <a:pPr marL="0" indent="0">
              <a:buClr>
                <a:schemeClr val="tx1"/>
              </a:buClr>
              <a:buNone/>
            </a:pPr>
            <a:r>
              <a:rPr lang="en-US" sz="2000" dirty="0">
                <a:solidFill>
                  <a:schemeClr val="tx1"/>
                </a:solidFill>
              </a:rPr>
              <a:t>To carry out all these responsibilities, business analysts rely on a variety of tools to manage their tasks efficiently. Some of the most common tools include:</a:t>
            </a:r>
          </a:p>
          <a:p>
            <a:pPr fontAlgn="base">
              <a:buClr>
                <a:schemeClr val="tx1"/>
              </a:buClr>
              <a:buFont typeface="Wingdings" panose="05000000000000000000" pitchFamily="2" charset="2"/>
              <a:buChar char="§"/>
            </a:pPr>
            <a:r>
              <a:rPr lang="en-US" sz="2000" b="1" dirty="0">
                <a:solidFill>
                  <a:schemeClr val="tx1"/>
                </a:solidFill>
              </a:rPr>
              <a:t>Requirements Management Tools</a:t>
            </a:r>
            <a:r>
              <a:rPr lang="en-US" sz="2000" dirty="0">
                <a:solidFill>
                  <a:schemeClr val="tx1"/>
                </a:solidFill>
              </a:rPr>
              <a:t>: Tools like JIRA, Confluence, or Trello are used to document and track requirements, user stories, and tasks.</a:t>
            </a:r>
          </a:p>
          <a:p>
            <a:pPr fontAlgn="base">
              <a:buClr>
                <a:schemeClr val="tx1"/>
              </a:buClr>
              <a:buFont typeface="Wingdings" panose="05000000000000000000" pitchFamily="2" charset="2"/>
              <a:buChar char="§"/>
            </a:pPr>
            <a:r>
              <a:rPr lang="en-US" sz="2000" b="1" dirty="0">
                <a:solidFill>
                  <a:schemeClr val="tx1"/>
                </a:solidFill>
              </a:rPr>
              <a:t>Data Analysis Tools</a:t>
            </a:r>
            <a:r>
              <a:rPr lang="en-US" sz="2000" dirty="0">
                <a:solidFill>
                  <a:schemeClr val="tx1"/>
                </a:solidFill>
              </a:rPr>
              <a:t>: Business analysts often use software like Microsoft Excel, Google Analytics, and Tableau to analyze data and create visual reports.</a:t>
            </a:r>
          </a:p>
          <a:p>
            <a:pPr fontAlgn="base">
              <a:buClr>
                <a:schemeClr val="tx1"/>
              </a:buClr>
              <a:buFont typeface="Wingdings" panose="05000000000000000000" pitchFamily="2" charset="2"/>
              <a:buChar char="§"/>
            </a:pPr>
            <a:r>
              <a:rPr lang="en-US" sz="2000" b="1" dirty="0">
                <a:solidFill>
                  <a:schemeClr val="tx1"/>
                </a:solidFill>
              </a:rPr>
              <a:t>Process Mapping Tools</a:t>
            </a:r>
            <a:r>
              <a:rPr lang="en-US" sz="2000" dirty="0">
                <a:solidFill>
                  <a:schemeClr val="tx1"/>
                </a:solidFill>
              </a:rPr>
              <a:t>: Tools such as Microsoft Visio or </a:t>
            </a:r>
            <a:r>
              <a:rPr lang="en-US" sz="2000" dirty="0" err="1">
                <a:solidFill>
                  <a:schemeClr val="tx1"/>
                </a:solidFill>
              </a:rPr>
              <a:t>Lucidchart</a:t>
            </a:r>
            <a:r>
              <a:rPr lang="en-US" sz="2000" dirty="0">
                <a:solidFill>
                  <a:schemeClr val="tx1"/>
                </a:solidFill>
              </a:rPr>
              <a:t> help business analysts create diagrams to map processes and workflows.</a:t>
            </a:r>
          </a:p>
          <a:p>
            <a:pPr fontAlgn="base">
              <a:buClr>
                <a:schemeClr val="tx1"/>
              </a:buClr>
              <a:buFont typeface="Wingdings" panose="05000000000000000000" pitchFamily="2" charset="2"/>
              <a:buChar char="§"/>
            </a:pPr>
            <a:r>
              <a:rPr lang="en-US" sz="2000" b="1" dirty="0">
                <a:solidFill>
                  <a:schemeClr val="tx1"/>
                </a:solidFill>
              </a:rPr>
              <a:t>Collaboration Tools</a:t>
            </a:r>
            <a:r>
              <a:rPr lang="en-US" sz="2000" dirty="0">
                <a:solidFill>
                  <a:schemeClr val="tx1"/>
                </a:solidFill>
              </a:rPr>
              <a:t>: Platforms like Slack, Zoom, and Microsoft Teams facilitate communication and collaboration with stakeholders and team members.</a:t>
            </a:r>
          </a:p>
          <a:p>
            <a:endParaRPr lang="en-IN" dirty="0"/>
          </a:p>
        </p:txBody>
      </p:sp>
    </p:spTree>
    <p:extLst>
      <p:ext uri="{BB962C8B-B14F-4D97-AF65-F5344CB8AC3E}">
        <p14:creationId xmlns:p14="http://schemas.microsoft.com/office/powerpoint/2010/main" val="4813684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C2DA-B47C-8977-4414-9F016C637BFD}"/>
              </a:ext>
            </a:extLst>
          </p:cNvPr>
          <p:cNvSpPr>
            <a:spLocks noGrp="1"/>
          </p:cNvSpPr>
          <p:nvPr>
            <p:ph type="title"/>
          </p:nvPr>
        </p:nvSpPr>
        <p:spPr>
          <a:xfrm>
            <a:off x="677333" y="609600"/>
            <a:ext cx="8732137" cy="1160206"/>
          </a:xfrm>
        </p:spPr>
        <p:txBody>
          <a:bodyPr>
            <a:normAutofit fontScale="90000"/>
          </a:bodyPr>
          <a:lstStyle/>
          <a:p>
            <a:r>
              <a:rPr lang="en-US" b="1" dirty="0">
                <a:solidFill>
                  <a:schemeClr val="tx1"/>
                </a:solidFill>
              </a:rPr>
              <a:t>Collaboration and Relationship-Building in Business Analysis</a:t>
            </a:r>
            <a:br>
              <a:rPr lang="en-US" b="1" dirty="0"/>
            </a:br>
            <a:endParaRPr lang="en-IN" dirty="0"/>
          </a:p>
        </p:txBody>
      </p:sp>
      <p:sp>
        <p:nvSpPr>
          <p:cNvPr id="3" name="Content Placeholder 2">
            <a:extLst>
              <a:ext uri="{FF2B5EF4-FFF2-40B4-BE49-F238E27FC236}">
                <a16:creationId xmlns:a16="http://schemas.microsoft.com/office/drawing/2014/main" id="{81F114BA-E1A1-B96D-D5E2-5EEB610A22E4}"/>
              </a:ext>
            </a:extLst>
          </p:cNvPr>
          <p:cNvSpPr>
            <a:spLocks noGrp="1"/>
          </p:cNvSpPr>
          <p:nvPr>
            <p:ph idx="1"/>
          </p:nvPr>
        </p:nvSpPr>
        <p:spPr>
          <a:xfrm>
            <a:off x="677332" y="1875453"/>
            <a:ext cx="10462615" cy="4446689"/>
          </a:xfrm>
        </p:spPr>
        <p:txBody>
          <a:bodyPr/>
          <a:lstStyle/>
          <a:p>
            <a:pPr marL="0" indent="0">
              <a:buNone/>
            </a:pPr>
            <a:r>
              <a:rPr lang="en-US" sz="2000" b="1" dirty="0">
                <a:solidFill>
                  <a:schemeClr val="tx1"/>
                </a:solidFill>
              </a:rPr>
              <a:t>Collaboration and relationship-building</a:t>
            </a:r>
            <a:r>
              <a:rPr lang="en-US" sz="2000" dirty="0">
                <a:solidFill>
                  <a:schemeClr val="tx1"/>
                </a:solidFill>
              </a:rPr>
              <a:t> in business analysis refer to how a Business Analyst </a:t>
            </a:r>
            <a:r>
              <a:rPr lang="en-US" sz="2000" b="1" dirty="0">
                <a:solidFill>
                  <a:schemeClr val="tx1"/>
                </a:solidFill>
              </a:rPr>
              <a:t>works with stakeholders</a:t>
            </a:r>
            <a:r>
              <a:rPr lang="en-US" sz="2000" dirty="0">
                <a:solidFill>
                  <a:schemeClr val="tx1"/>
                </a:solidFill>
              </a:rPr>
              <a:t>, builds </a:t>
            </a:r>
            <a:r>
              <a:rPr lang="en-US" sz="2000" b="1" dirty="0">
                <a:solidFill>
                  <a:schemeClr val="tx1"/>
                </a:solidFill>
              </a:rPr>
              <a:t>trust</a:t>
            </a:r>
            <a:r>
              <a:rPr lang="en-US" sz="2000" dirty="0">
                <a:solidFill>
                  <a:schemeClr val="tx1"/>
                </a:solidFill>
              </a:rPr>
              <a:t>, and maintains </a:t>
            </a:r>
            <a:r>
              <a:rPr lang="en-US" sz="2000" b="1" dirty="0">
                <a:solidFill>
                  <a:schemeClr val="tx1"/>
                </a:solidFill>
              </a:rPr>
              <a:t>effective communication</a:t>
            </a:r>
            <a:r>
              <a:rPr lang="en-US" sz="2000" dirty="0">
                <a:solidFill>
                  <a:schemeClr val="tx1"/>
                </a:solidFill>
              </a:rPr>
              <a:t> to successfully deliver projects and solutions.</a:t>
            </a:r>
          </a:p>
          <a:p>
            <a:pPr marL="0" indent="0">
              <a:buNone/>
            </a:pPr>
            <a:r>
              <a:rPr lang="en-IN" sz="2000" dirty="0">
                <a:solidFill>
                  <a:schemeClr val="tx1"/>
                </a:solidFill>
              </a:rPr>
              <a:t>Key benefits include: </a:t>
            </a:r>
          </a:p>
          <a:p>
            <a:pPr lvl="0">
              <a:buClr>
                <a:schemeClr val="tx1"/>
              </a:buClr>
              <a:buFont typeface="Wingdings" panose="05000000000000000000" pitchFamily="2" charset="2"/>
              <a:buChar char="§"/>
            </a:pPr>
            <a:r>
              <a:rPr lang="en-IN" sz="2000" b="1" dirty="0">
                <a:solidFill>
                  <a:schemeClr val="tx1"/>
                </a:solidFill>
              </a:rPr>
              <a:t>Comprehensive Requirements:</a:t>
            </a:r>
            <a:r>
              <a:rPr lang="en-IN" sz="2000" dirty="0">
                <a:solidFill>
                  <a:schemeClr val="tx1"/>
                </a:solidFill>
              </a:rPr>
              <a:t> Working closely with diverse stakeholders helps uncover all necessary information, leading to complete and accurate requirements .</a:t>
            </a:r>
          </a:p>
          <a:p>
            <a:pPr lvl="0">
              <a:buClr>
                <a:schemeClr val="tx1"/>
              </a:buClr>
              <a:buFont typeface="Wingdings" panose="05000000000000000000" pitchFamily="2" charset="2"/>
              <a:buChar char="§"/>
            </a:pPr>
            <a:r>
              <a:rPr lang="en-IN" sz="2000" b="1" dirty="0">
                <a:solidFill>
                  <a:schemeClr val="tx1"/>
                </a:solidFill>
              </a:rPr>
              <a:t>Increased Buy-in:</a:t>
            </a:r>
            <a:r>
              <a:rPr lang="en-IN" sz="2000" dirty="0">
                <a:solidFill>
                  <a:schemeClr val="tx1"/>
                </a:solidFill>
              </a:rPr>
              <a:t> Involving stakeholders in the analysis process makes them feel heard, which increases their support for the final solution .</a:t>
            </a:r>
          </a:p>
          <a:p>
            <a:pPr lvl="0">
              <a:buClr>
                <a:schemeClr val="tx1"/>
              </a:buClr>
              <a:buFont typeface="Wingdings" panose="05000000000000000000" pitchFamily="2" charset="2"/>
              <a:buChar char="§"/>
            </a:pPr>
            <a:r>
              <a:rPr lang="en-IN" sz="2000" b="1" dirty="0">
                <a:solidFill>
                  <a:schemeClr val="tx1"/>
                </a:solidFill>
              </a:rPr>
              <a:t>Risk Mitigation:</a:t>
            </a:r>
            <a:r>
              <a:rPr lang="en-IN" sz="2000" dirty="0">
                <a:solidFill>
                  <a:schemeClr val="tx1"/>
                </a:solidFill>
              </a:rPr>
              <a:t> Open communication channels help identify potential issues early, allowing the team to address them proactively .</a:t>
            </a:r>
          </a:p>
          <a:p>
            <a:pPr lvl="0">
              <a:buClr>
                <a:schemeClr val="tx1"/>
              </a:buClr>
              <a:buFont typeface="Wingdings" panose="05000000000000000000" pitchFamily="2" charset="2"/>
              <a:buChar char="§"/>
            </a:pPr>
            <a:r>
              <a:rPr lang="en-IN" sz="2000" b="1" dirty="0">
                <a:solidFill>
                  <a:schemeClr val="tx1"/>
                </a:solidFill>
              </a:rPr>
              <a:t>Faster Decision Making:</a:t>
            </a:r>
            <a:r>
              <a:rPr lang="en-IN" sz="2000" dirty="0">
                <a:solidFill>
                  <a:schemeClr val="tx1"/>
                </a:solidFill>
              </a:rPr>
              <a:t> Trusting relationships allow for more efficient conflict resolution. </a:t>
            </a:r>
          </a:p>
          <a:p>
            <a:endParaRPr lang="en-IN" dirty="0"/>
          </a:p>
        </p:txBody>
      </p:sp>
    </p:spTree>
    <p:extLst>
      <p:ext uri="{BB962C8B-B14F-4D97-AF65-F5344CB8AC3E}">
        <p14:creationId xmlns:p14="http://schemas.microsoft.com/office/powerpoint/2010/main" val="11941372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F65D-327D-2A24-C659-E4118FF6883B}"/>
              </a:ext>
            </a:extLst>
          </p:cNvPr>
          <p:cNvSpPr>
            <a:spLocks noGrp="1"/>
          </p:cNvSpPr>
          <p:nvPr>
            <p:ph type="title"/>
          </p:nvPr>
        </p:nvSpPr>
        <p:spPr>
          <a:xfrm>
            <a:off x="677334" y="609600"/>
            <a:ext cx="8596668" cy="806245"/>
          </a:xfrm>
        </p:spPr>
        <p:txBody>
          <a:bodyPr/>
          <a:lstStyle/>
          <a:p>
            <a:r>
              <a:rPr lang="en-US" b="1" dirty="0">
                <a:solidFill>
                  <a:schemeClr val="tx1"/>
                </a:solidFill>
              </a:rPr>
              <a:t>Business Analysis Methodologies</a:t>
            </a:r>
            <a:endParaRPr lang="en-IN" b="1" dirty="0">
              <a:solidFill>
                <a:schemeClr val="tx1"/>
              </a:solidFill>
            </a:endParaRPr>
          </a:p>
        </p:txBody>
      </p:sp>
      <p:sp>
        <p:nvSpPr>
          <p:cNvPr id="3" name="Content Placeholder 2">
            <a:extLst>
              <a:ext uri="{FF2B5EF4-FFF2-40B4-BE49-F238E27FC236}">
                <a16:creationId xmlns:a16="http://schemas.microsoft.com/office/drawing/2014/main" id="{FC9B9FBC-1918-03A2-1C1C-6684AA9EE959}"/>
              </a:ext>
            </a:extLst>
          </p:cNvPr>
          <p:cNvSpPr>
            <a:spLocks noGrp="1"/>
          </p:cNvSpPr>
          <p:nvPr>
            <p:ph idx="1"/>
          </p:nvPr>
        </p:nvSpPr>
        <p:spPr>
          <a:xfrm>
            <a:off x="677333" y="1514168"/>
            <a:ext cx="11032885" cy="5181600"/>
          </a:xfrm>
        </p:spPr>
        <p:txBody>
          <a:bodyPr>
            <a:noAutofit/>
          </a:bodyPr>
          <a:lstStyle/>
          <a:p>
            <a:pPr marL="0" indent="0">
              <a:buNone/>
            </a:pPr>
            <a:r>
              <a:rPr lang="en-US" sz="2400" dirty="0">
                <a:solidFill>
                  <a:schemeClr val="tx1"/>
                </a:solidFill>
              </a:rPr>
              <a:t>Business analysis uses methodologies like </a:t>
            </a:r>
            <a:r>
              <a:rPr lang="en-US" sz="2400" b="1" dirty="0">
                <a:solidFill>
                  <a:schemeClr val="tx1"/>
                </a:solidFill>
              </a:rPr>
              <a:t>Agile</a:t>
            </a:r>
            <a:r>
              <a:rPr lang="en-US" sz="2400" dirty="0">
                <a:solidFill>
                  <a:schemeClr val="tx1"/>
                </a:solidFill>
              </a:rPr>
              <a:t> and </a:t>
            </a:r>
            <a:r>
              <a:rPr lang="en-US" sz="2400" b="1" dirty="0">
                <a:solidFill>
                  <a:schemeClr val="tx1"/>
                </a:solidFill>
              </a:rPr>
              <a:t>Water fall</a:t>
            </a:r>
            <a:r>
              <a:rPr lang="en-US" sz="2400" dirty="0">
                <a:solidFill>
                  <a:schemeClr val="tx1"/>
                </a:solidFill>
              </a:rPr>
              <a:t> .</a:t>
            </a:r>
            <a:endParaRPr lang="en-US" sz="2400" b="1" dirty="0">
              <a:solidFill>
                <a:schemeClr val="tx1"/>
              </a:solidFill>
            </a:endParaRPr>
          </a:p>
          <a:p>
            <a:pPr marL="0" indent="0">
              <a:buNone/>
            </a:pPr>
            <a:r>
              <a:rPr lang="en-IN" sz="2400" dirty="0">
                <a:solidFill>
                  <a:schemeClr val="tx1"/>
                </a:solidFill>
              </a:rPr>
              <a:t>Agile is a flexible, iterative approach focused on continuous feedback and collaboration, while Waterfall is a sequential, linear model that emphasizes thorough upfront planning and distinct, consecutive phases</a:t>
            </a:r>
            <a:r>
              <a:rPr lang="en-US" sz="2400" b="1" dirty="0">
                <a:solidFill>
                  <a:schemeClr val="tx1"/>
                </a:solidFill>
              </a:rPr>
              <a:t> </a:t>
            </a:r>
            <a:r>
              <a:rPr lang="en-US" sz="2400" dirty="0">
                <a:solidFill>
                  <a:schemeClr val="tx1"/>
                </a:solidFill>
              </a:rPr>
              <a:t>to manage projects.</a:t>
            </a:r>
          </a:p>
          <a:p>
            <a:pPr marL="0" indent="0">
              <a:buNone/>
            </a:pPr>
            <a:r>
              <a:rPr lang="en-IN" sz="2400" b="1" dirty="0">
                <a:solidFill>
                  <a:schemeClr val="tx1"/>
                </a:solidFill>
              </a:rPr>
              <a:t>Waterfall methodology:</a:t>
            </a:r>
            <a:endParaRPr lang="en-IN" sz="2400" dirty="0">
              <a:solidFill>
                <a:schemeClr val="tx1"/>
              </a:solidFill>
            </a:endParaRPr>
          </a:p>
          <a:p>
            <a:pPr marL="0" lvl="0" indent="0">
              <a:buNone/>
            </a:pPr>
            <a:r>
              <a:rPr lang="en-IN" sz="2400" b="1" dirty="0">
                <a:solidFill>
                  <a:schemeClr val="tx1"/>
                </a:solidFill>
              </a:rPr>
              <a:t>Approach:</a:t>
            </a:r>
            <a:r>
              <a:rPr lang="en-IN" sz="2400" dirty="0">
                <a:solidFill>
                  <a:schemeClr val="tx1"/>
                </a:solidFill>
              </a:rPr>
              <a:t> A linear, sequential process where each phase must be completed before the next begins.</a:t>
            </a:r>
          </a:p>
          <a:p>
            <a:pPr marL="0" lvl="0" indent="0">
              <a:buNone/>
            </a:pPr>
            <a:r>
              <a:rPr lang="en-IN" sz="2400" b="1" dirty="0">
                <a:solidFill>
                  <a:schemeClr val="tx1"/>
                </a:solidFill>
              </a:rPr>
              <a:t>Phases:</a:t>
            </a:r>
            <a:r>
              <a:rPr lang="en-IN" sz="2400" dirty="0">
                <a:solidFill>
                  <a:schemeClr val="tx1"/>
                </a:solidFill>
              </a:rPr>
              <a:t> Typically includes requirements gathering, design, implementation, verification, and maintenance.</a:t>
            </a:r>
          </a:p>
          <a:p>
            <a:pPr marL="0" indent="0">
              <a:buNone/>
            </a:pPr>
            <a:r>
              <a:rPr lang="en-IN" sz="2400" b="1" dirty="0">
                <a:solidFill>
                  <a:schemeClr val="tx1"/>
                </a:solidFill>
              </a:rPr>
              <a:t>Best for:</a:t>
            </a:r>
            <a:r>
              <a:rPr lang="en-IN" sz="2400" dirty="0">
                <a:solidFill>
                  <a:schemeClr val="tx1"/>
                </a:solidFill>
              </a:rPr>
              <a:t> Projects with stable requirements that are well-defined from the start. </a:t>
            </a:r>
          </a:p>
        </p:txBody>
      </p:sp>
    </p:spTree>
    <p:extLst>
      <p:ext uri="{BB962C8B-B14F-4D97-AF65-F5344CB8AC3E}">
        <p14:creationId xmlns:p14="http://schemas.microsoft.com/office/powerpoint/2010/main" val="40511890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267FC-0025-147C-13DD-D399A85F7582}"/>
              </a:ext>
            </a:extLst>
          </p:cNvPr>
          <p:cNvSpPr>
            <a:spLocks noGrp="1"/>
          </p:cNvSpPr>
          <p:nvPr>
            <p:ph idx="1"/>
          </p:nvPr>
        </p:nvSpPr>
        <p:spPr>
          <a:xfrm>
            <a:off x="677333" y="865239"/>
            <a:ext cx="10649427" cy="5176123"/>
          </a:xfrm>
        </p:spPr>
        <p:txBody>
          <a:bodyPr>
            <a:normAutofit lnSpcReduction="10000"/>
          </a:bodyPr>
          <a:lstStyle/>
          <a:p>
            <a:pPr marL="0" indent="0">
              <a:buNone/>
            </a:pPr>
            <a:r>
              <a:rPr lang="en-US" sz="2000" b="1" dirty="0">
                <a:solidFill>
                  <a:schemeClr val="tx1"/>
                </a:solidFill>
              </a:rPr>
              <a:t>Role of BA in Waterfall</a:t>
            </a:r>
          </a:p>
          <a:p>
            <a:pPr marL="0" indent="0">
              <a:buNone/>
            </a:pPr>
            <a:r>
              <a:rPr lang="en-US" dirty="0">
                <a:solidFill>
                  <a:schemeClr val="tx1"/>
                </a:solidFill>
              </a:rPr>
              <a:t>Gather </a:t>
            </a:r>
            <a:r>
              <a:rPr lang="en-US" b="1" dirty="0">
                <a:solidFill>
                  <a:schemeClr val="tx1"/>
                </a:solidFill>
              </a:rPr>
              <a:t>complete requirements</a:t>
            </a:r>
            <a:r>
              <a:rPr lang="en-US" dirty="0">
                <a:solidFill>
                  <a:schemeClr val="tx1"/>
                </a:solidFill>
              </a:rPr>
              <a:t> at the beginning.</a:t>
            </a:r>
          </a:p>
          <a:p>
            <a:pPr marL="0" indent="0">
              <a:buNone/>
            </a:pPr>
            <a:r>
              <a:rPr lang="en-US" dirty="0">
                <a:solidFill>
                  <a:schemeClr val="tx1"/>
                </a:solidFill>
              </a:rPr>
              <a:t>Prepare </a:t>
            </a:r>
            <a:r>
              <a:rPr lang="en-US" b="1" dirty="0">
                <a:solidFill>
                  <a:schemeClr val="tx1"/>
                </a:solidFill>
              </a:rPr>
              <a:t>detailed documentation</a:t>
            </a:r>
            <a:r>
              <a:rPr lang="en-US" dirty="0">
                <a:solidFill>
                  <a:schemeClr val="tx1"/>
                </a:solidFill>
              </a:rPr>
              <a:t> (BRD, SRS, use cases).</a:t>
            </a:r>
          </a:p>
          <a:p>
            <a:pPr marL="0" indent="0">
              <a:buNone/>
            </a:pPr>
            <a:r>
              <a:rPr lang="en-US" dirty="0">
                <a:solidFill>
                  <a:schemeClr val="tx1"/>
                </a:solidFill>
              </a:rPr>
              <a:t>Get sign-off from stakeholders </a:t>
            </a:r>
            <a:r>
              <a:rPr lang="en-US" b="1" dirty="0">
                <a:solidFill>
                  <a:schemeClr val="tx1"/>
                </a:solidFill>
              </a:rPr>
              <a:t>before development starts</a:t>
            </a:r>
            <a:r>
              <a:rPr lang="en-US" dirty="0">
                <a:solidFill>
                  <a:schemeClr val="tx1"/>
                </a:solidFill>
              </a:rPr>
              <a:t>.</a:t>
            </a:r>
          </a:p>
          <a:p>
            <a:pPr marL="0" indent="0">
              <a:buNone/>
            </a:pPr>
            <a:r>
              <a:rPr lang="en-US" dirty="0">
                <a:solidFill>
                  <a:schemeClr val="tx1"/>
                </a:solidFill>
              </a:rPr>
              <a:t>Limited scope for change later.</a:t>
            </a:r>
          </a:p>
          <a:p>
            <a:pPr marL="0" indent="0">
              <a:buNone/>
            </a:pPr>
            <a:r>
              <a:rPr lang="en-US" sz="2000" b="1" dirty="0">
                <a:solidFill>
                  <a:schemeClr val="tx1"/>
                </a:solidFill>
              </a:rPr>
              <a:t>Advantages</a:t>
            </a:r>
          </a:p>
          <a:p>
            <a:pPr>
              <a:buClr>
                <a:schemeClr val="tx1"/>
              </a:buClr>
              <a:buFont typeface="Wingdings" panose="05000000000000000000" pitchFamily="2" charset="2"/>
              <a:buChar char="§"/>
            </a:pPr>
            <a:r>
              <a:rPr lang="en-US" dirty="0">
                <a:solidFill>
                  <a:schemeClr val="tx1"/>
                </a:solidFill>
              </a:rPr>
              <a:t>Clear structure and planning.</a:t>
            </a:r>
          </a:p>
          <a:p>
            <a:pPr>
              <a:buClr>
                <a:schemeClr val="tx1"/>
              </a:buClr>
              <a:buFont typeface="Wingdings" panose="05000000000000000000" pitchFamily="2" charset="2"/>
              <a:buChar char="§"/>
            </a:pPr>
            <a:r>
              <a:rPr lang="en-US" dirty="0">
                <a:solidFill>
                  <a:schemeClr val="tx1"/>
                </a:solidFill>
              </a:rPr>
              <a:t>Good for </a:t>
            </a:r>
            <a:r>
              <a:rPr lang="en-US" b="1" dirty="0">
                <a:solidFill>
                  <a:schemeClr val="tx1"/>
                </a:solidFill>
              </a:rPr>
              <a:t>stable, well-understood requirements</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Strong documentation.</a:t>
            </a:r>
          </a:p>
          <a:p>
            <a:pPr marL="0" indent="0">
              <a:buNone/>
            </a:pPr>
            <a:r>
              <a:rPr lang="en-US" sz="2000" b="1" dirty="0">
                <a:solidFill>
                  <a:schemeClr val="tx1"/>
                </a:solidFill>
              </a:rPr>
              <a:t>Disadvantages</a:t>
            </a:r>
          </a:p>
          <a:p>
            <a:pPr>
              <a:buClr>
                <a:schemeClr val="tx1"/>
              </a:buClr>
              <a:buFont typeface="Wingdings" panose="05000000000000000000" pitchFamily="2" charset="2"/>
              <a:buChar char="§"/>
            </a:pPr>
            <a:r>
              <a:rPr lang="en-US" dirty="0">
                <a:solidFill>
                  <a:schemeClr val="tx1"/>
                </a:solidFill>
              </a:rPr>
              <a:t>Not flexible to changes.</a:t>
            </a:r>
          </a:p>
          <a:p>
            <a:pPr>
              <a:buClr>
                <a:schemeClr val="tx1"/>
              </a:buClr>
              <a:buFont typeface="Wingdings" panose="05000000000000000000" pitchFamily="2" charset="2"/>
              <a:buChar char="§"/>
            </a:pPr>
            <a:r>
              <a:rPr lang="en-US" dirty="0">
                <a:solidFill>
                  <a:schemeClr val="tx1"/>
                </a:solidFill>
              </a:rPr>
              <a:t>Feedback comes </a:t>
            </a:r>
            <a:r>
              <a:rPr lang="en-US" b="1" dirty="0">
                <a:solidFill>
                  <a:schemeClr val="tx1"/>
                </a:solidFill>
              </a:rPr>
              <a:t>late</a:t>
            </a:r>
            <a:r>
              <a:rPr lang="en-US" dirty="0">
                <a:solidFill>
                  <a:schemeClr val="tx1"/>
                </a:solidFill>
              </a:rPr>
              <a:t>, after development.</a:t>
            </a:r>
          </a:p>
          <a:p>
            <a:pPr>
              <a:buClr>
                <a:schemeClr val="tx1"/>
              </a:buClr>
              <a:buFont typeface="Wingdings" panose="05000000000000000000" pitchFamily="2" charset="2"/>
              <a:buChar char="§"/>
            </a:pPr>
            <a:r>
              <a:rPr lang="en-US" dirty="0">
                <a:solidFill>
                  <a:schemeClr val="tx1"/>
                </a:solidFill>
              </a:rPr>
              <a:t>Risk of building something that doesn’t match user needs if requirements change.</a:t>
            </a:r>
          </a:p>
          <a:p>
            <a:endParaRPr lang="en-IN" dirty="0"/>
          </a:p>
        </p:txBody>
      </p:sp>
    </p:spTree>
    <p:extLst>
      <p:ext uri="{BB962C8B-B14F-4D97-AF65-F5344CB8AC3E}">
        <p14:creationId xmlns:p14="http://schemas.microsoft.com/office/powerpoint/2010/main" val="24643623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1746B5-776D-78A1-2292-1BEFFF6940C0}"/>
              </a:ext>
            </a:extLst>
          </p:cNvPr>
          <p:cNvSpPr>
            <a:spLocks noGrp="1"/>
          </p:cNvSpPr>
          <p:nvPr>
            <p:ph idx="1"/>
          </p:nvPr>
        </p:nvSpPr>
        <p:spPr>
          <a:xfrm>
            <a:off x="727041" y="1061885"/>
            <a:ext cx="10737918" cy="5421930"/>
          </a:xfrm>
        </p:spPr>
        <p:txBody>
          <a:bodyPr/>
          <a:lstStyle/>
          <a:p>
            <a:pPr marL="0" indent="0">
              <a:buNone/>
            </a:pPr>
            <a:r>
              <a:rPr lang="en-IN" sz="2400" b="1" dirty="0">
                <a:solidFill>
                  <a:schemeClr val="tx1"/>
                </a:solidFill>
              </a:rPr>
              <a:t>Agile methodology:</a:t>
            </a:r>
            <a:endParaRPr lang="en-IN" sz="2400" dirty="0">
              <a:solidFill>
                <a:schemeClr val="tx1"/>
              </a:solidFill>
            </a:endParaRPr>
          </a:p>
          <a:p>
            <a:pPr marL="0" lvl="0" indent="0">
              <a:buNone/>
            </a:pPr>
            <a:r>
              <a:rPr lang="en-IN" sz="2400" b="1" dirty="0">
                <a:solidFill>
                  <a:schemeClr val="tx1"/>
                </a:solidFill>
              </a:rPr>
              <a:t>Approach:</a:t>
            </a:r>
            <a:r>
              <a:rPr lang="en-IN" sz="2400" dirty="0">
                <a:solidFill>
                  <a:schemeClr val="tx1"/>
                </a:solidFill>
              </a:rPr>
              <a:t> Iterative and incremental, focusing on flexibility, collaboration, and responding to change.</a:t>
            </a:r>
          </a:p>
          <a:p>
            <a:pPr marL="0" lvl="0" indent="0">
              <a:buNone/>
            </a:pPr>
            <a:r>
              <a:rPr lang="en-IN" sz="2400" b="1" dirty="0">
                <a:solidFill>
                  <a:schemeClr val="tx1"/>
                </a:solidFill>
              </a:rPr>
              <a:t>Key principles:</a:t>
            </a:r>
            <a:r>
              <a:rPr lang="en-IN" sz="2400" dirty="0">
                <a:solidFill>
                  <a:schemeClr val="tx1"/>
                </a:solidFill>
              </a:rPr>
              <a:t> Embraces feedback, breaks work into smaller pieces, and uses short, time-boxed cycles (sprints) to deliver value continuously.</a:t>
            </a:r>
          </a:p>
          <a:p>
            <a:pPr marL="0" lvl="0" indent="0">
              <a:buNone/>
            </a:pPr>
            <a:r>
              <a:rPr lang="en-IN" sz="2400" b="1" dirty="0">
                <a:solidFill>
                  <a:schemeClr val="tx1"/>
                </a:solidFill>
              </a:rPr>
              <a:t>Popular frameworks:</a:t>
            </a:r>
            <a:r>
              <a:rPr lang="en-IN" sz="2400" dirty="0">
                <a:solidFill>
                  <a:schemeClr val="tx1"/>
                </a:solidFill>
              </a:rPr>
              <a:t> Includes Scrum, Kanban, and Lean.</a:t>
            </a:r>
          </a:p>
          <a:p>
            <a:pPr marL="0" lvl="0" indent="0">
              <a:buNone/>
            </a:pPr>
            <a:r>
              <a:rPr lang="en-IN" sz="2400" b="1" dirty="0">
                <a:solidFill>
                  <a:schemeClr val="tx1"/>
                </a:solidFill>
              </a:rPr>
              <a:t>Best for:</a:t>
            </a:r>
            <a:r>
              <a:rPr lang="en-IN" sz="2400" dirty="0">
                <a:solidFill>
                  <a:schemeClr val="tx1"/>
                </a:solidFill>
              </a:rPr>
              <a:t> Projects where requirements may evolve or change, and where continuous feedback is valuable. </a:t>
            </a:r>
          </a:p>
          <a:p>
            <a:endParaRPr lang="en-IN" dirty="0"/>
          </a:p>
        </p:txBody>
      </p:sp>
    </p:spTree>
    <p:extLst>
      <p:ext uri="{BB962C8B-B14F-4D97-AF65-F5344CB8AC3E}">
        <p14:creationId xmlns:p14="http://schemas.microsoft.com/office/powerpoint/2010/main" val="14744656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343BD-D87C-C1B0-70B3-087048D7648A}"/>
              </a:ext>
            </a:extLst>
          </p:cNvPr>
          <p:cNvSpPr>
            <a:spLocks noGrp="1"/>
          </p:cNvSpPr>
          <p:nvPr>
            <p:ph idx="1"/>
          </p:nvPr>
        </p:nvSpPr>
        <p:spPr>
          <a:xfrm>
            <a:off x="677334" y="717755"/>
            <a:ext cx="9459724" cy="5323607"/>
          </a:xfrm>
        </p:spPr>
        <p:txBody>
          <a:bodyPr/>
          <a:lstStyle/>
          <a:p>
            <a:pPr marL="0" indent="0">
              <a:buNone/>
            </a:pPr>
            <a:r>
              <a:rPr lang="en-US" sz="2400" b="1" dirty="0">
                <a:solidFill>
                  <a:schemeClr val="tx1"/>
                </a:solidFill>
              </a:rPr>
              <a:t>Role of BA in Agile:</a:t>
            </a:r>
          </a:p>
          <a:p>
            <a:pPr>
              <a:buClr>
                <a:schemeClr val="tx1"/>
              </a:buClr>
              <a:buFont typeface="Wingdings" panose="05000000000000000000" pitchFamily="2" charset="2"/>
              <a:buChar char="§"/>
            </a:pPr>
            <a:r>
              <a:rPr lang="en-US" sz="2400" dirty="0">
                <a:solidFill>
                  <a:schemeClr val="tx1"/>
                </a:solidFill>
              </a:rPr>
              <a:t>Work closely with </a:t>
            </a:r>
            <a:r>
              <a:rPr lang="en-US" sz="2400" b="1" dirty="0">
                <a:solidFill>
                  <a:schemeClr val="tx1"/>
                </a:solidFill>
              </a:rPr>
              <a:t>Product Owner and development team</a:t>
            </a:r>
            <a:r>
              <a:rPr lang="en-US" sz="2400" dirty="0">
                <a:solidFill>
                  <a:schemeClr val="tx1"/>
                </a:solidFill>
              </a:rPr>
              <a:t>.</a:t>
            </a:r>
          </a:p>
          <a:p>
            <a:pPr>
              <a:buClr>
                <a:schemeClr val="tx1"/>
              </a:buClr>
              <a:buFont typeface="Wingdings" panose="05000000000000000000" pitchFamily="2" charset="2"/>
              <a:buChar char="§"/>
            </a:pPr>
            <a:r>
              <a:rPr lang="en-US" sz="2400" dirty="0">
                <a:solidFill>
                  <a:schemeClr val="tx1"/>
                </a:solidFill>
              </a:rPr>
              <a:t>Help write and refine </a:t>
            </a:r>
            <a:r>
              <a:rPr lang="en-US" sz="2400" b="1" dirty="0">
                <a:solidFill>
                  <a:schemeClr val="tx1"/>
                </a:solidFill>
              </a:rPr>
              <a:t>user stories</a:t>
            </a:r>
            <a:r>
              <a:rPr lang="en-US" sz="2400" dirty="0">
                <a:solidFill>
                  <a:schemeClr val="tx1"/>
                </a:solidFill>
              </a:rPr>
              <a:t> with acceptance criteria.</a:t>
            </a:r>
          </a:p>
          <a:p>
            <a:pPr>
              <a:buClr>
                <a:schemeClr val="tx1"/>
              </a:buClr>
              <a:buFont typeface="Wingdings" panose="05000000000000000000" pitchFamily="2" charset="2"/>
              <a:buChar char="§"/>
            </a:pPr>
            <a:r>
              <a:rPr lang="en-US" sz="2400" dirty="0">
                <a:solidFill>
                  <a:schemeClr val="tx1"/>
                </a:solidFill>
              </a:rPr>
              <a:t>Participate in:</a:t>
            </a:r>
          </a:p>
          <a:p>
            <a:pPr lvl="1">
              <a:buClr>
                <a:schemeClr val="tx1"/>
              </a:buClr>
              <a:buFont typeface="Wingdings" panose="05000000000000000000" pitchFamily="2" charset="2"/>
              <a:buChar char="§"/>
            </a:pPr>
            <a:r>
              <a:rPr lang="en-US" sz="2400" dirty="0">
                <a:solidFill>
                  <a:schemeClr val="tx1"/>
                </a:solidFill>
              </a:rPr>
              <a:t>Sprint planning</a:t>
            </a:r>
          </a:p>
          <a:p>
            <a:pPr lvl="1">
              <a:buClr>
                <a:schemeClr val="tx1"/>
              </a:buClr>
              <a:buFont typeface="Wingdings" panose="05000000000000000000" pitchFamily="2" charset="2"/>
              <a:buChar char="§"/>
            </a:pPr>
            <a:r>
              <a:rPr lang="en-US" sz="2400" dirty="0">
                <a:solidFill>
                  <a:schemeClr val="tx1"/>
                </a:solidFill>
              </a:rPr>
              <a:t>Daily stand-up meetings</a:t>
            </a:r>
          </a:p>
          <a:p>
            <a:pPr lvl="1">
              <a:buClr>
                <a:schemeClr val="tx1"/>
              </a:buClr>
              <a:buFont typeface="Wingdings" panose="05000000000000000000" pitchFamily="2" charset="2"/>
              <a:buChar char="§"/>
            </a:pPr>
            <a:r>
              <a:rPr lang="en-US" sz="2400" dirty="0">
                <a:solidFill>
                  <a:schemeClr val="tx1"/>
                </a:solidFill>
              </a:rPr>
              <a:t>Sprint review</a:t>
            </a:r>
          </a:p>
          <a:p>
            <a:pPr>
              <a:buClr>
                <a:schemeClr val="tx1"/>
              </a:buClr>
              <a:buFont typeface="Wingdings" panose="05000000000000000000" pitchFamily="2" charset="2"/>
              <a:buChar char="§"/>
            </a:pPr>
            <a:r>
              <a:rPr lang="en-US" sz="2400" dirty="0">
                <a:solidFill>
                  <a:schemeClr val="tx1"/>
                </a:solidFill>
              </a:rPr>
              <a:t>Continuously </a:t>
            </a:r>
            <a:r>
              <a:rPr lang="en-US" sz="2400" b="1" dirty="0">
                <a:solidFill>
                  <a:schemeClr val="tx1"/>
                </a:solidFill>
              </a:rPr>
              <a:t>prioritize and clarify requirements</a:t>
            </a:r>
            <a:r>
              <a:rPr lang="en-US" sz="2400" dirty="0">
                <a:solidFill>
                  <a:schemeClr val="tx1"/>
                </a:solidFill>
              </a:rPr>
              <a:t>.</a:t>
            </a:r>
          </a:p>
          <a:p>
            <a:pPr>
              <a:buClr>
                <a:schemeClr val="tx1"/>
              </a:buClr>
              <a:buFont typeface="Wingdings" panose="05000000000000000000" pitchFamily="2" charset="2"/>
              <a:buChar char="§"/>
            </a:pPr>
            <a:r>
              <a:rPr lang="en-US" sz="2400" dirty="0">
                <a:solidFill>
                  <a:schemeClr val="tx1"/>
                </a:solidFill>
              </a:rPr>
              <a:t>Focus more on </a:t>
            </a:r>
            <a:r>
              <a:rPr lang="en-US" sz="2400" b="1" dirty="0">
                <a:solidFill>
                  <a:schemeClr val="tx1"/>
                </a:solidFill>
              </a:rPr>
              <a:t>communication and collaboration</a:t>
            </a:r>
            <a:r>
              <a:rPr lang="en-US" sz="2400" dirty="0">
                <a:solidFill>
                  <a:schemeClr val="tx1"/>
                </a:solidFill>
              </a:rPr>
              <a:t> than heavy documentation.</a:t>
            </a:r>
          </a:p>
          <a:p>
            <a:endParaRPr lang="en-IN" dirty="0"/>
          </a:p>
        </p:txBody>
      </p:sp>
    </p:spTree>
    <p:extLst>
      <p:ext uri="{BB962C8B-B14F-4D97-AF65-F5344CB8AC3E}">
        <p14:creationId xmlns:p14="http://schemas.microsoft.com/office/powerpoint/2010/main" val="11567296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EF1E72-4B72-650F-0AA6-FBC3E84EA953}"/>
              </a:ext>
            </a:extLst>
          </p:cNvPr>
          <p:cNvSpPr>
            <a:spLocks noGrp="1"/>
          </p:cNvSpPr>
          <p:nvPr>
            <p:ph idx="1"/>
          </p:nvPr>
        </p:nvSpPr>
        <p:spPr>
          <a:xfrm>
            <a:off x="677334" y="757085"/>
            <a:ext cx="10531440" cy="5284278"/>
          </a:xfrm>
        </p:spPr>
        <p:txBody>
          <a:bodyPr>
            <a:normAutofit/>
          </a:bodyPr>
          <a:lstStyle/>
          <a:p>
            <a:pPr marL="0" indent="0">
              <a:buClr>
                <a:schemeClr val="tx1"/>
              </a:buClr>
              <a:buNone/>
            </a:pPr>
            <a:r>
              <a:rPr lang="en-US" sz="2400" b="1" dirty="0">
                <a:solidFill>
                  <a:schemeClr val="tx1"/>
                </a:solidFill>
              </a:rPr>
              <a:t>Advantages</a:t>
            </a:r>
          </a:p>
          <a:p>
            <a:pPr>
              <a:buClr>
                <a:schemeClr val="tx1"/>
              </a:buClr>
              <a:buFont typeface="Wingdings" panose="05000000000000000000" pitchFamily="2" charset="2"/>
              <a:buChar char="§"/>
            </a:pPr>
            <a:r>
              <a:rPr lang="en-US" sz="2400" dirty="0">
                <a:solidFill>
                  <a:schemeClr val="tx1"/>
                </a:solidFill>
              </a:rPr>
              <a:t>Very </a:t>
            </a:r>
            <a:r>
              <a:rPr lang="en-US" sz="2400" b="1" dirty="0">
                <a:solidFill>
                  <a:schemeClr val="tx1"/>
                </a:solidFill>
              </a:rPr>
              <a:t>flexible</a:t>
            </a:r>
            <a:r>
              <a:rPr lang="en-US" sz="2400" dirty="0">
                <a:solidFill>
                  <a:schemeClr val="tx1"/>
                </a:solidFill>
              </a:rPr>
              <a:t> with changing requirements.</a:t>
            </a:r>
          </a:p>
          <a:p>
            <a:pPr>
              <a:buClr>
                <a:schemeClr val="tx1"/>
              </a:buClr>
              <a:buFont typeface="Wingdings" panose="05000000000000000000" pitchFamily="2" charset="2"/>
              <a:buChar char="§"/>
            </a:pPr>
            <a:r>
              <a:rPr lang="en-US" sz="2400" dirty="0">
                <a:solidFill>
                  <a:schemeClr val="tx1"/>
                </a:solidFill>
              </a:rPr>
              <a:t>Regular </a:t>
            </a:r>
            <a:r>
              <a:rPr lang="en-US" sz="2400" b="1" dirty="0">
                <a:solidFill>
                  <a:schemeClr val="tx1"/>
                </a:solidFill>
              </a:rPr>
              <a:t>feedback</a:t>
            </a:r>
            <a:r>
              <a:rPr lang="en-US" sz="2400" dirty="0">
                <a:solidFill>
                  <a:schemeClr val="tx1"/>
                </a:solidFill>
              </a:rPr>
              <a:t> from users.</a:t>
            </a:r>
          </a:p>
          <a:p>
            <a:pPr>
              <a:buClr>
                <a:schemeClr val="tx1"/>
              </a:buClr>
              <a:buFont typeface="Wingdings" panose="05000000000000000000" pitchFamily="2" charset="2"/>
              <a:buChar char="§"/>
            </a:pPr>
            <a:r>
              <a:rPr lang="en-US" sz="2400" dirty="0">
                <a:solidFill>
                  <a:schemeClr val="tx1"/>
                </a:solidFill>
              </a:rPr>
              <a:t>Delivers working software </a:t>
            </a:r>
            <a:r>
              <a:rPr lang="en-US" sz="2400" b="1" dirty="0">
                <a:solidFill>
                  <a:schemeClr val="tx1"/>
                </a:solidFill>
              </a:rPr>
              <a:t>faster and more frequently</a:t>
            </a:r>
            <a:r>
              <a:rPr lang="en-US" sz="2400" dirty="0">
                <a:solidFill>
                  <a:schemeClr val="tx1"/>
                </a:solidFill>
              </a:rPr>
              <a:t>.</a:t>
            </a:r>
          </a:p>
          <a:p>
            <a:pPr marL="0" indent="0">
              <a:buClr>
                <a:schemeClr val="tx1"/>
              </a:buClr>
              <a:buNone/>
            </a:pPr>
            <a:endParaRPr lang="en-US" sz="2400" b="1" dirty="0">
              <a:solidFill>
                <a:schemeClr val="tx1"/>
              </a:solidFill>
            </a:endParaRPr>
          </a:p>
          <a:p>
            <a:pPr marL="0" indent="0">
              <a:buClr>
                <a:schemeClr val="tx1"/>
              </a:buClr>
              <a:buNone/>
            </a:pPr>
            <a:r>
              <a:rPr lang="en-US" sz="2400" b="1" dirty="0">
                <a:solidFill>
                  <a:schemeClr val="tx1"/>
                </a:solidFill>
              </a:rPr>
              <a:t>Disadvantages</a:t>
            </a:r>
          </a:p>
          <a:p>
            <a:pPr>
              <a:buClr>
                <a:schemeClr val="tx1"/>
              </a:buClr>
              <a:buFont typeface="Wingdings" panose="05000000000000000000" pitchFamily="2" charset="2"/>
              <a:buChar char="§"/>
            </a:pPr>
            <a:r>
              <a:rPr lang="en-US" sz="2400" dirty="0">
                <a:solidFill>
                  <a:schemeClr val="tx1"/>
                </a:solidFill>
              </a:rPr>
              <a:t>Needs high </a:t>
            </a:r>
            <a:r>
              <a:rPr lang="en-US" sz="2400" b="1" dirty="0">
                <a:solidFill>
                  <a:schemeClr val="tx1"/>
                </a:solidFill>
              </a:rPr>
              <a:t>team involvement</a:t>
            </a:r>
            <a:r>
              <a:rPr lang="en-US" sz="2400" dirty="0">
                <a:solidFill>
                  <a:schemeClr val="tx1"/>
                </a:solidFill>
              </a:rPr>
              <a:t> and collaboration.</a:t>
            </a:r>
          </a:p>
          <a:p>
            <a:pPr>
              <a:buClr>
                <a:schemeClr val="tx1"/>
              </a:buClr>
              <a:buFont typeface="Wingdings" panose="05000000000000000000" pitchFamily="2" charset="2"/>
              <a:buChar char="§"/>
            </a:pPr>
            <a:r>
              <a:rPr lang="en-US" sz="2400" dirty="0">
                <a:solidFill>
                  <a:schemeClr val="tx1"/>
                </a:solidFill>
              </a:rPr>
              <a:t>Documentation may be lighter.</a:t>
            </a:r>
          </a:p>
          <a:p>
            <a:pPr>
              <a:buClr>
                <a:schemeClr val="tx1"/>
              </a:buClr>
              <a:buFont typeface="Wingdings" panose="05000000000000000000" pitchFamily="2" charset="2"/>
              <a:buChar char="§"/>
            </a:pPr>
            <a:r>
              <a:rPr lang="en-US" sz="2400" dirty="0">
                <a:solidFill>
                  <a:schemeClr val="tx1"/>
                </a:solidFill>
              </a:rPr>
              <a:t>Difficult if stakeholders are not available regularly.</a:t>
            </a:r>
          </a:p>
        </p:txBody>
      </p:sp>
    </p:spTree>
    <p:extLst>
      <p:ext uri="{BB962C8B-B14F-4D97-AF65-F5344CB8AC3E}">
        <p14:creationId xmlns:p14="http://schemas.microsoft.com/office/powerpoint/2010/main" val="31310285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36A6-4011-485D-9D06-5763AA82D0F3}"/>
              </a:ext>
            </a:extLst>
          </p:cNvPr>
          <p:cNvSpPr>
            <a:spLocks noGrp="1"/>
          </p:cNvSpPr>
          <p:nvPr>
            <p:ph type="title"/>
          </p:nvPr>
        </p:nvSpPr>
        <p:spPr>
          <a:xfrm>
            <a:off x="677334" y="609600"/>
            <a:ext cx="9931672" cy="491613"/>
          </a:xfrm>
        </p:spPr>
        <p:txBody>
          <a:bodyPr>
            <a:normAutofit fontScale="90000"/>
          </a:bodyPr>
          <a:lstStyle/>
          <a:p>
            <a:r>
              <a:rPr lang="en-US" b="1" dirty="0">
                <a:solidFill>
                  <a:schemeClr val="tx1"/>
                </a:solidFill>
              </a:rPr>
              <a:t>Key Differences Between Waterfall and Agile</a:t>
            </a:r>
            <a:endParaRPr lang="en-IN" b="1" dirty="0">
              <a:solidFill>
                <a:schemeClr val="tx1"/>
              </a:solidFill>
            </a:endParaRPr>
          </a:p>
        </p:txBody>
      </p:sp>
      <p:graphicFrame>
        <p:nvGraphicFramePr>
          <p:cNvPr id="11" name="Content Placeholder 10">
            <a:extLst>
              <a:ext uri="{FF2B5EF4-FFF2-40B4-BE49-F238E27FC236}">
                <a16:creationId xmlns:a16="http://schemas.microsoft.com/office/drawing/2014/main" id="{7DEEE857-3925-5196-1BA9-0571D63CB34F}"/>
              </a:ext>
            </a:extLst>
          </p:cNvPr>
          <p:cNvGraphicFramePr>
            <a:graphicFrameLocks noGrp="1"/>
          </p:cNvGraphicFramePr>
          <p:nvPr>
            <p:ph idx="1"/>
            <p:extLst>
              <p:ext uri="{D42A27DB-BD31-4B8C-83A1-F6EECF244321}">
                <p14:modId xmlns:p14="http://schemas.microsoft.com/office/powerpoint/2010/main" val="4228299033"/>
              </p:ext>
            </p:extLst>
          </p:nvPr>
        </p:nvGraphicFramePr>
        <p:xfrm>
          <a:off x="677335" y="1396180"/>
          <a:ext cx="10305297" cy="5132438"/>
        </p:xfrm>
        <a:graphic>
          <a:graphicData uri="http://schemas.openxmlformats.org/drawingml/2006/table">
            <a:tbl>
              <a:tblPr firstRow="1" firstCol="1" bandRow="1">
                <a:tableStyleId>{5C22544A-7EE6-4342-B048-85BDC9FD1C3A}</a:tableStyleId>
              </a:tblPr>
              <a:tblGrid>
                <a:gridCol w="3435099">
                  <a:extLst>
                    <a:ext uri="{9D8B030D-6E8A-4147-A177-3AD203B41FA5}">
                      <a16:colId xmlns:a16="http://schemas.microsoft.com/office/drawing/2014/main" val="3203271808"/>
                    </a:ext>
                  </a:extLst>
                </a:gridCol>
                <a:gridCol w="3435099">
                  <a:extLst>
                    <a:ext uri="{9D8B030D-6E8A-4147-A177-3AD203B41FA5}">
                      <a16:colId xmlns:a16="http://schemas.microsoft.com/office/drawing/2014/main" val="127459139"/>
                    </a:ext>
                  </a:extLst>
                </a:gridCol>
                <a:gridCol w="3435099">
                  <a:extLst>
                    <a:ext uri="{9D8B030D-6E8A-4147-A177-3AD203B41FA5}">
                      <a16:colId xmlns:a16="http://schemas.microsoft.com/office/drawing/2014/main" val="2679576927"/>
                    </a:ext>
                  </a:extLst>
                </a:gridCol>
              </a:tblGrid>
              <a:tr h="805816">
                <a:tc>
                  <a:txBody>
                    <a:bodyPr/>
                    <a:lstStyle/>
                    <a:p>
                      <a:pPr>
                        <a:lnSpc>
                          <a:spcPct val="107000"/>
                        </a:lnSpc>
                        <a:spcAft>
                          <a:spcPts val="800"/>
                        </a:spcAft>
                        <a:buNone/>
                      </a:pPr>
                      <a:r>
                        <a:rPr lang="en-IN" sz="2400" kern="100" dirty="0">
                          <a:solidFill>
                            <a:sysClr val="windowText" lastClr="000000"/>
                          </a:solidFill>
                          <a:effectLst/>
                        </a:rPr>
                        <a:t>Basis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Waterfall Model</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Agile Model</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4585181"/>
                  </a:ext>
                </a:extLst>
              </a:tr>
              <a:tr h="805816">
                <a:tc>
                  <a:txBody>
                    <a:bodyPr/>
                    <a:lstStyle/>
                    <a:p>
                      <a:pPr>
                        <a:lnSpc>
                          <a:spcPct val="107000"/>
                        </a:lnSpc>
                        <a:spcAft>
                          <a:spcPts val="800"/>
                        </a:spcAft>
                        <a:buNone/>
                      </a:pPr>
                      <a:r>
                        <a:rPr lang="en-IN" sz="2400" kern="100" dirty="0">
                          <a:solidFill>
                            <a:sysClr val="windowText" lastClr="000000"/>
                          </a:solidFill>
                          <a:effectLst/>
                        </a:rPr>
                        <a:t>Approach</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Linear and sequential</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Iterative and incremental</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203441"/>
                  </a:ext>
                </a:extLst>
              </a:tr>
              <a:tr h="1952110">
                <a:tc>
                  <a:txBody>
                    <a:bodyPr/>
                    <a:lstStyle/>
                    <a:p>
                      <a:pPr>
                        <a:lnSpc>
                          <a:spcPct val="107000"/>
                        </a:lnSpc>
                        <a:spcAft>
                          <a:spcPts val="800"/>
                        </a:spcAft>
                        <a:buNone/>
                      </a:pPr>
                      <a:r>
                        <a:rPr lang="en-IN" sz="2400" kern="100" dirty="0">
                          <a:solidFill>
                            <a:sysClr val="windowText" lastClr="000000"/>
                          </a:solidFill>
                          <a:effectLst/>
                        </a:rPr>
                        <a:t>Project Phases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Fixed phases: Requirements → Design → Development → Testing → Deployment</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Work done in small cycles called sprints</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6083443"/>
                  </a:ext>
                </a:extLst>
              </a:tr>
              <a:tr h="1568696">
                <a:tc>
                  <a:txBody>
                    <a:bodyPr/>
                    <a:lstStyle/>
                    <a:p>
                      <a:pPr>
                        <a:lnSpc>
                          <a:spcPct val="107000"/>
                        </a:lnSpc>
                        <a:spcAft>
                          <a:spcPts val="800"/>
                        </a:spcAft>
                        <a:buNone/>
                      </a:pPr>
                      <a:r>
                        <a:rPr lang="en-IN" sz="2400" kern="100">
                          <a:solidFill>
                            <a:sysClr val="windowText" lastClr="000000"/>
                          </a:solidFill>
                          <a:effectLst/>
                        </a:rPr>
                        <a:t>Requirements</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a:solidFill>
                            <a:sysClr val="windowText" lastClr="000000"/>
                          </a:solidFill>
                          <a:effectLst/>
                        </a:rPr>
                        <a:t>Defined fully at the beginning; changes are difficult later</a:t>
                      </a:r>
                      <a:endParaRPr lang="en-IN" sz="24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400" kern="100" dirty="0">
                          <a:solidFill>
                            <a:sysClr val="windowText" lastClr="000000"/>
                          </a:solidFill>
                          <a:effectLst/>
                        </a:rPr>
                        <a:t>Requirements can change anytime; refined continuously</a:t>
                      </a:r>
                      <a:endParaRPr lang="en-IN" sz="24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96628"/>
                  </a:ext>
                </a:extLst>
              </a:tr>
            </a:tbl>
          </a:graphicData>
        </a:graphic>
      </p:graphicFrame>
    </p:spTree>
    <p:extLst>
      <p:ext uri="{BB962C8B-B14F-4D97-AF65-F5344CB8AC3E}">
        <p14:creationId xmlns:p14="http://schemas.microsoft.com/office/powerpoint/2010/main" val="2099453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5120068-114F-8C08-3D79-25D92DA20222}"/>
              </a:ext>
            </a:extLst>
          </p:cNvPr>
          <p:cNvGraphicFramePr>
            <a:graphicFrameLocks noGrp="1"/>
          </p:cNvGraphicFramePr>
          <p:nvPr>
            <p:ph idx="1"/>
            <p:extLst>
              <p:ext uri="{D42A27DB-BD31-4B8C-83A1-F6EECF244321}">
                <p14:modId xmlns:p14="http://schemas.microsoft.com/office/powerpoint/2010/main" val="644465871"/>
              </p:ext>
            </p:extLst>
          </p:nvPr>
        </p:nvGraphicFramePr>
        <p:xfrm>
          <a:off x="412956" y="471947"/>
          <a:ext cx="10943301" cy="6270237"/>
        </p:xfrm>
        <a:graphic>
          <a:graphicData uri="http://schemas.openxmlformats.org/drawingml/2006/table">
            <a:tbl>
              <a:tblPr firstRow="1" firstCol="1" bandRow="1">
                <a:tableStyleId>{5C22544A-7EE6-4342-B048-85BDC9FD1C3A}</a:tableStyleId>
              </a:tblPr>
              <a:tblGrid>
                <a:gridCol w="3647767">
                  <a:extLst>
                    <a:ext uri="{9D8B030D-6E8A-4147-A177-3AD203B41FA5}">
                      <a16:colId xmlns:a16="http://schemas.microsoft.com/office/drawing/2014/main" val="3506623331"/>
                    </a:ext>
                  </a:extLst>
                </a:gridCol>
                <a:gridCol w="3647767">
                  <a:extLst>
                    <a:ext uri="{9D8B030D-6E8A-4147-A177-3AD203B41FA5}">
                      <a16:colId xmlns:a16="http://schemas.microsoft.com/office/drawing/2014/main" val="3165426856"/>
                    </a:ext>
                  </a:extLst>
                </a:gridCol>
                <a:gridCol w="3647767">
                  <a:extLst>
                    <a:ext uri="{9D8B030D-6E8A-4147-A177-3AD203B41FA5}">
                      <a16:colId xmlns:a16="http://schemas.microsoft.com/office/drawing/2014/main" val="239056615"/>
                    </a:ext>
                  </a:extLst>
                </a:gridCol>
              </a:tblGrid>
              <a:tr h="476093">
                <a:tc>
                  <a:txBody>
                    <a:bodyPr/>
                    <a:lstStyle/>
                    <a:p>
                      <a:pPr>
                        <a:lnSpc>
                          <a:spcPct val="107000"/>
                        </a:lnSpc>
                        <a:spcAft>
                          <a:spcPts val="800"/>
                        </a:spcAft>
                        <a:buNone/>
                      </a:pPr>
                      <a:r>
                        <a:rPr lang="en-IN" sz="2000" kern="100">
                          <a:solidFill>
                            <a:sysClr val="windowText" lastClr="000000"/>
                          </a:solidFill>
                          <a:effectLst/>
                        </a:rPr>
                        <a:t>Flexibility</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Low – not suitable for frequent changes</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High – designed to handle changing needs</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792189"/>
                  </a:ext>
                </a:extLst>
              </a:tr>
              <a:tr h="926819">
                <a:tc>
                  <a:txBody>
                    <a:bodyPr/>
                    <a:lstStyle/>
                    <a:p>
                      <a:pPr>
                        <a:lnSpc>
                          <a:spcPct val="107000"/>
                        </a:lnSpc>
                        <a:spcAft>
                          <a:spcPts val="800"/>
                        </a:spcAft>
                        <a:buNone/>
                      </a:pPr>
                      <a:r>
                        <a:rPr lang="en-IN" sz="2000" kern="100">
                          <a:solidFill>
                            <a:sysClr val="windowText" lastClr="000000"/>
                          </a:solidFill>
                          <a:effectLst/>
                        </a:rPr>
                        <a:t>Customer Involvement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Mainly at start (requirements) and end (delivery)</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Continuous involvement in every sprint (reviews, feedback)</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414975"/>
                  </a:ext>
                </a:extLst>
              </a:tr>
              <a:tr h="926819">
                <a:tc>
                  <a:txBody>
                    <a:bodyPr/>
                    <a:lstStyle/>
                    <a:p>
                      <a:pPr>
                        <a:lnSpc>
                          <a:spcPct val="107000"/>
                        </a:lnSpc>
                        <a:spcAft>
                          <a:spcPts val="800"/>
                        </a:spcAft>
                        <a:buNone/>
                      </a:pPr>
                      <a:r>
                        <a:rPr lang="en-IN" sz="2000" kern="100">
                          <a:solidFill>
                            <a:sysClr val="windowText" lastClr="000000"/>
                          </a:solidFill>
                          <a:effectLst/>
                        </a:rPr>
                        <a:t>Delivery</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Final product delivered at the end of the project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Working software delivered frequently (after each sprint)</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0890812"/>
                  </a:ext>
                </a:extLst>
              </a:tr>
              <a:tr h="926819">
                <a:tc>
                  <a:txBody>
                    <a:bodyPr/>
                    <a:lstStyle/>
                    <a:p>
                      <a:pPr>
                        <a:lnSpc>
                          <a:spcPct val="107000"/>
                        </a:lnSpc>
                        <a:spcAft>
                          <a:spcPts val="800"/>
                        </a:spcAft>
                        <a:buNone/>
                      </a:pPr>
                      <a:r>
                        <a:rPr lang="en-IN" sz="2000" kern="100">
                          <a:solidFill>
                            <a:sysClr val="windowText" lastClr="000000"/>
                          </a:solidFill>
                          <a:effectLst/>
                        </a:rPr>
                        <a:t>Documentation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Heavy, detailed documentation (BRD, SRS, etc.)</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“Just enough” documentation; more focus on communication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9244710"/>
                  </a:ext>
                </a:extLst>
              </a:tr>
              <a:tr h="926819">
                <a:tc>
                  <a:txBody>
                    <a:bodyPr/>
                    <a:lstStyle/>
                    <a:p>
                      <a:pPr>
                        <a:lnSpc>
                          <a:spcPct val="107000"/>
                        </a:lnSpc>
                        <a:spcAft>
                          <a:spcPts val="800"/>
                        </a:spcAft>
                        <a:buNone/>
                      </a:pPr>
                      <a:r>
                        <a:rPr lang="en-IN" sz="2000" kern="100">
                          <a:solidFill>
                            <a:sysClr val="windowText" lastClr="000000"/>
                          </a:solidFill>
                          <a:effectLst/>
                        </a:rPr>
                        <a:t>Testing</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Testing happens after development is completed</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Testing happens within each sprint (early and continuous)</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7577589"/>
                  </a:ext>
                </a:extLst>
              </a:tr>
              <a:tr h="926819">
                <a:tc>
                  <a:txBody>
                    <a:bodyPr/>
                    <a:lstStyle/>
                    <a:p>
                      <a:pPr>
                        <a:lnSpc>
                          <a:spcPct val="107000"/>
                        </a:lnSpc>
                        <a:spcAft>
                          <a:spcPts val="800"/>
                        </a:spcAft>
                        <a:buNone/>
                      </a:pPr>
                      <a:r>
                        <a:rPr lang="en-IN" sz="2000" kern="100">
                          <a:solidFill>
                            <a:sysClr val="windowText" lastClr="000000"/>
                          </a:solidFill>
                          <a:effectLst/>
                        </a:rPr>
                        <a:t>Risk Handling</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Risks discovered late (towards testing/implementation)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Risks identified and handled early in each iteration</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3027404"/>
                  </a:ext>
                </a:extLst>
              </a:tr>
              <a:tr h="926819">
                <a:tc>
                  <a:txBody>
                    <a:bodyPr/>
                    <a:lstStyle/>
                    <a:p>
                      <a:pPr>
                        <a:lnSpc>
                          <a:spcPct val="107000"/>
                        </a:lnSpc>
                        <a:spcAft>
                          <a:spcPts val="800"/>
                        </a:spcAft>
                        <a:buNone/>
                      </a:pPr>
                      <a:r>
                        <a:rPr lang="en-IN" sz="2000" kern="100">
                          <a:solidFill>
                            <a:sysClr val="windowText" lastClr="000000"/>
                          </a:solidFill>
                          <a:effectLst/>
                        </a:rPr>
                        <a:t>Best Suited For</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a:solidFill>
                            <a:sysClr val="windowText" lastClr="000000"/>
                          </a:solidFill>
                          <a:effectLst/>
                        </a:rPr>
                        <a:t>Projects with clear, stable requirements</a:t>
                      </a:r>
                      <a:endParaRPr lang="en-IN" sz="20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buNone/>
                      </a:pPr>
                      <a:r>
                        <a:rPr lang="en-IN" sz="2000" kern="100" dirty="0">
                          <a:solidFill>
                            <a:sysClr val="windowText" lastClr="000000"/>
                          </a:solidFill>
                          <a:effectLst/>
                        </a:rPr>
                        <a:t>Projects with uncertain or changing requirements</a:t>
                      </a:r>
                      <a:endParaRPr lang="en-IN" sz="20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469192"/>
                  </a:ext>
                </a:extLst>
              </a:tr>
            </a:tbl>
          </a:graphicData>
        </a:graphic>
      </p:graphicFrame>
    </p:spTree>
    <p:extLst>
      <p:ext uri="{BB962C8B-B14F-4D97-AF65-F5344CB8AC3E}">
        <p14:creationId xmlns:p14="http://schemas.microsoft.com/office/powerpoint/2010/main" val="7136987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B87A-C9F4-7190-CEC6-D6592FF145CD}"/>
              </a:ext>
            </a:extLst>
          </p:cNvPr>
          <p:cNvSpPr>
            <a:spLocks noGrp="1"/>
          </p:cNvSpPr>
          <p:nvPr>
            <p:ph type="title"/>
          </p:nvPr>
        </p:nvSpPr>
        <p:spPr>
          <a:xfrm>
            <a:off x="677334" y="609600"/>
            <a:ext cx="8596668" cy="707923"/>
          </a:xfrm>
        </p:spPr>
        <p:txBody>
          <a:bodyPr/>
          <a:lstStyle/>
          <a:p>
            <a:r>
              <a:rPr lang="en-IN" b="1" dirty="0">
                <a:solidFill>
                  <a:schemeClr val="tx1"/>
                </a:solidFill>
              </a:rPr>
              <a:t>When to Use Waterfall</a:t>
            </a:r>
          </a:p>
        </p:txBody>
      </p:sp>
      <p:sp>
        <p:nvSpPr>
          <p:cNvPr id="3" name="Content Placeholder 2">
            <a:extLst>
              <a:ext uri="{FF2B5EF4-FFF2-40B4-BE49-F238E27FC236}">
                <a16:creationId xmlns:a16="http://schemas.microsoft.com/office/drawing/2014/main" id="{22FFD544-90C2-A5D2-2675-470010D2F172}"/>
              </a:ext>
            </a:extLst>
          </p:cNvPr>
          <p:cNvSpPr>
            <a:spLocks noGrp="1"/>
          </p:cNvSpPr>
          <p:nvPr>
            <p:ph idx="1"/>
          </p:nvPr>
        </p:nvSpPr>
        <p:spPr>
          <a:xfrm>
            <a:off x="677334" y="1396181"/>
            <a:ext cx="9853014" cy="4994787"/>
          </a:xfrm>
        </p:spPr>
        <p:txBody>
          <a:bodyPr>
            <a:normAutofit/>
          </a:bodyPr>
          <a:lstStyle/>
          <a:p>
            <a:pPr>
              <a:buClr>
                <a:schemeClr val="tx1"/>
              </a:buClr>
              <a:buFont typeface="Wingdings" panose="05000000000000000000" pitchFamily="2" charset="2"/>
              <a:buChar char="§"/>
            </a:pPr>
            <a:r>
              <a:rPr lang="en-US" sz="2400" b="1" dirty="0">
                <a:solidFill>
                  <a:schemeClr val="tx1"/>
                </a:solidFill>
              </a:rPr>
              <a:t>Requirements are clear and stable:</a:t>
            </a:r>
            <a:r>
              <a:rPr lang="en-US" sz="2400" dirty="0">
                <a:solidFill>
                  <a:schemeClr val="tx1"/>
                </a:solidFill>
              </a:rPr>
              <a:t> The project has a well-defined scope from the start.</a:t>
            </a:r>
          </a:p>
          <a:p>
            <a:pPr>
              <a:buClr>
                <a:schemeClr val="tx1"/>
              </a:buClr>
              <a:buFont typeface="Wingdings" panose="05000000000000000000" pitchFamily="2" charset="2"/>
              <a:buChar char="§"/>
            </a:pPr>
            <a:r>
              <a:rPr lang="en-US" sz="2400" b="1" dirty="0">
                <a:solidFill>
                  <a:schemeClr val="tx1"/>
                </a:solidFill>
              </a:rPr>
              <a:t>The project is straightforward and uncomplicated:</a:t>
            </a:r>
            <a:r>
              <a:rPr lang="en-US" sz="2400" dirty="0">
                <a:solidFill>
                  <a:schemeClr val="tx1"/>
                </a:solidFill>
              </a:rPr>
              <a:t> A linear approach works well for simple projects with no unknowns.</a:t>
            </a:r>
          </a:p>
          <a:p>
            <a:pPr>
              <a:buClr>
                <a:schemeClr val="tx1"/>
              </a:buClr>
              <a:buFont typeface="Wingdings" panose="05000000000000000000" pitchFamily="2" charset="2"/>
              <a:buChar char="§"/>
            </a:pPr>
            <a:r>
              <a:rPr lang="en-US" sz="2400" b="1" dirty="0">
                <a:solidFill>
                  <a:schemeClr val="tx1"/>
                </a:solidFill>
              </a:rPr>
              <a:t>Strict documentation and regulatory compliance are required:</a:t>
            </a:r>
            <a:r>
              <a:rPr lang="en-US" sz="2400" dirty="0">
                <a:solidFill>
                  <a:schemeClr val="tx1"/>
                </a:solidFill>
              </a:rPr>
              <a:t> Waterfall's structured phases support thorough documentation needs.</a:t>
            </a:r>
          </a:p>
          <a:p>
            <a:pPr>
              <a:buClr>
                <a:schemeClr val="tx1"/>
              </a:buClr>
              <a:buFont typeface="Wingdings" panose="05000000000000000000" pitchFamily="2" charset="2"/>
              <a:buChar char="§"/>
            </a:pPr>
            <a:r>
              <a:rPr lang="en-US" sz="2400" b="1" dirty="0">
                <a:solidFill>
                  <a:schemeClr val="tx1"/>
                </a:solidFill>
              </a:rPr>
              <a:t>Customer involvement is limited:</a:t>
            </a:r>
            <a:r>
              <a:rPr lang="en-US" sz="2400" dirty="0">
                <a:solidFill>
                  <a:schemeClr val="tx1"/>
                </a:solidFill>
              </a:rPr>
              <a:t> It's best when client input is primarily at the beginning and end of the project.</a:t>
            </a:r>
          </a:p>
          <a:p>
            <a:pPr>
              <a:buClr>
                <a:schemeClr val="tx1"/>
              </a:buClr>
              <a:buFont typeface="Wingdings" panose="05000000000000000000" pitchFamily="2" charset="2"/>
              <a:buChar char="§"/>
            </a:pPr>
            <a:r>
              <a:rPr lang="en-US" sz="2400" b="1" dirty="0">
                <a:solidFill>
                  <a:schemeClr val="tx1"/>
                </a:solidFill>
              </a:rPr>
              <a:t>A fixed schedule and budget are the main drivers:</a:t>
            </a:r>
            <a:r>
              <a:rPr lang="en-US" sz="2400" dirty="0">
                <a:solidFill>
                  <a:schemeClr val="tx1"/>
                </a:solidFill>
              </a:rPr>
              <a:t> Its structure allows for a clear, upfront plan for costs and timelines. </a:t>
            </a:r>
          </a:p>
        </p:txBody>
      </p:sp>
    </p:spTree>
    <p:extLst>
      <p:ext uri="{BB962C8B-B14F-4D97-AF65-F5344CB8AC3E}">
        <p14:creationId xmlns:p14="http://schemas.microsoft.com/office/powerpoint/2010/main" val="8739547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8F55-428D-2DCC-3722-A30061CEE5A1}"/>
              </a:ext>
            </a:extLst>
          </p:cNvPr>
          <p:cNvSpPr>
            <a:spLocks noGrp="1"/>
          </p:cNvSpPr>
          <p:nvPr>
            <p:ph type="title"/>
          </p:nvPr>
        </p:nvSpPr>
        <p:spPr>
          <a:xfrm>
            <a:off x="677334" y="447928"/>
            <a:ext cx="8596668" cy="737419"/>
          </a:xfrm>
        </p:spPr>
        <p:txBody>
          <a:bodyPr/>
          <a:lstStyle/>
          <a:p>
            <a:r>
              <a:rPr lang="en-IN" b="1" dirty="0">
                <a:solidFill>
                  <a:schemeClr val="tx1"/>
                </a:solidFill>
              </a:rPr>
              <a:t>When to Use Agile</a:t>
            </a:r>
          </a:p>
        </p:txBody>
      </p:sp>
      <p:sp>
        <p:nvSpPr>
          <p:cNvPr id="3" name="Content Placeholder 2">
            <a:extLst>
              <a:ext uri="{FF2B5EF4-FFF2-40B4-BE49-F238E27FC236}">
                <a16:creationId xmlns:a16="http://schemas.microsoft.com/office/drawing/2014/main" id="{DF711197-5A43-C361-21C1-BF37AE15B761}"/>
              </a:ext>
            </a:extLst>
          </p:cNvPr>
          <p:cNvSpPr>
            <a:spLocks noGrp="1"/>
          </p:cNvSpPr>
          <p:nvPr>
            <p:ph idx="1"/>
          </p:nvPr>
        </p:nvSpPr>
        <p:spPr>
          <a:xfrm>
            <a:off x="677334" y="1297858"/>
            <a:ext cx="10767414" cy="5014451"/>
          </a:xfrm>
        </p:spPr>
        <p:txBody>
          <a:bodyPr/>
          <a:lstStyle/>
          <a:p>
            <a:pPr>
              <a:buClr>
                <a:schemeClr val="tx1"/>
              </a:buClr>
              <a:buFont typeface="Wingdings" panose="05000000000000000000" pitchFamily="2" charset="2"/>
              <a:buChar char="§"/>
            </a:pPr>
            <a:r>
              <a:rPr lang="en-US" sz="2400" b="1" dirty="0">
                <a:solidFill>
                  <a:schemeClr val="tx1"/>
                </a:solidFill>
              </a:rPr>
              <a:t>Requirements are likely to change:</a:t>
            </a:r>
            <a:r>
              <a:rPr lang="en-US" sz="2400" dirty="0">
                <a:solidFill>
                  <a:schemeClr val="tx1"/>
                </a:solidFill>
              </a:rPr>
              <a:t> </a:t>
            </a:r>
            <a:r>
              <a:rPr lang="en-US" sz="2400" dirty="0" err="1">
                <a:solidFill>
                  <a:schemeClr val="tx1"/>
                </a:solidFill>
              </a:rPr>
              <a:t>Agile's</a:t>
            </a:r>
            <a:r>
              <a:rPr lang="en-US" sz="2400" dirty="0">
                <a:solidFill>
                  <a:schemeClr val="tx1"/>
                </a:solidFill>
              </a:rPr>
              <a:t> flexible, iterative approach is ideal for projects with evolving needs.</a:t>
            </a:r>
          </a:p>
          <a:p>
            <a:pPr>
              <a:buClr>
                <a:schemeClr val="tx1"/>
              </a:buClr>
              <a:buFont typeface="Wingdings" panose="05000000000000000000" pitchFamily="2" charset="2"/>
              <a:buChar char="§"/>
            </a:pPr>
            <a:r>
              <a:rPr lang="en-US" sz="2400" b="1" dirty="0">
                <a:solidFill>
                  <a:schemeClr val="tx1"/>
                </a:solidFill>
              </a:rPr>
              <a:t>Fast delivery is a priority:</a:t>
            </a:r>
            <a:r>
              <a:rPr lang="en-US" sz="2400" dirty="0">
                <a:solidFill>
                  <a:schemeClr val="tx1"/>
                </a:solidFill>
              </a:rPr>
              <a:t> It allows for incremental releases of functional parts of the product.</a:t>
            </a:r>
          </a:p>
          <a:p>
            <a:pPr>
              <a:buClr>
                <a:schemeClr val="tx1"/>
              </a:buClr>
              <a:buFont typeface="Wingdings" panose="05000000000000000000" pitchFamily="2" charset="2"/>
              <a:buChar char="§"/>
            </a:pPr>
            <a:r>
              <a:rPr lang="en-US" sz="2400" b="1" dirty="0">
                <a:solidFill>
                  <a:schemeClr val="tx1"/>
                </a:solidFill>
              </a:rPr>
              <a:t>Customer feedback is crucial:</a:t>
            </a:r>
            <a:r>
              <a:rPr lang="en-US" sz="2400" dirty="0">
                <a:solidFill>
                  <a:schemeClr val="tx1"/>
                </a:solidFill>
              </a:rPr>
              <a:t> The methodology builds in continuous collaboration and feedback loops.</a:t>
            </a:r>
          </a:p>
          <a:p>
            <a:pPr>
              <a:buClr>
                <a:schemeClr val="tx1"/>
              </a:buClr>
              <a:buFont typeface="Wingdings" panose="05000000000000000000" pitchFamily="2" charset="2"/>
              <a:buChar char="§"/>
            </a:pPr>
            <a:r>
              <a:rPr lang="en-US" sz="2400" b="1" dirty="0">
                <a:solidFill>
                  <a:schemeClr val="tx1"/>
                </a:solidFill>
              </a:rPr>
              <a:t>The project is complex or uncertain:</a:t>
            </a:r>
            <a:r>
              <a:rPr lang="en-US" sz="2400" dirty="0">
                <a:solidFill>
                  <a:schemeClr val="tx1"/>
                </a:solidFill>
              </a:rPr>
              <a:t> It accommodates innovation and emerging technologies by allowing for rapid iterations.</a:t>
            </a:r>
          </a:p>
          <a:p>
            <a:pPr>
              <a:buClr>
                <a:schemeClr val="tx1"/>
              </a:buClr>
              <a:buFont typeface="Wingdings" panose="05000000000000000000" pitchFamily="2" charset="2"/>
              <a:buChar char="§"/>
            </a:pPr>
            <a:r>
              <a:rPr lang="en-US" sz="2400" b="1" dirty="0">
                <a:solidFill>
                  <a:schemeClr val="tx1"/>
                </a:solidFill>
              </a:rPr>
              <a:t>Cross-functional teams work collaboratively:</a:t>
            </a:r>
            <a:r>
              <a:rPr lang="en-US" sz="2400" dirty="0">
                <a:solidFill>
                  <a:schemeClr val="tx1"/>
                </a:solidFill>
              </a:rPr>
              <a:t> Agile thrives when developers, designers, and testers work together in cycles. </a:t>
            </a:r>
          </a:p>
          <a:p>
            <a:endParaRPr lang="en-IN" dirty="0"/>
          </a:p>
        </p:txBody>
      </p:sp>
    </p:spTree>
    <p:extLst>
      <p:ext uri="{BB962C8B-B14F-4D97-AF65-F5344CB8AC3E}">
        <p14:creationId xmlns:p14="http://schemas.microsoft.com/office/powerpoint/2010/main" val="29525365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EC96E-CBAB-0651-6F45-F6C0E71AD3F7}"/>
              </a:ext>
            </a:extLst>
          </p:cNvPr>
          <p:cNvSpPr>
            <a:spLocks noGrp="1"/>
          </p:cNvSpPr>
          <p:nvPr>
            <p:ph type="title"/>
          </p:nvPr>
        </p:nvSpPr>
        <p:spPr>
          <a:xfrm>
            <a:off x="677334" y="609600"/>
            <a:ext cx="8958280" cy="609600"/>
          </a:xfrm>
        </p:spPr>
        <p:txBody>
          <a:bodyPr>
            <a:normAutofit fontScale="90000"/>
          </a:bodyPr>
          <a:lstStyle/>
          <a:p>
            <a:r>
              <a:rPr lang="en-US" b="1" dirty="0">
                <a:solidFill>
                  <a:schemeClr val="tx1"/>
                </a:solidFill>
              </a:rPr>
              <a:t>Stakeholder management</a:t>
            </a:r>
            <a:endParaRPr lang="en-IN" b="1" dirty="0">
              <a:solidFill>
                <a:schemeClr val="tx1"/>
              </a:solidFill>
            </a:endParaRPr>
          </a:p>
        </p:txBody>
      </p:sp>
      <p:sp>
        <p:nvSpPr>
          <p:cNvPr id="3" name="Content Placeholder 2">
            <a:extLst>
              <a:ext uri="{FF2B5EF4-FFF2-40B4-BE49-F238E27FC236}">
                <a16:creationId xmlns:a16="http://schemas.microsoft.com/office/drawing/2014/main" id="{CA8FB259-257A-FBA4-9827-46FBE5A16DF9}"/>
              </a:ext>
            </a:extLst>
          </p:cNvPr>
          <p:cNvSpPr>
            <a:spLocks noGrp="1"/>
          </p:cNvSpPr>
          <p:nvPr>
            <p:ph idx="1"/>
          </p:nvPr>
        </p:nvSpPr>
        <p:spPr>
          <a:xfrm>
            <a:off x="677333" y="1524000"/>
            <a:ext cx="10393789" cy="5004619"/>
          </a:xfrm>
        </p:spPr>
        <p:txBody>
          <a:bodyPr>
            <a:normAutofit/>
          </a:bodyPr>
          <a:lstStyle/>
          <a:p>
            <a:pPr marL="0" indent="0">
              <a:buNone/>
            </a:pPr>
            <a:r>
              <a:rPr lang="en-US" sz="2400" dirty="0">
                <a:solidFill>
                  <a:schemeClr val="tx1"/>
                </a:solidFill>
              </a:rPr>
              <a:t>Stakeholder management is the process of identifying, analyzing, and engaging with individuals, groups, or organizations that can affect or are affected by a project or business. Its goal is to manage stakeholders' interests and expectations to ensure the initiative's success by building positive relationships and trust. This involves communication, understanding their needs, and managing expectations to achieve the project's objectives.</a:t>
            </a:r>
            <a:endParaRPr lang="en-IN" sz="2400" dirty="0">
              <a:solidFill>
                <a:schemeClr val="tx1"/>
              </a:solidFill>
            </a:endParaRPr>
          </a:p>
        </p:txBody>
      </p:sp>
    </p:spTree>
    <p:extLst>
      <p:ext uri="{BB962C8B-B14F-4D97-AF65-F5344CB8AC3E}">
        <p14:creationId xmlns:p14="http://schemas.microsoft.com/office/powerpoint/2010/main" val="2462919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F1B9B-3DAB-0397-F8A1-18C27DE6BC7E}"/>
              </a:ext>
            </a:extLst>
          </p:cNvPr>
          <p:cNvSpPr>
            <a:spLocks noGrp="1"/>
          </p:cNvSpPr>
          <p:nvPr>
            <p:ph type="title"/>
          </p:nvPr>
        </p:nvSpPr>
        <p:spPr>
          <a:xfrm>
            <a:off x="677334" y="609600"/>
            <a:ext cx="8596668" cy="678426"/>
          </a:xfrm>
        </p:spPr>
        <p:txBody>
          <a:bodyPr>
            <a:normAutofit fontScale="90000"/>
          </a:bodyPr>
          <a:lstStyle/>
          <a:p>
            <a:r>
              <a:rPr lang="en-US" b="1" dirty="0">
                <a:solidFill>
                  <a:schemeClr val="tx1"/>
                </a:solidFill>
              </a:rPr>
              <a:t>The Benefits of Stakeholder Management</a:t>
            </a:r>
            <a:br>
              <a:rPr lang="en-US" b="1" dirty="0"/>
            </a:br>
            <a:endParaRPr lang="en-IN" dirty="0"/>
          </a:p>
        </p:txBody>
      </p:sp>
      <p:sp>
        <p:nvSpPr>
          <p:cNvPr id="3" name="Content Placeholder 2">
            <a:extLst>
              <a:ext uri="{FF2B5EF4-FFF2-40B4-BE49-F238E27FC236}">
                <a16:creationId xmlns:a16="http://schemas.microsoft.com/office/drawing/2014/main" id="{7A9E72E8-73C1-4CB0-85E8-7DAD73E27C00}"/>
              </a:ext>
            </a:extLst>
          </p:cNvPr>
          <p:cNvSpPr>
            <a:spLocks noGrp="1"/>
          </p:cNvSpPr>
          <p:nvPr>
            <p:ph idx="1"/>
          </p:nvPr>
        </p:nvSpPr>
        <p:spPr>
          <a:xfrm>
            <a:off x="677333" y="1366685"/>
            <a:ext cx="10796911" cy="4984954"/>
          </a:xfrm>
        </p:spPr>
        <p:txBody>
          <a:bodyPr/>
          <a:lstStyle/>
          <a:p>
            <a:pPr marL="0" indent="0">
              <a:buNone/>
            </a:pPr>
            <a:r>
              <a:rPr lang="en-US" dirty="0">
                <a:solidFill>
                  <a:schemeClr val="tx1"/>
                </a:solidFill>
              </a:rPr>
              <a:t>Effective stakeholder management leads to improve project success by ensuring clearer communication, managing expectations, and fostering stronger relationships.</a:t>
            </a:r>
          </a:p>
          <a:p>
            <a:pPr marL="0" indent="0">
              <a:buNone/>
            </a:pPr>
            <a:r>
              <a:rPr lang="en-IN" sz="2000" b="1" dirty="0">
                <a:solidFill>
                  <a:schemeClr val="tx1"/>
                </a:solidFill>
              </a:rPr>
              <a:t>Project and operational benefits</a:t>
            </a:r>
            <a:endParaRPr lang="en-IN" sz="2000" dirty="0">
              <a:solidFill>
                <a:schemeClr val="tx1"/>
              </a:solidFill>
            </a:endParaRPr>
          </a:p>
          <a:p>
            <a:pPr lvl="0">
              <a:buClr>
                <a:schemeClr val="tx1"/>
              </a:buClr>
              <a:buFont typeface="Wingdings" panose="05000000000000000000" pitchFamily="2" charset="2"/>
              <a:buChar char="§"/>
            </a:pPr>
            <a:r>
              <a:rPr lang="en-IN" b="1" dirty="0">
                <a:solidFill>
                  <a:schemeClr val="tx1"/>
                </a:solidFill>
              </a:rPr>
              <a:t>Increases project success:</a:t>
            </a:r>
            <a:r>
              <a:rPr lang="en-IN" dirty="0">
                <a:solidFill>
                  <a:schemeClr val="tx1"/>
                </a:solidFill>
              </a:rPr>
              <a:t> Involving stakeholders early and often helps to ensure project requirements are fully understood and accepted, increasing the likelihood of a successful outcome.</a:t>
            </a:r>
          </a:p>
          <a:p>
            <a:pPr lvl="0">
              <a:buClr>
                <a:schemeClr val="tx1"/>
              </a:buClr>
              <a:buFont typeface="Wingdings" panose="05000000000000000000" pitchFamily="2" charset="2"/>
              <a:buChar char="§"/>
            </a:pPr>
            <a:r>
              <a:rPr lang="en-IN" b="1" dirty="0">
                <a:solidFill>
                  <a:schemeClr val="tx1"/>
                </a:solidFill>
              </a:rPr>
              <a:t>Manages and mitigates risk:</a:t>
            </a:r>
            <a:r>
              <a:rPr lang="en-IN" dirty="0">
                <a:solidFill>
                  <a:schemeClr val="tx1"/>
                </a:solidFill>
              </a:rPr>
              <a:t> Identifying stakeholders and their concerns early allows for the development of risk management strategies and helps prevent delays and disruptions.</a:t>
            </a:r>
          </a:p>
          <a:p>
            <a:pPr lvl="0">
              <a:buClr>
                <a:schemeClr val="tx1"/>
              </a:buClr>
              <a:buFont typeface="Wingdings" panose="05000000000000000000" pitchFamily="2" charset="2"/>
              <a:buChar char="§"/>
            </a:pPr>
            <a:r>
              <a:rPr lang="en-IN" b="1" dirty="0">
                <a:solidFill>
                  <a:schemeClr val="tx1"/>
                </a:solidFill>
              </a:rPr>
              <a:t>Improves decision-making:</a:t>
            </a:r>
            <a:r>
              <a:rPr lang="en-IN" dirty="0">
                <a:solidFill>
                  <a:schemeClr val="tx1"/>
                </a:solidFill>
              </a:rPr>
              <a:t> A clear understanding of stakeholders, their needs, and their resources enables more effective stewardship of time and financial resources.</a:t>
            </a:r>
          </a:p>
          <a:p>
            <a:pPr lvl="0">
              <a:buClr>
                <a:schemeClr val="tx1"/>
              </a:buClr>
              <a:buFont typeface="Wingdings" panose="05000000000000000000" pitchFamily="2" charset="2"/>
              <a:buChar char="§"/>
            </a:pPr>
            <a:r>
              <a:rPr lang="en-IN" b="1" dirty="0">
                <a:solidFill>
                  <a:schemeClr val="tx1"/>
                </a:solidFill>
              </a:rPr>
              <a:t>Boosts engagement and motivation:</a:t>
            </a:r>
            <a:r>
              <a:rPr lang="en-IN" dirty="0">
                <a:solidFill>
                  <a:schemeClr val="tx1"/>
                </a:solidFill>
              </a:rPr>
              <a:t> Clarifying roles and expectations encourages more active and effective participation from stakeholders.</a:t>
            </a:r>
          </a:p>
          <a:p>
            <a:pPr lvl="0">
              <a:buClr>
                <a:schemeClr val="tx1"/>
              </a:buClr>
              <a:buFont typeface="Wingdings" panose="05000000000000000000" pitchFamily="2" charset="2"/>
              <a:buChar char="§"/>
            </a:pPr>
            <a:r>
              <a:rPr lang="en-IN" b="1" dirty="0">
                <a:solidFill>
                  <a:schemeClr val="tx1"/>
                </a:solidFill>
              </a:rPr>
              <a:t>Fosters collaboration:</a:t>
            </a:r>
            <a:r>
              <a:rPr lang="en-IN" dirty="0">
                <a:solidFill>
                  <a:schemeClr val="tx1"/>
                </a:solidFill>
              </a:rPr>
              <a:t> Communication and collaboration are improved when an organization understands stakeholder preferences and roles, leading to greater efficiency. </a:t>
            </a:r>
          </a:p>
          <a:p>
            <a:endParaRPr lang="en-IN" dirty="0"/>
          </a:p>
        </p:txBody>
      </p:sp>
    </p:spTree>
    <p:extLst>
      <p:ext uri="{BB962C8B-B14F-4D97-AF65-F5344CB8AC3E}">
        <p14:creationId xmlns:p14="http://schemas.microsoft.com/office/powerpoint/2010/main" val="40517625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DDB3F-BE7C-01C9-77B6-E60519172F82}"/>
              </a:ext>
            </a:extLst>
          </p:cNvPr>
          <p:cNvSpPr>
            <a:spLocks noGrp="1"/>
          </p:cNvSpPr>
          <p:nvPr>
            <p:ph idx="1"/>
          </p:nvPr>
        </p:nvSpPr>
        <p:spPr>
          <a:xfrm>
            <a:off x="628172" y="821274"/>
            <a:ext cx="10315131" cy="5215452"/>
          </a:xfrm>
        </p:spPr>
        <p:txBody>
          <a:bodyPr/>
          <a:lstStyle/>
          <a:p>
            <a:pPr marL="0" indent="0">
              <a:buNone/>
            </a:pPr>
            <a:r>
              <a:rPr lang="en-IN" sz="2000" b="1" dirty="0">
                <a:solidFill>
                  <a:schemeClr val="tx1"/>
                </a:solidFill>
              </a:rPr>
              <a:t>Relationship</a:t>
            </a:r>
            <a:r>
              <a:rPr lang="en-IN" b="1" dirty="0">
                <a:solidFill>
                  <a:schemeClr val="tx1"/>
                </a:solidFill>
              </a:rPr>
              <a:t> </a:t>
            </a:r>
            <a:r>
              <a:rPr lang="en-IN" sz="2000" b="1" dirty="0">
                <a:solidFill>
                  <a:schemeClr val="tx1"/>
                </a:solidFill>
              </a:rPr>
              <a:t>and trust benefits</a:t>
            </a:r>
          </a:p>
          <a:p>
            <a:pPr lvl="0">
              <a:buClr>
                <a:schemeClr val="tx1"/>
              </a:buClr>
              <a:buFont typeface="Wingdings" panose="05000000000000000000" pitchFamily="2" charset="2"/>
              <a:buChar char="§"/>
            </a:pPr>
            <a:r>
              <a:rPr lang="en-IN" b="1" dirty="0">
                <a:solidFill>
                  <a:schemeClr val="tx1"/>
                </a:solidFill>
              </a:rPr>
              <a:t>Builds trust and confidence:</a:t>
            </a:r>
            <a:r>
              <a:rPr lang="en-IN" dirty="0">
                <a:solidFill>
                  <a:schemeClr val="tx1"/>
                </a:solidFill>
              </a:rPr>
              <a:t> Transparent and clear communication demonstrates a commitment to stakeholders' needs and builds trust.</a:t>
            </a:r>
          </a:p>
          <a:p>
            <a:pPr lvl="0">
              <a:buClr>
                <a:schemeClr val="tx1"/>
              </a:buClr>
              <a:buFont typeface="Wingdings" panose="05000000000000000000" pitchFamily="2" charset="2"/>
              <a:buChar char="§"/>
            </a:pPr>
            <a:r>
              <a:rPr lang="en-IN" b="1" dirty="0">
                <a:solidFill>
                  <a:schemeClr val="tx1"/>
                </a:solidFill>
              </a:rPr>
              <a:t>Strengthens relationships:</a:t>
            </a:r>
            <a:r>
              <a:rPr lang="en-IN" dirty="0">
                <a:solidFill>
                  <a:schemeClr val="tx1"/>
                </a:solidFill>
              </a:rPr>
              <a:t> Proactive engagement helps to build and maintain strong relationships with all parties involved.</a:t>
            </a:r>
          </a:p>
          <a:p>
            <a:pPr lvl="0">
              <a:buClr>
                <a:schemeClr val="tx1"/>
              </a:buClr>
              <a:buFont typeface="Wingdings" panose="05000000000000000000" pitchFamily="2" charset="2"/>
              <a:buChar char="§"/>
            </a:pPr>
            <a:r>
              <a:rPr lang="en-IN" b="1" dirty="0">
                <a:solidFill>
                  <a:schemeClr val="tx1"/>
                </a:solidFill>
              </a:rPr>
              <a:t>Manages expectations:</a:t>
            </a:r>
            <a:r>
              <a:rPr lang="en-IN" dirty="0">
                <a:solidFill>
                  <a:schemeClr val="tx1"/>
                </a:solidFill>
              </a:rPr>
              <a:t> A structured approach ensures that stakeholder expectations are managed realistically, which increases satisfaction. </a:t>
            </a:r>
          </a:p>
          <a:p>
            <a:pPr marL="0" indent="0">
              <a:buNone/>
            </a:pPr>
            <a:r>
              <a:rPr lang="en-IN" sz="2000" b="1" dirty="0">
                <a:solidFill>
                  <a:schemeClr val="tx1"/>
                </a:solidFill>
              </a:rPr>
              <a:t>Strategic and competitive benefits</a:t>
            </a:r>
            <a:endParaRPr lang="en-IN" sz="2000" dirty="0">
              <a:solidFill>
                <a:schemeClr val="tx1"/>
              </a:solidFill>
            </a:endParaRPr>
          </a:p>
          <a:p>
            <a:pPr>
              <a:buClr>
                <a:schemeClr val="tx1"/>
              </a:buClr>
              <a:buFont typeface="Wingdings" panose="05000000000000000000" pitchFamily="2" charset="2"/>
              <a:buChar char="§"/>
            </a:pPr>
            <a:r>
              <a:rPr lang="en-IN" b="1" dirty="0">
                <a:solidFill>
                  <a:schemeClr val="tx1"/>
                </a:solidFill>
              </a:rPr>
              <a:t>Provides a competitive advantage: </a:t>
            </a:r>
            <a:r>
              <a:rPr lang="en-IN" dirty="0">
                <a:solidFill>
                  <a:schemeClr val="tx1"/>
                </a:solidFill>
              </a:rPr>
              <a:t>Understanding stakeholder interests can uncover opportunities for innovation and provide a competitive edge.</a:t>
            </a:r>
          </a:p>
          <a:p>
            <a:pPr>
              <a:buClr>
                <a:schemeClr val="tx1"/>
              </a:buClr>
              <a:buFont typeface="Wingdings" panose="05000000000000000000" pitchFamily="2" charset="2"/>
              <a:buChar char="§"/>
            </a:pPr>
            <a:r>
              <a:rPr lang="en-IN" b="1" dirty="0">
                <a:solidFill>
                  <a:schemeClr val="tx1"/>
                </a:solidFill>
              </a:rPr>
              <a:t>Enhances reputation: </a:t>
            </a:r>
            <a:r>
              <a:rPr lang="en-IN" dirty="0">
                <a:solidFill>
                  <a:schemeClr val="tx1"/>
                </a:solidFill>
              </a:rPr>
              <a:t>Proactively managing stakeholder relationships can improve a company's reputation and develop a social license to operate.</a:t>
            </a:r>
          </a:p>
          <a:p>
            <a:pPr>
              <a:buClr>
                <a:schemeClr val="tx1"/>
              </a:buClr>
              <a:buFont typeface="Wingdings" panose="05000000000000000000" pitchFamily="2" charset="2"/>
              <a:buChar char="§"/>
            </a:pPr>
            <a:r>
              <a:rPr lang="en-IN" b="1" dirty="0">
                <a:solidFill>
                  <a:schemeClr val="tx1"/>
                </a:solidFill>
              </a:rPr>
              <a:t>Offers "business intelligence": </a:t>
            </a:r>
            <a:r>
              <a:rPr lang="en-IN" dirty="0">
                <a:solidFill>
                  <a:schemeClr val="tx1"/>
                </a:solidFill>
              </a:rPr>
              <a:t>Insights from stakeholders about their needs can lead to new product or service ideas and identify areas for cost reduction or value maximization</a:t>
            </a:r>
            <a:r>
              <a:rPr lang="en-IN" b="1" dirty="0">
                <a:solidFill>
                  <a:schemeClr val="tx1"/>
                </a:solidFill>
              </a:rPr>
              <a:t>. </a:t>
            </a:r>
          </a:p>
          <a:p>
            <a:endParaRPr lang="en-IN" dirty="0"/>
          </a:p>
        </p:txBody>
      </p:sp>
    </p:spTree>
    <p:extLst>
      <p:ext uri="{BB962C8B-B14F-4D97-AF65-F5344CB8AC3E}">
        <p14:creationId xmlns:p14="http://schemas.microsoft.com/office/powerpoint/2010/main" val="32777647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794F2-74FD-56D0-E2FD-D6B16756A8F9}"/>
              </a:ext>
            </a:extLst>
          </p:cNvPr>
          <p:cNvSpPr>
            <a:spLocks noGrp="1"/>
          </p:cNvSpPr>
          <p:nvPr>
            <p:ph type="title"/>
          </p:nvPr>
        </p:nvSpPr>
        <p:spPr>
          <a:xfrm>
            <a:off x="677334" y="609600"/>
            <a:ext cx="8596668" cy="757084"/>
          </a:xfrm>
        </p:spPr>
        <p:txBody>
          <a:bodyPr>
            <a:normAutofit fontScale="90000"/>
          </a:bodyPr>
          <a:lstStyle/>
          <a:p>
            <a:r>
              <a:rPr lang="en-IN" b="1" dirty="0">
                <a:solidFill>
                  <a:schemeClr val="tx1"/>
                </a:solidFill>
              </a:rPr>
              <a:t>Key aspects of stakeholder management</a:t>
            </a:r>
            <a:br>
              <a:rPr lang="en-IN" b="1" dirty="0">
                <a:solidFill>
                  <a:schemeClr val="tx1"/>
                </a:solidFill>
              </a:rPr>
            </a:br>
            <a:endParaRPr lang="en-IN" b="1" dirty="0">
              <a:solidFill>
                <a:schemeClr val="tx1"/>
              </a:solidFill>
            </a:endParaRPr>
          </a:p>
        </p:txBody>
      </p:sp>
      <p:sp>
        <p:nvSpPr>
          <p:cNvPr id="3" name="Content Placeholder 2">
            <a:extLst>
              <a:ext uri="{FF2B5EF4-FFF2-40B4-BE49-F238E27FC236}">
                <a16:creationId xmlns:a16="http://schemas.microsoft.com/office/drawing/2014/main" id="{DEFD3C1C-5D72-7B10-9BB8-3AC4508C76B6}"/>
              </a:ext>
            </a:extLst>
          </p:cNvPr>
          <p:cNvSpPr>
            <a:spLocks noGrp="1"/>
          </p:cNvSpPr>
          <p:nvPr>
            <p:ph idx="1"/>
          </p:nvPr>
        </p:nvSpPr>
        <p:spPr>
          <a:xfrm>
            <a:off x="677333" y="1366685"/>
            <a:ext cx="10403621" cy="4674678"/>
          </a:xfrm>
        </p:spPr>
        <p:txBody>
          <a:bodyPr/>
          <a:lstStyle/>
          <a:p>
            <a:pPr lvl="0">
              <a:buClr>
                <a:schemeClr val="tx1"/>
              </a:buClr>
              <a:buFont typeface="Wingdings" panose="05000000000000000000" pitchFamily="2" charset="2"/>
              <a:buChar char="§"/>
            </a:pPr>
            <a:r>
              <a:rPr lang="en-IN" sz="2000" b="1" dirty="0">
                <a:solidFill>
                  <a:schemeClr val="tx1"/>
                </a:solidFill>
              </a:rPr>
              <a:t>Identification</a:t>
            </a:r>
            <a:r>
              <a:rPr lang="en-IN" sz="2000" dirty="0">
                <a:solidFill>
                  <a:schemeClr val="tx1"/>
                </a:solidFill>
              </a:rPr>
              <a:t>: Recognizing all individuals, groups, and organizations that have a vested interest in a project, such as employees, customers, investors, regulators, and local communities.</a:t>
            </a:r>
          </a:p>
          <a:p>
            <a:pPr lvl="0">
              <a:buClr>
                <a:schemeClr val="tx1"/>
              </a:buClr>
              <a:buFont typeface="Wingdings" panose="05000000000000000000" pitchFamily="2" charset="2"/>
              <a:buChar char="§"/>
            </a:pPr>
            <a:r>
              <a:rPr lang="en-IN" sz="2000" b="1" dirty="0">
                <a:solidFill>
                  <a:schemeClr val="tx1"/>
                </a:solidFill>
              </a:rPr>
              <a:t>Analysis</a:t>
            </a:r>
            <a:r>
              <a:rPr lang="en-IN" sz="2000" dirty="0">
                <a:solidFill>
                  <a:schemeClr val="tx1"/>
                </a:solidFill>
              </a:rPr>
              <a:t>: Understanding each stakeholder's needs, interests, influence, and potential impact on the project.</a:t>
            </a:r>
          </a:p>
          <a:p>
            <a:pPr lvl="0">
              <a:buClr>
                <a:schemeClr val="tx1"/>
              </a:buClr>
              <a:buFont typeface="Wingdings" panose="05000000000000000000" pitchFamily="2" charset="2"/>
              <a:buChar char="§"/>
            </a:pPr>
            <a:r>
              <a:rPr lang="en-IN" sz="2000" b="1" dirty="0">
                <a:solidFill>
                  <a:schemeClr val="tx1"/>
                </a:solidFill>
              </a:rPr>
              <a:t>Prioritization</a:t>
            </a:r>
            <a:r>
              <a:rPr lang="en-IN" sz="2000" dirty="0">
                <a:solidFill>
                  <a:schemeClr val="tx1"/>
                </a:solidFill>
              </a:rPr>
              <a:t>: Ranking stakeholders based on their importance and influence to focus on those with the most significant impact.</a:t>
            </a:r>
          </a:p>
          <a:p>
            <a:pPr lvl="0">
              <a:buClr>
                <a:schemeClr val="tx1"/>
              </a:buClr>
              <a:buFont typeface="Wingdings" panose="05000000000000000000" pitchFamily="2" charset="2"/>
              <a:buChar char="§"/>
            </a:pPr>
            <a:r>
              <a:rPr lang="en-IN" sz="2000" b="1" dirty="0">
                <a:solidFill>
                  <a:schemeClr val="tx1"/>
                </a:solidFill>
              </a:rPr>
              <a:t>Engagement</a:t>
            </a:r>
            <a:r>
              <a:rPr lang="en-IN" sz="2000" dirty="0">
                <a:solidFill>
                  <a:schemeClr val="tx1"/>
                </a:solidFill>
              </a:rPr>
              <a:t>: Developing and implementing strategies to interact and communicate effectively with stakeholders, which includes managing their expectations and building trust.</a:t>
            </a:r>
          </a:p>
          <a:p>
            <a:pPr lvl="0">
              <a:buClr>
                <a:schemeClr val="tx1"/>
              </a:buClr>
              <a:buFont typeface="Wingdings" panose="05000000000000000000" pitchFamily="2" charset="2"/>
              <a:buChar char="§"/>
            </a:pPr>
            <a:r>
              <a:rPr lang="en-IN" sz="2000" b="1" dirty="0">
                <a:solidFill>
                  <a:schemeClr val="tx1"/>
                </a:solidFill>
              </a:rPr>
              <a:t>Communication</a:t>
            </a:r>
            <a:r>
              <a:rPr lang="en-IN" sz="2000" dirty="0">
                <a:solidFill>
                  <a:schemeClr val="tx1"/>
                </a:solidFill>
              </a:rPr>
              <a:t>: Establishing clear and organized channels for communication to keep stakeholders informed and address their concerns proactively. </a:t>
            </a:r>
          </a:p>
          <a:p>
            <a:endParaRPr lang="en-IN" dirty="0"/>
          </a:p>
        </p:txBody>
      </p:sp>
    </p:spTree>
    <p:extLst>
      <p:ext uri="{BB962C8B-B14F-4D97-AF65-F5344CB8AC3E}">
        <p14:creationId xmlns:p14="http://schemas.microsoft.com/office/powerpoint/2010/main" val="41823067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AD9F0-53FB-0915-CCD0-87D226E4FC82}"/>
              </a:ext>
            </a:extLst>
          </p:cNvPr>
          <p:cNvSpPr>
            <a:spLocks noGrp="1"/>
          </p:cNvSpPr>
          <p:nvPr>
            <p:ph type="title"/>
          </p:nvPr>
        </p:nvSpPr>
        <p:spPr>
          <a:xfrm>
            <a:off x="677334" y="609600"/>
            <a:ext cx="8596668" cy="766916"/>
          </a:xfrm>
        </p:spPr>
        <p:txBody>
          <a:bodyPr>
            <a:normAutofit fontScale="90000"/>
          </a:bodyPr>
          <a:lstStyle/>
          <a:p>
            <a:r>
              <a:rPr lang="en-US" b="1" dirty="0">
                <a:solidFill>
                  <a:schemeClr val="tx1"/>
                </a:solidFill>
              </a:rPr>
              <a:t>What Is Scenario Analysis?</a:t>
            </a:r>
            <a:br>
              <a:rPr lang="en-IN" b="1" dirty="0"/>
            </a:br>
            <a:endParaRPr lang="en-IN" dirty="0"/>
          </a:p>
        </p:txBody>
      </p:sp>
      <p:sp>
        <p:nvSpPr>
          <p:cNvPr id="3" name="Content Placeholder 2">
            <a:extLst>
              <a:ext uri="{FF2B5EF4-FFF2-40B4-BE49-F238E27FC236}">
                <a16:creationId xmlns:a16="http://schemas.microsoft.com/office/drawing/2014/main" id="{4A702B25-78B5-F734-F021-5167CE2F2B3B}"/>
              </a:ext>
            </a:extLst>
          </p:cNvPr>
          <p:cNvSpPr>
            <a:spLocks noGrp="1"/>
          </p:cNvSpPr>
          <p:nvPr>
            <p:ph idx="1"/>
          </p:nvPr>
        </p:nvSpPr>
        <p:spPr>
          <a:xfrm>
            <a:off x="677334" y="1307691"/>
            <a:ext cx="10600266" cy="5142270"/>
          </a:xfrm>
        </p:spPr>
        <p:txBody>
          <a:bodyPr/>
          <a:lstStyle/>
          <a:p>
            <a:pPr marL="0" indent="0">
              <a:buNone/>
            </a:pPr>
            <a:r>
              <a:rPr lang="en-US" sz="2400" b="1" dirty="0">
                <a:solidFill>
                  <a:schemeClr val="tx1"/>
                </a:solidFill>
              </a:rPr>
              <a:t>Scenario analysis</a:t>
            </a:r>
            <a:r>
              <a:rPr lang="en-US" sz="2400" dirty="0">
                <a:solidFill>
                  <a:schemeClr val="tx1"/>
                </a:solidFill>
              </a:rPr>
              <a:t> in business is the process of creating and evaluating different possible future situations (scenarios) — such as best case, worst case, and most likely case — to understand their impact on the organization and make better decisions.</a:t>
            </a:r>
          </a:p>
          <a:p>
            <a:pPr marL="0" indent="0">
              <a:buNone/>
            </a:pPr>
            <a:r>
              <a:rPr lang="en-IN" sz="2400" b="1" dirty="0">
                <a:solidFill>
                  <a:schemeClr val="tx1"/>
                </a:solidFill>
              </a:rPr>
              <a:t>Purpose of Scenario Analysis:</a:t>
            </a:r>
          </a:p>
          <a:p>
            <a:r>
              <a:rPr lang="en-IN" sz="2400" dirty="0">
                <a:solidFill>
                  <a:schemeClr val="tx1"/>
                </a:solidFill>
              </a:rPr>
              <a:t>To </a:t>
            </a:r>
            <a:r>
              <a:rPr lang="en-IN" sz="2400" b="1" dirty="0">
                <a:solidFill>
                  <a:schemeClr val="tx1"/>
                </a:solidFill>
              </a:rPr>
              <a:t>anticipate risks and opportunities</a:t>
            </a:r>
            <a:endParaRPr lang="en-IN" sz="2400" dirty="0">
              <a:solidFill>
                <a:schemeClr val="tx1"/>
              </a:solidFill>
            </a:endParaRPr>
          </a:p>
          <a:p>
            <a:r>
              <a:rPr lang="en-IN" sz="2400" dirty="0">
                <a:solidFill>
                  <a:schemeClr val="tx1"/>
                </a:solidFill>
              </a:rPr>
              <a:t>To see how changes in key factors (price, demand, cost, interest rates, etc.) will </a:t>
            </a:r>
            <a:r>
              <a:rPr lang="en-IN" sz="2400" b="1" dirty="0">
                <a:solidFill>
                  <a:schemeClr val="tx1"/>
                </a:solidFill>
              </a:rPr>
              <a:t>affect profit, cash flow, growth, etc.</a:t>
            </a:r>
            <a:endParaRPr lang="en-IN" sz="2400" dirty="0">
              <a:solidFill>
                <a:schemeClr val="tx1"/>
              </a:solidFill>
            </a:endParaRPr>
          </a:p>
          <a:p>
            <a:r>
              <a:rPr lang="en-IN" sz="2400" dirty="0">
                <a:solidFill>
                  <a:schemeClr val="tx1"/>
                </a:solidFill>
              </a:rPr>
              <a:t>To support </a:t>
            </a:r>
            <a:r>
              <a:rPr lang="en-IN" sz="2400" b="1" dirty="0">
                <a:solidFill>
                  <a:schemeClr val="tx1"/>
                </a:solidFill>
              </a:rPr>
              <a:t>strategic planning</a:t>
            </a:r>
            <a:r>
              <a:rPr lang="en-IN" sz="2400" dirty="0">
                <a:solidFill>
                  <a:schemeClr val="tx1"/>
                </a:solidFill>
              </a:rPr>
              <a:t> and </a:t>
            </a:r>
            <a:r>
              <a:rPr lang="en-IN" sz="2400" b="1" dirty="0">
                <a:solidFill>
                  <a:schemeClr val="tx1"/>
                </a:solidFill>
              </a:rPr>
              <a:t>decision-making</a:t>
            </a:r>
            <a:endParaRPr lang="en-IN" sz="2400" dirty="0">
              <a:solidFill>
                <a:schemeClr val="tx1"/>
              </a:solidFill>
            </a:endParaRPr>
          </a:p>
          <a:p>
            <a:r>
              <a:rPr lang="en-IN" sz="2400" dirty="0">
                <a:solidFill>
                  <a:schemeClr val="tx1"/>
                </a:solidFill>
              </a:rPr>
              <a:t>To avoid being shocked by sudden changes in the market or environment</a:t>
            </a:r>
          </a:p>
          <a:p>
            <a:pPr marL="0" indent="0">
              <a:buNone/>
            </a:pPr>
            <a:endParaRPr lang="en-IN" dirty="0"/>
          </a:p>
        </p:txBody>
      </p:sp>
    </p:spTree>
    <p:extLst>
      <p:ext uri="{BB962C8B-B14F-4D97-AF65-F5344CB8AC3E}">
        <p14:creationId xmlns:p14="http://schemas.microsoft.com/office/powerpoint/2010/main" val="11602677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7F118-A337-EEB0-F260-9CEDDBA7E479}"/>
              </a:ext>
            </a:extLst>
          </p:cNvPr>
          <p:cNvSpPr>
            <a:spLocks noGrp="1"/>
          </p:cNvSpPr>
          <p:nvPr>
            <p:ph idx="1"/>
          </p:nvPr>
        </p:nvSpPr>
        <p:spPr>
          <a:xfrm>
            <a:off x="677334" y="570271"/>
            <a:ext cx="10610098" cy="5471091"/>
          </a:xfrm>
        </p:spPr>
        <p:txBody>
          <a:bodyPr>
            <a:normAutofit/>
          </a:bodyPr>
          <a:lstStyle/>
          <a:p>
            <a:pPr marL="0" indent="0">
              <a:buNone/>
            </a:pPr>
            <a:r>
              <a:rPr lang="en-IN" sz="2000" b="1" dirty="0">
                <a:solidFill>
                  <a:schemeClr val="tx1"/>
                </a:solidFill>
              </a:rPr>
              <a:t>Examples:</a:t>
            </a:r>
          </a:p>
          <a:p>
            <a:pPr marL="0" indent="0">
              <a:buNone/>
            </a:pPr>
            <a:r>
              <a:rPr lang="en-US" sz="2000" b="1" dirty="0">
                <a:solidFill>
                  <a:schemeClr val="tx1"/>
                </a:solidFill>
              </a:rPr>
              <a:t>1. Sales Revenue Scenario</a:t>
            </a:r>
          </a:p>
          <a:p>
            <a:pPr marL="0" indent="0">
              <a:buNone/>
            </a:pPr>
            <a:r>
              <a:rPr lang="en-US" b="1" dirty="0">
                <a:solidFill>
                  <a:schemeClr val="tx1"/>
                </a:solidFill>
              </a:rPr>
              <a:t>Business Question:</a:t>
            </a:r>
            <a:br>
              <a:rPr lang="en-US" b="1" dirty="0">
                <a:solidFill>
                  <a:schemeClr val="tx1"/>
                </a:solidFill>
              </a:rPr>
            </a:br>
            <a:r>
              <a:rPr lang="en-US" dirty="0">
                <a:solidFill>
                  <a:schemeClr val="tx1"/>
                </a:solidFill>
              </a:rPr>
              <a:t>“What happens to our profit if sales go up or down?”</a:t>
            </a:r>
          </a:p>
          <a:p>
            <a:pPr marL="0" indent="0">
              <a:buNone/>
            </a:pPr>
            <a:r>
              <a:rPr lang="en-US" b="1" dirty="0">
                <a:solidFill>
                  <a:schemeClr val="tx1"/>
                </a:solidFill>
              </a:rPr>
              <a:t>Scenarios:</a:t>
            </a:r>
          </a:p>
          <a:p>
            <a:pPr>
              <a:buClr>
                <a:schemeClr val="tx1"/>
              </a:buClr>
              <a:buFont typeface="Wingdings" panose="05000000000000000000" pitchFamily="2" charset="2"/>
              <a:buChar char="§"/>
            </a:pPr>
            <a:r>
              <a:rPr lang="en-US" dirty="0">
                <a:solidFill>
                  <a:schemeClr val="tx1"/>
                </a:solidFill>
              </a:rPr>
              <a:t>Best-case: Sales increase by 30%</a:t>
            </a:r>
          </a:p>
          <a:p>
            <a:pPr>
              <a:buClr>
                <a:schemeClr val="tx1"/>
              </a:buClr>
              <a:buFont typeface="Wingdings" panose="05000000000000000000" pitchFamily="2" charset="2"/>
              <a:buChar char="§"/>
            </a:pPr>
            <a:r>
              <a:rPr lang="en-US" dirty="0">
                <a:solidFill>
                  <a:schemeClr val="tx1"/>
                </a:solidFill>
              </a:rPr>
              <a:t>Most-likely: Sales increase by 10%</a:t>
            </a:r>
          </a:p>
          <a:p>
            <a:pPr>
              <a:buClr>
                <a:schemeClr val="tx1"/>
              </a:buClr>
              <a:buFont typeface="Wingdings" panose="05000000000000000000" pitchFamily="2" charset="2"/>
              <a:buChar char="§"/>
            </a:pPr>
            <a:r>
              <a:rPr lang="en-US" dirty="0">
                <a:solidFill>
                  <a:schemeClr val="tx1"/>
                </a:solidFill>
              </a:rPr>
              <a:t>Worst-case: Sales decrease by 15%</a:t>
            </a:r>
          </a:p>
          <a:p>
            <a:pPr marL="0" indent="0">
              <a:buNone/>
            </a:pPr>
            <a:r>
              <a:rPr lang="en-US" b="1" dirty="0">
                <a:solidFill>
                  <a:schemeClr val="tx1"/>
                </a:solidFill>
              </a:rPr>
              <a:t>Analysis:</a:t>
            </a:r>
            <a:br>
              <a:rPr lang="en-US" dirty="0">
                <a:solidFill>
                  <a:schemeClr val="tx1"/>
                </a:solidFill>
              </a:rPr>
            </a:br>
            <a:r>
              <a:rPr lang="en-US" dirty="0">
                <a:solidFill>
                  <a:schemeClr val="tx1"/>
                </a:solidFill>
              </a:rPr>
              <a:t>The company calculates revenue and profit under each scenario and decides:</a:t>
            </a:r>
          </a:p>
          <a:p>
            <a:pPr>
              <a:buClr>
                <a:schemeClr val="tx1"/>
              </a:buClr>
              <a:buFont typeface="Wingdings" panose="05000000000000000000" pitchFamily="2" charset="2"/>
              <a:buChar char="§"/>
            </a:pPr>
            <a:r>
              <a:rPr lang="en-US" dirty="0">
                <a:solidFill>
                  <a:schemeClr val="tx1"/>
                </a:solidFill>
              </a:rPr>
              <a:t>How much stock to buy</a:t>
            </a:r>
          </a:p>
          <a:p>
            <a:pPr>
              <a:buClr>
                <a:schemeClr val="tx1"/>
              </a:buClr>
              <a:buFont typeface="Wingdings" panose="05000000000000000000" pitchFamily="2" charset="2"/>
              <a:buChar char="§"/>
            </a:pPr>
            <a:r>
              <a:rPr lang="en-US" dirty="0">
                <a:solidFill>
                  <a:schemeClr val="tx1"/>
                </a:solidFill>
              </a:rPr>
              <a:t>Whether to hire more staff</a:t>
            </a:r>
          </a:p>
          <a:p>
            <a:pPr>
              <a:buClr>
                <a:schemeClr val="tx1"/>
              </a:buClr>
              <a:buFont typeface="Wingdings" panose="05000000000000000000" pitchFamily="2" charset="2"/>
              <a:buChar char="§"/>
            </a:pPr>
            <a:r>
              <a:rPr lang="en-US" dirty="0">
                <a:solidFill>
                  <a:schemeClr val="tx1"/>
                </a:solidFill>
              </a:rPr>
              <a:t>Whether to offer discounts</a:t>
            </a:r>
          </a:p>
          <a:p>
            <a:pPr marL="0" indent="0">
              <a:buNone/>
            </a:pPr>
            <a:r>
              <a:rPr lang="en-US" b="1" dirty="0">
                <a:solidFill>
                  <a:schemeClr val="tx1"/>
                </a:solidFill>
              </a:rPr>
              <a:t>Helps in sales planning and budgeting.</a:t>
            </a:r>
          </a:p>
          <a:p>
            <a:pPr marL="0" indent="0">
              <a:buNone/>
            </a:pPr>
            <a:endParaRPr lang="en-IN" dirty="0">
              <a:solidFill>
                <a:schemeClr val="tx1"/>
              </a:solidFill>
            </a:endParaRPr>
          </a:p>
        </p:txBody>
      </p:sp>
    </p:spTree>
    <p:extLst>
      <p:ext uri="{BB962C8B-B14F-4D97-AF65-F5344CB8AC3E}">
        <p14:creationId xmlns:p14="http://schemas.microsoft.com/office/powerpoint/2010/main" val="40937546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0CF4DC-BC4F-0B14-E5CE-6C679F0E612B}"/>
              </a:ext>
            </a:extLst>
          </p:cNvPr>
          <p:cNvSpPr>
            <a:spLocks noGrp="1"/>
          </p:cNvSpPr>
          <p:nvPr>
            <p:ph idx="1"/>
          </p:nvPr>
        </p:nvSpPr>
        <p:spPr>
          <a:xfrm>
            <a:off x="677334" y="648929"/>
            <a:ext cx="10580602" cy="5653548"/>
          </a:xfrm>
        </p:spPr>
        <p:txBody>
          <a:bodyPr/>
          <a:lstStyle/>
          <a:p>
            <a:pPr marL="0" indent="0">
              <a:buNone/>
            </a:pPr>
            <a:r>
              <a:rPr lang="en-US" b="1" dirty="0">
                <a:solidFill>
                  <a:schemeClr val="tx1"/>
                </a:solidFill>
              </a:rPr>
              <a:t>2. New Product Launch Scenario</a:t>
            </a:r>
          </a:p>
          <a:p>
            <a:pPr marL="0" indent="0">
              <a:buNone/>
            </a:pPr>
            <a:r>
              <a:rPr lang="en-US" b="1" dirty="0">
                <a:solidFill>
                  <a:schemeClr val="tx1"/>
                </a:solidFill>
              </a:rPr>
              <a:t>Business Question:</a:t>
            </a:r>
            <a:br>
              <a:rPr lang="en-US" dirty="0">
                <a:solidFill>
                  <a:schemeClr val="tx1"/>
                </a:solidFill>
              </a:rPr>
            </a:br>
            <a:r>
              <a:rPr lang="en-US" dirty="0">
                <a:solidFill>
                  <a:schemeClr val="tx1"/>
                </a:solidFill>
              </a:rPr>
              <a:t>“Should we launch a new product next year?”</a:t>
            </a:r>
          </a:p>
          <a:p>
            <a:pPr marL="0" indent="0">
              <a:buNone/>
            </a:pPr>
            <a:r>
              <a:rPr lang="en-US" b="1" dirty="0">
                <a:solidFill>
                  <a:schemeClr val="tx1"/>
                </a:solidFill>
              </a:rPr>
              <a:t>Scenarios:</a:t>
            </a:r>
            <a:endParaRPr lang="en-US" dirty="0">
              <a:solidFill>
                <a:schemeClr val="tx1"/>
              </a:solidFill>
            </a:endParaRPr>
          </a:p>
          <a:p>
            <a:pPr>
              <a:buClr>
                <a:schemeClr val="tx1"/>
              </a:buClr>
              <a:buFont typeface="Wingdings" panose="05000000000000000000" pitchFamily="2" charset="2"/>
              <a:buChar char="§"/>
            </a:pPr>
            <a:r>
              <a:rPr lang="en-US" b="1" dirty="0">
                <a:solidFill>
                  <a:schemeClr val="tx1"/>
                </a:solidFill>
              </a:rPr>
              <a:t>Best-case:</a:t>
            </a:r>
            <a:r>
              <a:rPr lang="en-US" dirty="0">
                <a:solidFill>
                  <a:schemeClr val="tx1"/>
                </a:solidFill>
              </a:rPr>
              <a:t> High customer demand, low competition → high profit</a:t>
            </a:r>
          </a:p>
          <a:p>
            <a:pPr>
              <a:buClr>
                <a:schemeClr val="tx1"/>
              </a:buClr>
              <a:buFont typeface="Wingdings" panose="05000000000000000000" pitchFamily="2" charset="2"/>
              <a:buChar char="§"/>
            </a:pPr>
            <a:r>
              <a:rPr lang="en-US" b="1" dirty="0">
                <a:solidFill>
                  <a:schemeClr val="tx1"/>
                </a:solidFill>
              </a:rPr>
              <a:t>Most-likely:</a:t>
            </a:r>
            <a:r>
              <a:rPr lang="en-US" dirty="0">
                <a:solidFill>
                  <a:schemeClr val="tx1"/>
                </a:solidFill>
              </a:rPr>
              <a:t> Moderate demand → average profit</a:t>
            </a:r>
          </a:p>
          <a:p>
            <a:pPr>
              <a:buClr>
                <a:schemeClr val="tx1"/>
              </a:buClr>
              <a:buFont typeface="Wingdings" panose="05000000000000000000" pitchFamily="2" charset="2"/>
              <a:buChar char="§"/>
            </a:pPr>
            <a:r>
              <a:rPr lang="en-US" b="1" dirty="0">
                <a:solidFill>
                  <a:schemeClr val="tx1"/>
                </a:solidFill>
              </a:rPr>
              <a:t>Worst-case:</a:t>
            </a:r>
            <a:r>
              <a:rPr lang="en-US" dirty="0">
                <a:solidFill>
                  <a:schemeClr val="tx1"/>
                </a:solidFill>
              </a:rPr>
              <a:t> Low demand, high marketing cost → loss</a:t>
            </a:r>
          </a:p>
          <a:p>
            <a:pPr marL="0" indent="0">
              <a:buNone/>
            </a:pPr>
            <a:r>
              <a:rPr lang="en-US" b="1" dirty="0">
                <a:solidFill>
                  <a:schemeClr val="tx1"/>
                </a:solidFill>
              </a:rPr>
              <a:t>Analysis:</a:t>
            </a:r>
            <a:br>
              <a:rPr lang="en-US" dirty="0">
                <a:solidFill>
                  <a:schemeClr val="tx1"/>
                </a:solidFill>
              </a:rPr>
            </a:br>
            <a:r>
              <a:rPr lang="en-US" dirty="0">
                <a:solidFill>
                  <a:schemeClr val="tx1"/>
                </a:solidFill>
              </a:rPr>
              <a:t>The business estimates:</a:t>
            </a:r>
          </a:p>
          <a:p>
            <a:pPr>
              <a:buClr>
                <a:schemeClr val="tx1"/>
              </a:buClr>
              <a:buFont typeface="Wingdings" panose="05000000000000000000" pitchFamily="2" charset="2"/>
              <a:buChar char="§"/>
            </a:pPr>
            <a:r>
              <a:rPr lang="en-US" b="1" dirty="0">
                <a:solidFill>
                  <a:schemeClr val="tx1"/>
                </a:solidFill>
              </a:rPr>
              <a:t>Expected sales</a:t>
            </a:r>
          </a:p>
          <a:p>
            <a:pPr>
              <a:buClr>
                <a:schemeClr val="tx1"/>
              </a:buClr>
              <a:buFont typeface="Wingdings" panose="05000000000000000000" pitchFamily="2" charset="2"/>
              <a:buChar char="§"/>
            </a:pPr>
            <a:r>
              <a:rPr lang="en-US" b="1" dirty="0">
                <a:solidFill>
                  <a:schemeClr val="tx1"/>
                </a:solidFill>
              </a:rPr>
              <a:t>Marketing cost</a:t>
            </a:r>
          </a:p>
          <a:p>
            <a:pPr>
              <a:buClr>
                <a:schemeClr val="tx1"/>
              </a:buClr>
              <a:buFont typeface="Wingdings" panose="05000000000000000000" pitchFamily="2" charset="2"/>
              <a:buChar char="§"/>
            </a:pPr>
            <a:r>
              <a:rPr lang="en-US" b="1" dirty="0">
                <a:solidFill>
                  <a:schemeClr val="tx1"/>
                </a:solidFill>
              </a:rPr>
              <a:t>Production cost</a:t>
            </a:r>
          </a:p>
          <a:p>
            <a:pPr marL="0" indent="0">
              <a:buNone/>
            </a:pPr>
            <a:r>
              <a:rPr lang="en-US" dirty="0">
                <a:solidFill>
                  <a:schemeClr val="tx1"/>
                </a:solidFill>
              </a:rPr>
              <a:t>Then decides whether to </a:t>
            </a:r>
            <a:r>
              <a:rPr lang="en-US" b="1" dirty="0">
                <a:solidFill>
                  <a:schemeClr val="tx1"/>
                </a:solidFill>
              </a:rPr>
              <a:t>proceed, delay, or cancel</a:t>
            </a:r>
            <a:r>
              <a:rPr lang="en-US" dirty="0">
                <a:solidFill>
                  <a:schemeClr val="tx1"/>
                </a:solidFill>
              </a:rPr>
              <a:t> the product launch.</a:t>
            </a:r>
          </a:p>
          <a:p>
            <a:pPr marL="0" indent="0">
              <a:buNone/>
            </a:pPr>
            <a:r>
              <a:rPr lang="en-US" dirty="0">
                <a:solidFill>
                  <a:schemeClr val="tx1"/>
                </a:solidFill>
              </a:rPr>
              <a:t>Helps in </a:t>
            </a:r>
            <a:r>
              <a:rPr lang="en-US" b="1" dirty="0">
                <a:solidFill>
                  <a:schemeClr val="tx1"/>
                </a:solidFill>
              </a:rPr>
              <a:t>strategic decision-making</a:t>
            </a:r>
            <a:r>
              <a:rPr lang="en-US" dirty="0">
                <a:solidFill>
                  <a:schemeClr val="tx1"/>
                </a:solidFill>
              </a:rPr>
              <a:t>.</a:t>
            </a:r>
          </a:p>
          <a:p>
            <a:endParaRPr lang="en-IN" dirty="0"/>
          </a:p>
        </p:txBody>
      </p:sp>
    </p:spTree>
    <p:extLst>
      <p:ext uri="{BB962C8B-B14F-4D97-AF65-F5344CB8AC3E}">
        <p14:creationId xmlns:p14="http://schemas.microsoft.com/office/powerpoint/2010/main" val="26806429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D2CA3-8A64-901C-1366-7FD4A54BB176}"/>
              </a:ext>
            </a:extLst>
          </p:cNvPr>
          <p:cNvSpPr>
            <a:spLocks noGrp="1"/>
          </p:cNvSpPr>
          <p:nvPr>
            <p:ph idx="1"/>
          </p:nvPr>
        </p:nvSpPr>
        <p:spPr>
          <a:xfrm>
            <a:off x="677333" y="599768"/>
            <a:ext cx="10718253" cy="5633883"/>
          </a:xfrm>
        </p:spPr>
        <p:txBody>
          <a:bodyPr/>
          <a:lstStyle/>
          <a:p>
            <a:pPr marL="0" indent="0">
              <a:buNone/>
            </a:pPr>
            <a:r>
              <a:rPr lang="en-US" sz="2400" b="1" dirty="0">
                <a:solidFill>
                  <a:schemeClr val="tx1"/>
                </a:solidFill>
              </a:rPr>
              <a:t>Key aspects of scenario analysis:</a:t>
            </a:r>
          </a:p>
          <a:p>
            <a:pPr>
              <a:buClr>
                <a:schemeClr val="tx1"/>
              </a:buClr>
              <a:buFont typeface="Wingdings" panose="05000000000000000000" pitchFamily="2" charset="2"/>
              <a:buChar char="§"/>
            </a:pPr>
            <a:r>
              <a:rPr lang="en-US" sz="2000" b="1" dirty="0">
                <a:solidFill>
                  <a:schemeClr val="tx1"/>
                </a:solidFill>
              </a:rPr>
              <a:t>Evaluates multiple futures:</a:t>
            </a:r>
            <a:r>
              <a:rPr lang="en-US" sz="2000" dirty="0">
                <a:solidFill>
                  <a:schemeClr val="tx1"/>
                </a:solidFill>
              </a:rPr>
              <a:t> Instead of relying on a single forecast, scenario analysis explores a range of potential outcomes by changing key assumptions about variables like interest rates, market demand, or operating costs.</a:t>
            </a:r>
          </a:p>
          <a:p>
            <a:pPr>
              <a:buClr>
                <a:schemeClr val="tx1"/>
              </a:buClr>
              <a:buFont typeface="Wingdings" panose="05000000000000000000" pitchFamily="2" charset="2"/>
              <a:buChar char="§"/>
            </a:pPr>
            <a:r>
              <a:rPr lang="en-US" sz="2000" b="1" dirty="0">
                <a:solidFill>
                  <a:schemeClr val="tx1"/>
                </a:solidFill>
              </a:rPr>
              <a:t>Identifies risks and opportunities:</a:t>
            </a:r>
            <a:r>
              <a:rPr lang="en-US" sz="2000" dirty="0">
                <a:solidFill>
                  <a:schemeClr val="tx1"/>
                </a:solidFill>
              </a:rPr>
              <a:t> It helps businesses anticipate both negative events (like a sudden increase in raw material costs) and positive ones (like a surge in market demand).</a:t>
            </a:r>
          </a:p>
          <a:p>
            <a:pPr>
              <a:buClr>
                <a:schemeClr val="tx1"/>
              </a:buClr>
              <a:buFont typeface="Wingdings" panose="05000000000000000000" pitchFamily="2" charset="2"/>
              <a:buChar char="§"/>
            </a:pPr>
            <a:r>
              <a:rPr lang="en-US" sz="2000" b="1" dirty="0">
                <a:solidFill>
                  <a:schemeClr val="tx1"/>
                </a:solidFill>
              </a:rPr>
              <a:t>Supports decision-making:</a:t>
            </a:r>
            <a:r>
              <a:rPr lang="en-US" sz="2000" dirty="0">
                <a:solidFill>
                  <a:schemeClr val="tx1"/>
                </a:solidFill>
              </a:rPr>
              <a:t> By providing a clearer picture of potential outcomes, it helps leaders make more robust decisions about investments, operations, and strategy.</a:t>
            </a:r>
          </a:p>
          <a:p>
            <a:pPr>
              <a:buClr>
                <a:schemeClr val="tx1"/>
              </a:buClr>
              <a:buFont typeface="Wingdings" panose="05000000000000000000" pitchFamily="2" charset="2"/>
              <a:buChar char="§"/>
            </a:pPr>
            <a:r>
              <a:rPr lang="en-US" sz="2000" b="1" dirty="0">
                <a:solidFill>
                  <a:schemeClr val="tx1"/>
                </a:solidFill>
              </a:rPr>
              <a:t>Develops contingency plans:</a:t>
            </a:r>
            <a:r>
              <a:rPr lang="en-US" sz="2000" dirty="0">
                <a:solidFill>
                  <a:schemeClr val="tx1"/>
                </a:solidFill>
              </a:rPr>
              <a:t> The analysis allows companies to create actionable plans for different scenarios, so they are better prepared to react to unexpected events.</a:t>
            </a:r>
          </a:p>
          <a:p>
            <a:pPr>
              <a:buClr>
                <a:schemeClr val="tx1"/>
              </a:buClr>
              <a:buFont typeface="Wingdings" panose="05000000000000000000" pitchFamily="2" charset="2"/>
              <a:buChar char="§"/>
            </a:pPr>
            <a:r>
              <a:rPr lang="en-US" sz="2000" b="1" dirty="0">
                <a:solidFill>
                  <a:schemeClr val="tx1"/>
                </a:solidFill>
              </a:rPr>
              <a:t>Focuses on comprehensive change:</a:t>
            </a:r>
            <a:r>
              <a:rPr lang="en-US" sz="2000" dirty="0">
                <a:solidFill>
                  <a:schemeClr val="tx1"/>
                </a:solidFill>
              </a:rPr>
              <a:t> Unlike sensitivity analysis, which often changes one variable at a time, scenario analysis changes multiple variables simultaneously to create more comprehensive future scenarios. </a:t>
            </a:r>
          </a:p>
          <a:p>
            <a:pPr marL="0" indent="0">
              <a:buNone/>
            </a:pPr>
            <a:endParaRPr lang="en-US" b="1" dirty="0"/>
          </a:p>
          <a:p>
            <a:endParaRPr lang="en-IN" dirty="0"/>
          </a:p>
        </p:txBody>
      </p:sp>
    </p:spTree>
    <p:extLst>
      <p:ext uri="{BB962C8B-B14F-4D97-AF65-F5344CB8AC3E}">
        <p14:creationId xmlns:p14="http://schemas.microsoft.com/office/powerpoint/2010/main" val="7680001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81A02-FC1B-4057-4391-18A6247A471B}"/>
              </a:ext>
            </a:extLst>
          </p:cNvPr>
          <p:cNvSpPr>
            <a:spLocks noGrp="1"/>
          </p:cNvSpPr>
          <p:nvPr>
            <p:ph idx="1"/>
          </p:nvPr>
        </p:nvSpPr>
        <p:spPr>
          <a:xfrm>
            <a:off x="677334" y="707923"/>
            <a:ext cx="10531440" cy="5333439"/>
          </a:xfrm>
        </p:spPr>
        <p:txBody>
          <a:bodyPr>
            <a:normAutofit/>
          </a:bodyPr>
          <a:lstStyle/>
          <a:p>
            <a:pPr marL="0" indent="0">
              <a:buNone/>
            </a:pPr>
            <a:r>
              <a:rPr lang="en-IN" sz="2400" b="1" dirty="0">
                <a:solidFill>
                  <a:schemeClr val="tx1"/>
                </a:solidFill>
              </a:rPr>
              <a:t>How it is used:</a:t>
            </a:r>
          </a:p>
          <a:p>
            <a:pPr>
              <a:buClr>
                <a:schemeClr val="tx1"/>
              </a:buClr>
              <a:buFont typeface="Wingdings" panose="05000000000000000000" pitchFamily="2" charset="2"/>
              <a:buChar char="§"/>
            </a:pPr>
            <a:r>
              <a:rPr lang="en-US" sz="2000" b="1" dirty="0">
                <a:solidFill>
                  <a:schemeClr val="tx1"/>
                </a:solidFill>
              </a:rPr>
              <a:t>Financial planning:</a:t>
            </a:r>
            <a:r>
              <a:rPr lang="en-US" sz="2000" dirty="0">
                <a:solidFill>
                  <a:schemeClr val="tx1"/>
                </a:solidFill>
              </a:rPr>
              <a:t> It can be used to forecast the potential impact on cash flow and business value.</a:t>
            </a:r>
          </a:p>
          <a:p>
            <a:pPr>
              <a:buClr>
                <a:schemeClr val="tx1"/>
              </a:buClr>
              <a:buFont typeface="Wingdings" panose="05000000000000000000" pitchFamily="2" charset="2"/>
              <a:buChar char="§"/>
            </a:pPr>
            <a:r>
              <a:rPr lang="en-US" sz="2000" b="1" dirty="0">
                <a:solidFill>
                  <a:schemeClr val="tx1"/>
                </a:solidFill>
              </a:rPr>
              <a:t>Risk management:</a:t>
            </a:r>
            <a:r>
              <a:rPr lang="en-US" sz="2000" dirty="0">
                <a:solidFill>
                  <a:schemeClr val="tx1"/>
                </a:solidFill>
              </a:rPr>
              <a:t> It helps identify and mitigate potential risks associated with various external factors.</a:t>
            </a:r>
          </a:p>
          <a:p>
            <a:pPr>
              <a:buClr>
                <a:schemeClr val="tx1"/>
              </a:buClr>
              <a:buFont typeface="Wingdings" panose="05000000000000000000" pitchFamily="2" charset="2"/>
              <a:buChar char="§"/>
            </a:pPr>
            <a:r>
              <a:rPr lang="en-US" sz="2000" b="1" dirty="0">
                <a:solidFill>
                  <a:schemeClr val="tx1"/>
                </a:solidFill>
              </a:rPr>
              <a:t>Strategic initiatives:</a:t>
            </a:r>
            <a:r>
              <a:rPr lang="en-US" sz="2000" dirty="0">
                <a:solidFill>
                  <a:schemeClr val="tx1"/>
                </a:solidFill>
              </a:rPr>
              <a:t> It provides a framework for developing long-term strategies and evaluating potential courses of action.</a:t>
            </a:r>
          </a:p>
          <a:p>
            <a:pPr>
              <a:buClr>
                <a:schemeClr val="tx1"/>
              </a:buClr>
              <a:buFont typeface="Wingdings" panose="05000000000000000000" pitchFamily="2" charset="2"/>
              <a:buChar char="§"/>
            </a:pPr>
            <a:r>
              <a:rPr lang="en-US" sz="2000" b="1" dirty="0">
                <a:solidFill>
                  <a:schemeClr val="tx1"/>
                </a:solidFill>
              </a:rPr>
              <a:t>Investment decisions:</a:t>
            </a:r>
            <a:r>
              <a:rPr lang="en-US" sz="2000" dirty="0">
                <a:solidFill>
                  <a:schemeClr val="tx1"/>
                </a:solidFill>
              </a:rPr>
              <a:t> It can be used to evaluate the potential returns and risks of major investments. </a:t>
            </a:r>
          </a:p>
          <a:p>
            <a:pPr marL="0" indent="0">
              <a:buNone/>
            </a:pPr>
            <a:endParaRPr lang="en-IN" dirty="0"/>
          </a:p>
        </p:txBody>
      </p:sp>
    </p:spTree>
    <p:extLst>
      <p:ext uri="{BB962C8B-B14F-4D97-AF65-F5344CB8AC3E}">
        <p14:creationId xmlns:p14="http://schemas.microsoft.com/office/powerpoint/2010/main" val="21701452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CABD1-90EC-A757-6427-01B168ED3B6A}"/>
              </a:ext>
            </a:extLst>
          </p:cNvPr>
          <p:cNvSpPr>
            <a:spLocks noGrp="1"/>
          </p:cNvSpPr>
          <p:nvPr>
            <p:ph idx="1"/>
          </p:nvPr>
        </p:nvSpPr>
        <p:spPr>
          <a:xfrm>
            <a:off x="677334" y="806245"/>
            <a:ext cx="10541272" cy="5235117"/>
          </a:xfrm>
        </p:spPr>
        <p:txBody>
          <a:bodyPr/>
          <a:lstStyle/>
          <a:p>
            <a:pPr marL="0" indent="0">
              <a:buNone/>
            </a:pPr>
            <a:r>
              <a:rPr lang="en-IN" sz="2800" b="1" dirty="0">
                <a:solidFill>
                  <a:schemeClr val="tx1"/>
                </a:solidFill>
              </a:rPr>
              <a:t>What is data governance?</a:t>
            </a:r>
          </a:p>
          <a:p>
            <a:pPr marL="0" indent="0">
              <a:buNone/>
            </a:pPr>
            <a:r>
              <a:rPr lang="en-US" sz="2400" b="1" dirty="0">
                <a:solidFill>
                  <a:schemeClr val="tx1"/>
                </a:solidFill>
              </a:rPr>
              <a:t>Data governance</a:t>
            </a:r>
            <a:r>
              <a:rPr lang="en-US" sz="2400" dirty="0">
                <a:solidFill>
                  <a:schemeClr val="tx1"/>
                </a:solidFill>
              </a:rPr>
              <a:t> is the set of </a:t>
            </a:r>
            <a:r>
              <a:rPr lang="en-US" sz="2400" b="1" dirty="0">
                <a:solidFill>
                  <a:schemeClr val="tx1"/>
                </a:solidFill>
              </a:rPr>
              <a:t>policies, rules, roles, and processes</a:t>
            </a:r>
            <a:r>
              <a:rPr lang="en-US" sz="2400" dirty="0">
                <a:solidFill>
                  <a:schemeClr val="tx1"/>
                </a:solidFill>
              </a:rPr>
              <a:t> that an organization uses to ensure its data is </a:t>
            </a:r>
            <a:r>
              <a:rPr lang="en-US" sz="2400" b="1" dirty="0">
                <a:solidFill>
                  <a:schemeClr val="tx1"/>
                </a:solidFill>
              </a:rPr>
              <a:t>correct, secure, consistent, and used responsibly</a:t>
            </a:r>
            <a:r>
              <a:rPr lang="en-US" sz="2400" dirty="0">
                <a:solidFill>
                  <a:schemeClr val="tx1"/>
                </a:solidFill>
              </a:rPr>
              <a:t>.</a:t>
            </a:r>
          </a:p>
          <a:p>
            <a:pPr marL="0" indent="0">
              <a:buNone/>
            </a:pPr>
            <a:r>
              <a:rPr lang="en-US" sz="2400" b="1" dirty="0">
                <a:solidFill>
                  <a:schemeClr val="tx1"/>
                </a:solidFill>
              </a:rPr>
              <a:t>Main Goals of Data Governance:</a:t>
            </a:r>
          </a:p>
          <a:p>
            <a:pPr>
              <a:buClr>
                <a:schemeClr val="tx1"/>
              </a:buClr>
              <a:buFont typeface="Wingdings" panose="05000000000000000000" pitchFamily="2" charset="2"/>
              <a:buChar char="§"/>
            </a:pPr>
            <a:r>
              <a:rPr lang="en-IN" sz="2400" dirty="0">
                <a:solidFill>
                  <a:schemeClr val="tx1"/>
                </a:solidFill>
              </a:rPr>
              <a:t>Ensure data is </a:t>
            </a:r>
            <a:r>
              <a:rPr lang="en-IN" sz="2400" b="1" dirty="0">
                <a:solidFill>
                  <a:schemeClr val="tx1"/>
                </a:solidFill>
              </a:rPr>
              <a:t>accurate and consistent</a:t>
            </a:r>
            <a:endParaRPr lang="en-IN" sz="2400" dirty="0">
              <a:solidFill>
                <a:schemeClr val="tx1"/>
              </a:solidFill>
            </a:endParaRPr>
          </a:p>
          <a:p>
            <a:pPr>
              <a:buClr>
                <a:schemeClr val="tx1"/>
              </a:buClr>
              <a:buFont typeface="Wingdings" panose="05000000000000000000" pitchFamily="2" charset="2"/>
              <a:buChar char="§"/>
            </a:pPr>
            <a:r>
              <a:rPr lang="en-IN" sz="2400" dirty="0">
                <a:solidFill>
                  <a:schemeClr val="tx1"/>
                </a:solidFill>
              </a:rPr>
              <a:t>Protect data from </a:t>
            </a:r>
            <a:r>
              <a:rPr lang="en-IN" sz="2400" b="1" dirty="0">
                <a:solidFill>
                  <a:schemeClr val="tx1"/>
                </a:solidFill>
              </a:rPr>
              <a:t>unauthorized access or misuse</a:t>
            </a:r>
            <a:endParaRPr lang="en-IN" sz="2400" dirty="0">
              <a:solidFill>
                <a:schemeClr val="tx1"/>
              </a:solidFill>
            </a:endParaRPr>
          </a:p>
          <a:p>
            <a:pPr>
              <a:buClr>
                <a:schemeClr val="tx1"/>
              </a:buClr>
              <a:buFont typeface="Wingdings" panose="05000000000000000000" pitchFamily="2" charset="2"/>
              <a:buChar char="§"/>
            </a:pPr>
            <a:r>
              <a:rPr lang="en-IN" sz="2400" dirty="0">
                <a:solidFill>
                  <a:schemeClr val="tx1"/>
                </a:solidFill>
              </a:rPr>
              <a:t>Define </a:t>
            </a:r>
            <a:r>
              <a:rPr lang="en-IN" sz="2400" b="1" dirty="0">
                <a:solidFill>
                  <a:schemeClr val="tx1"/>
                </a:solidFill>
              </a:rPr>
              <a:t>who owns the data</a:t>
            </a:r>
            <a:r>
              <a:rPr lang="en-IN" sz="2400" dirty="0">
                <a:solidFill>
                  <a:schemeClr val="tx1"/>
                </a:solidFill>
              </a:rPr>
              <a:t> and </a:t>
            </a:r>
            <a:r>
              <a:rPr lang="en-IN" sz="2400" b="1" dirty="0">
                <a:solidFill>
                  <a:schemeClr val="tx1"/>
                </a:solidFill>
              </a:rPr>
              <a:t>who can do what</a:t>
            </a:r>
            <a:r>
              <a:rPr lang="en-IN" sz="2400" dirty="0">
                <a:solidFill>
                  <a:schemeClr val="tx1"/>
                </a:solidFill>
              </a:rPr>
              <a:t> (view, edit, delete)</a:t>
            </a:r>
          </a:p>
          <a:p>
            <a:pPr>
              <a:buClr>
                <a:schemeClr val="tx1"/>
              </a:buClr>
              <a:buFont typeface="Wingdings" panose="05000000000000000000" pitchFamily="2" charset="2"/>
              <a:buChar char="§"/>
            </a:pPr>
            <a:r>
              <a:rPr lang="en-IN" sz="2400" dirty="0">
                <a:solidFill>
                  <a:schemeClr val="tx1"/>
                </a:solidFill>
              </a:rPr>
              <a:t>Comply with </a:t>
            </a:r>
            <a:r>
              <a:rPr lang="en-IN" sz="2400" b="1" dirty="0">
                <a:solidFill>
                  <a:schemeClr val="tx1"/>
                </a:solidFill>
              </a:rPr>
              <a:t>laws and regulations</a:t>
            </a:r>
            <a:r>
              <a:rPr lang="en-IN" sz="2400" dirty="0">
                <a:solidFill>
                  <a:schemeClr val="tx1"/>
                </a:solidFill>
              </a:rPr>
              <a:t> (like privacy rules)</a:t>
            </a:r>
          </a:p>
          <a:p>
            <a:pPr>
              <a:buClr>
                <a:schemeClr val="tx1"/>
              </a:buClr>
              <a:buFont typeface="Wingdings" panose="05000000000000000000" pitchFamily="2" charset="2"/>
              <a:buChar char="§"/>
            </a:pPr>
            <a:r>
              <a:rPr lang="en-IN" sz="2400" dirty="0">
                <a:solidFill>
                  <a:schemeClr val="tx1"/>
                </a:solidFill>
              </a:rPr>
              <a:t>Make data </a:t>
            </a:r>
            <a:r>
              <a:rPr lang="en-IN" sz="2400" b="1" dirty="0">
                <a:solidFill>
                  <a:schemeClr val="tx1"/>
                </a:solidFill>
              </a:rPr>
              <a:t>trustworthy</a:t>
            </a:r>
            <a:r>
              <a:rPr lang="en-IN" sz="2400" dirty="0">
                <a:solidFill>
                  <a:schemeClr val="tx1"/>
                </a:solidFill>
              </a:rPr>
              <a:t> for reporting and decision-making</a:t>
            </a:r>
          </a:p>
          <a:p>
            <a:pPr marL="0" indent="0">
              <a:buNone/>
            </a:pPr>
            <a:endParaRPr lang="en-IN" dirty="0"/>
          </a:p>
        </p:txBody>
      </p:sp>
    </p:spTree>
    <p:extLst>
      <p:ext uri="{BB962C8B-B14F-4D97-AF65-F5344CB8AC3E}">
        <p14:creationId xmlns:p14="http://schemas.microsoft.com/office/powerpoint/2010/main" val="29007531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EED-6DB8-4854-33CD-B14B30452B42}"/>
              </a:ext>
            </a:extLst>
          </p:cNvPr>
          <p:cNvSpPr>
            <a:spLocks noGrp="1"/>
          </p:cNvSpPr>
          <p:nvPr>
            <p:ph type="title"/>
          </p:nvPr>
        </p:nvSpPr>
        <p:spPr>
          <a:xfrm>
            <a:off x="677334" y="609600"/>
            <a:ext cx="8596668" cy="639097"/>
          </a:xfrm>
        </p:spPr>
        <p:txBody>
          <a:bodyPr>
            <a:normAutofit fontScale="90000"/>
          </a:bodyPr>
          <a:lstStyle/>
          <a:p>
            <a:r>
              <a:rPr lang="en-IN" b="1" dirty="0">
                <a:solidFill>
                  <a:schemeClr val="tx1"/>
                </a:solidFill>
              </a:rPr>
              <a:t>Key Elements</a:t>
            </a:r>
          </a:p>
        </p:txBody>
      </p:sp>
      <p:sp>
        <p:nvSpPr>
          <p:cNvPr id="3" name="Content Placeholder 2">
            <a:extLst>
              <a:ext uri="{FF2B5EF4-FFF2-40B4-BE49-F238E27FC236}">
                <a16:creationId xmlns:a16="http://schemas.microsoft.com/office/drawing/2014/main" id="{95B775D2-C762-AFAC-30A6-C8BB892A3597}"/>
              </a:ext>
            </a:extLst>
          </p:cNvPr>
          <p:cNvSpPr>
            <a:spLocks noGrp="1"/>
          </p:cNvSpPr>
          <p:nvPr>
            <p:ph idx="1"/>
          </p:nvPr>
        </p:nvSpPr>
        <p:spPr>
          <a:xfrm>
            <a:off x="677334" y="1455174"/>
            <a:ext cx="10531440" cy="4793225"/>
          </a:xfrm>
        </p:spPr>
        <p:txBody>
          <a:bodyPr/>
          <a:lstStyle/>
          <a:p>
            <a:pPr lvl="0">
              <a:buClr>
                <a:schemeClr val="tx1"/>
              </a:buClr>
              <a:buFont typeface="Wingdings" panose="05000000000000000000" pitchFamily="2" charset="2"/>
              <a:buChar char="§"/>
            </a:pPr>
            <a:r>
              <a:rPr lang="en-IN" sz="2000" b="1" dirty="0">
                <a:solidFill>
                  <a:schemeClr val="tx1"/>
                </a:solidFill>
              </a:rPr>
              <a:t>Defines rules and responsibilities:</a:t>
            </a:r>
            <a:r>
              <a:rPr lang="en-IN" sz="2000" dirty="0">
                <a:solidFill>
                  <a:schemeClr val="tx1"/>
                </a:solidFill>
              </a:rPr>
              <a:t> It establishes who can do what with data, providing a common playbook for handling data responsibly.</a:t>
            </a:r>
          </a:p>
          <a:p>
            <a:pPr lvl="0">
              <a:buClr>
                <a:schemeClr val="tx1"/>
              </a:buClr>
              <a:buFont typeface="Wingdings" panose="05000000000000000000" pitchFamily="2" charset="2"/>
              <a:buChar char="§"/>
            </a:pPr>
            <a:r>
              <a:rPr lang="en-IN" sz="2000" b="1" dirty="0">
                <a:solidFill>
                  <a:schemeClr val="tx1"/>
                </a:solidFill>
              </a:rPr>
              <a:t>Ensures data quality and integrity:</a:t>
            </a:r>
            <a:r>
              <a:rPr lang="en-IN" sz="2000" dirty="0">
                <a:solidFill>
                  <a:schemeClr val="tx1"/>
                </a:solidFill>
              </a:rPr>
              <a:t> It helps prevent errors, inconsistencies, and duplication by setting standards for data throughout its lifecycle, from creation to disposal.</a:t>
            </a:r>
          </a:p>
          <a:p>
            <a:pPr lvl="0">
              <a:buClr>
                <a:schemeClr val="tx1"/>
              </a:buClr>
              <a:buFont typeface="Wingdings" panose="05000000000000000000" pitchFamily="2" charset="2"/>
              <a:buChar char="§"/>
            </a:pPr>
            <a:r>
              <a:rPr lang="en-IN" sz="2000" b="1" dirty="0">
                <a:solidFill>
                  <a:schemeClr val="tx1"/>
                </a:solidFill>
              </a:rPr>
              <a:t>Improves security and privacy:</a:t>
            </a:r>
            <a:r>
              <a:rPr lang="en-IN" sz="2000" dirty="0">
                <a:solidFill>
                  <a:schemeClr val="tx1"/>
                </a:solidFill>
              </a:rPr>
              <a:t> It includes policies to protect sensitive data, control access, and maintain compliance with regulations like GDPR and HIPAA.</a:t>
            </a:r>
          </a:p>
          <a:p>
            <a:pPr lvl="0">
              <a:buClr>
                <a:schemeClr val="tx1"/>
              </a:buClr>
              <a:buFont typeface="Wingdings" panose="05000000000000000000" pitchFamily="2" charset="2"/>
              <a:buChar char="§"/>
            </a:pPr>
            <a:r>
              <a:rPr lang="en-IN" sz="2000" b="1" dirty="0">
                <a:solidFill>
                  <a:schemeClr val="tx1"/>
                </a:solidFill>
              </a:rPr>
              <a:t>Enhances usability and accessibility:</a:t>
            </a:r>
            <a:r>
              <a:rPr lang="en-IN" sz="2000" dirty="0">
                <a:solidFill>
                  <a:schemeClr val="tx1"/>
                </a:solidFill>
              </a:rPr>
              <a:t> By ensuring data is trustworthy, governance makes it easier for people to find and use the data they need for business intelligence and other initiatives.</a:t>
            </a:r>
          </a:p>
          <a:p>
            <a:pPr lvl="0">
              <a:buClr>
                <a:schemeClr val="tx1"/>
              </a:buClr>
              <a:buFont typeface="Wingdings" panose="05000000000000000000" pitchFamily="2" charset="2"/>
              <a:buChar char="§"/>
            </a:pPr>
            <a:r>
              <a:rPr lang="en-IN" sz="2000" b="1" dirty="0">
                <a:solidFill>
                  <a:schemeClr val="tx1"/>
                </a:solidFill>
              </a:rPr>
              <a:t>Supports better decision-making:</a:t>
            </a:r>
            <a:r>
              <a:rPr lang="en-IN" sz="2000" dirty="0">
                <a:solidFill>
                  <a:schemeClr val="tx1"/>
                </a:solidFill>
              </a:rPr>
              <a:t> With a consistent, high-quality data foundation, organizations can make more confident and informed decisions. </a:t>
            </a:r>
          </a:p>
          <a:p>
            <a:endParaRPr lang="en-IN" dirty="0"/>
          </a:p>
        </p:txBody>
      </p:sp>
    </p:spTree>
    <p:extLst>
      <p:ext uri="{BB962C8B-B14F-4D97-AF65-F5344CB8AC3E}">
        <p14:creationId xmlns:p14="http://schemas.microsoft.com/office/powerpoint/2010/main" val="883750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5E4C3-CE73-5FF5-6742-6B49928C9AEC}"/>
              </a:ext>
            </a:extLst>
          </p:cNvPr>
          <p:cNvSpPr>
            <a:spLocks noGrp="1"/>
          </p:cNvSpPr>
          <p:nvPr>
            <p:ph type="title"/>
          </p:nvPr>
        </p:nvSpPr>
        <p:spPr>
          <a:xfrm>
            <a:off x="677334" y="609600"/>
            <a:ext cx="9322072" cy="471948"/>
          </a:xfrm>
        </p:spPr>
        <p:txBody>
          <a:bodyPr>
            <a:normAutofit fontScale="90000"/>
          </a:bodyPr>
          <a:lstStyle/>
          <a:p>
            <a:r>
              <a:rPr lang="en-US" b="1" dirty="0">
                <a:solidFill>
                  <a:schemeClr val="tx1"/>
                </a:solidFill>
              </a:rPr>
              <a:t>What are the benefits of data governance?</a:t>
            </a:r>
            <a:endParaRPr lang="en-IN" b="1" dirty="0">
              <a:solidFill>
                <a:schemeClr val="tx1"/>
              </a:solidFill>
            </a:endParaRPr>
          </a:p>
        </p:txBody>
      </p:sp>
      <p:sp>
        <p:nvSpPr>
          <p:cNvPr id="3" name="Content Placeholder 2">
            <a:extLst>
              <a:ext uri="{FF2B5EF4-FFF2-40B4-BE49-F238E27FC236}">
                <a16:creationId xmlns:a16="http://schemas.microsoft.com/office/drawing/2014/main" id="{2134C595-74E2-4430-28B3-96A3CF7DAF0F}"/>
              </a:ext>
            </a:extLst>
          </p:cNvPr>
          <p:cNvSpPr>
            <a:spLocks noGrp="1"/>
          </p:cNvSpPr>
          <p:nvPr>
            <p:ph idx="1"/>
          </p:nvPr>
        </p:nvSpPr>
        <p:spPr>
          <a:xfrm>
            <a:off x="677333" y="1307691"/>
            <a:ext cx="10492111" cy="5338916"/>
          </a:xfrm>
        </p:spPr>
        <p:txBody>
          <a:bodyPr>
            <a:normAutofit fontScale="92500" lnSpcReduction="10000"/>
          </a:bodyPr>
          <a:lstStyle/>
          <a:p>
            <a:pPr marL="0" indent="0">
              <a:buNone/>
            </a:pPr>
            <a:r>
              <a:rPr lang="en-US" sz="2100" b="1" dirty="0">
                <a:solidFill>
                  <a:schemeClr val="tx1"/>
                </a:solidFill>
              </a:rPr>
              <a:t>Improved Data Quality</a:t>
            </a:r>
          </a:p>
          <a:p>
            <a:pPr>
              <a:buClr>
                <a:schemeClr val="tx1"/>
              </a:buClr>
              <a:buFont typeface="Wingdings" panose="05000000000000000000" pitchFamily="2" charset="2"/>
              <a:buChar char="§"/>
            </a:pPr>
            <a:r>
              <a:rPr lang="en-US" sz="2100" dirty="0">
                <a:solidFill>
                  <a:schemeClr val="tx1"/>
                </a:solidFill>
              </a:rPr>
              <a:t>Ensures data is </a:t>
            </a:r>
            <a:r>
              <a:rPr lang="en-US" sz="2100" b="1" dirty="0">
                <a:solidFill>
                  <a:schemeClr val="tx1"/>
                </a:solidFill>
              </a:rPr>
              <a:t>accurate, complete, and consistent</a:t>
            </a:r>
            <a:r>
              <a:rPr lang="en-US" sz="2100" dirty="0">
                <a:solidFill>
                  <a:schemeClr val="tx1"/>
                </a:solidFill>
              </a:rPr>
              <a:t>.</a:t>
            </a:r>
          </a:p>
          <a:p>
            <a:pPr>
              <a:buClr>
                <a:schemeClr val="tx1"/>
              </a:buClr>
              <a:buFont typeface="Wingdings" panose="05000000000000000000" pitchFamily="2" charset="2"/>
              <a:buChar char="§"/>
            </a:pPr>
            <a:r>
              <a:rPr lang="en-US" sz="2100" dirty="0">
                <a:solidFill>
                  <a:schemeClr val="tx1"/>
                </a:solidFill>
              </a:rPr>
              <a:t>Reduces </a:t>
            </a:r>
            <a:r>
              <a:rPr lang="en-US" sz="2100" b="1" dirty="0">
                <a:solidFill>
                  <a:schemeClr val="tx1"/>
                </a:solidFill>
              </a:rPr>
              <a:t>errors, duplicates, and outdated information</a:t>
            </a:r>
            <a:r>
              <a:rPr lang="en-US" sz="2100" dirty="0">
                <a:solidFill>
                  <a:schemeClr val="tx1"/>
                </a:solidFill>
              </a:rPr>
              <a:t>.</a:t>
            </a:r>
          </a:p>
          <a:p>
            <a:pPr>
              <a:buClr>
                <a:schemeClr val="tx1"/>
              </a:buClr>
              <a:buFont typeface="Wingdings" panose="05000000000000000000" pitchFamily="2" charset="2"/>
              <a:buChar char="§"/>
            </a:pPr>
            <a:r>
              <a:rPr lang="en-US" sz="2100" dirty="0">
                <a:solidFill>
                  <a:schemeClr val="tx1"/>
                </a:solidFill>
              </a:rPr>
              <a:t>Leads to </a:t>
            </a:r>
            <a:r>
              <a:rPr lang="en-US" sz="2100" b="1" dirty="0">
                <a:solidFill>
                  <a:schemeClr val="tx1"/>
                </a:solidFill>
              </a:rPr>
              <a:t>more reliable reports and analysis</a:t>
            </a:r>
            <a:r>
              <a:rPr lang="en-US" sz="2100" dirty="0">
                <a:solidFill>
                  <a:schemeClr val="tx1"/>
                </a:solidFill>
              </a:rPr>
              <a:t>.</a:t>
            </a:r>
          </a:p>
          <a:p>
            <a:pPr marL="0" indent="0">
              <a:buNone/>
            </a:pPr>
            <a:endParaRPr lang="en-US" sz="2100" dirty="0">
              <a:solidFill>
                <a:schemeClr val="tx1"/>
              </a:solidFill>
            </a:endParaRPr>
          </a:p>
          <a:p>
            <a:pPr marL="0" indent="0">
              <a:buNone/>
            </a:pPr>
            <a:r>
              <a:rPr lang="en-US" sz="2100" b="1" dirty="0">
                <a:solidFill>
                  <a:schemeClr val="tx1"/>
                </a:solidFill>
              </a:rPr>
              <a:t>Better Decision-Making</a:t>
            </a:r>
          </a:p>
          <a:p>
            <a:pPr>
              <a:buClr>
                <a:schemeClr val="tx1"/>
              </a:buClr>
              <a:buFont typeface="Wingdings" panose="05000000000000000000" pitchFamily="2" charset="2"/>
              <a:buChar char="§"/>
            </a:pPr>
            <a:r>
              <a:rPr lang="en-US" sz="2100" dirty="0">
                <a:solidFill>
                  <a:schemeClr val="tx1"/>
                </a:solidFill>
              </a:rPr>
              <a:t>When data is clean and well-managed, managers can trust the data.</a:t>
            </a:r>
          </a:p>
          <a:p>
            <a:pPr>
              <a:buClr>
                <a:schemeClr val="tx1"/>
              </a:buClr>
              <a:buFont typeface="Wingdings" panose="05000000000000000000" pitchFamily="2" charset="2"/>
              <a:buChar char="§"/>
            </a:pPr>
            <a:r>
              <a:rPr lang="en-US" sz="2100" dirty="0">
                <a:solidFill>
                  <a:schemeClr val="tx1"/>
                </a:solidFill>
              </a:rPr>
              <a:t>Decisions based on such data are more accurate and effective.</a:t>
            </a:r>
          </a:p>
          <a:p>
            <a:pPr>
              <a:buClr>
                <a:schemeClr val="tx1"/>
              </a:buClr>
              <a:buFont typeface="Wingdings" panose="05000000000000000000" pitchFamily="2" charset="2"/>
              <a:buChar char="§"/>
            </a:pPr>
            <a:r>
              <a:rPr lang="en-US" sz="2100" dirty="0">
                <a:solidFill>
                  <a:schemeClr val="tx1"/>
                </a:solidFill>
              </a:rPr>
              <a:t>Supports data-driven decision-making.</a:t>
            </a:r>
            <a:br>
              <a:rPr lang="en-US" sz="2100" dirty="0">
                <a:solidFill>
                  <a:schemeClr val="tx1"/>
                </a:solidFill>
              </a:rPr>
            </a:br>
            <a:endParaRPr lang="en-US" sz="2100" dirty="0">
              <a:solidFill>
                <a:schemeClr val="tx1"/>
              </a:solidFill>
            </a:endParaRPr>
          </a:p>
          <a:p>
            <a:pPr marL="0" indent="0">
              <a:buNone/>
            </a:pPr>
            <a:r>
              <a:rPr lang="en-US" sz="2100" b="1" dirty="0">
                <a:solidFill>
                  <a:schemeClr val="tx1"/>
                </a:solidFill>
              </a:rPr>
              <a:t>Enhanced Data Security &amp; Privacy</a:t>
            </a:r>
          </a:p>
          <a:p>
            <a:pPr>
              <a:buClr>
                <a:schemeClr val="tx1"/>
              </a:buClr>
              <a:buFont typeface="Wingdings" panose="05000000000000000000" pitchFamily="2" charset="2"/>
              <a:buChar char="§"/>
            </a:pPr>
            <a:r>
              <a:rPr lang="en-US" sz="2100" dirty="0">
                <a:solidFill>
                  <a:schemeClr val="tx1"/>
                </a:solidFill>
              </a:rPr>
              <a:t>Defines who can access, edit, or delete data.</a:t>
            </a:r>
          </a:p>
          <a:p>
            <a:pPr>
              <a:buClr>
                <a:schemeClr val="tx1"/>
              </a:buClr>
              <a:buFont typeface="Wingdings" panose="05000000000000000000" pitchFamily="2" charset="2"/>
              <a:buChar char="§"/>
            </a:pPr>
            <a:r>
              <a:rPr lang="en-US" sz="2100" dirty="0">
                <a:solidFill>
                  <a:schemeClr val="tx1"/>
                </a:solidFill>
              </a:rPr>
              <a:t>Protects sensitive data (like customer or employee information).</a:t>
            </a:r>
          </a:p>
          <a:p>
            <a:pPr>
              <a:buClr>
                <a:schemeClr val="tx1"/>
              </a:buClr>
              <a:buFont typeface="Wingdings" panose="05000000000000000000" pitchFamily="2" charset="2"/>
              <a:buChar char="§"/>
            </a:pPr>
            <a:r>
              <a:rPr lang="en-US" sz="2100" dirty="0">
                <a:solidFill>
                  <a:schemeClr val="tx1"/>
                </a:solidFill>
              </a:rPr>
              <a:t>Helps prevent data leaks, misuse, and unauthorized access.</a:t>
            </a:r>
          </a:p>
          <a:p>
            <a:endParaRPr lang="en-IN" dirty="0"/>
          </a:p>
        </p:txBody>
      </p:sp>
    </p:spTree>
    <p:extLst>
      <p:ext uri="{BB962C8B-B14F-4D97-AF65-F5344CB8AC3E}">
        <p14:creationId xmlns:p14="http://schemas.microsoft.com/office/powerpoint/2010/main" val="8421541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29D332-819E-627D-FBA7-CC024485B737}"/>
              </a:ext>
            </a:extLst>
          </p:cNvPr>
          <p:cNvSpPr>
            <a:spLocks noGrp="1"/>
          </p:cNvSpPr>
          <p:nvPr>
            <p:ph idx="1"/>
          </p:nvPr>
        </p:nvSpPr>
        <p:spPr>
          <a:xfrm>
            <a:off x="677334" y="658761"/>
            <a:ext cx="10521608" cy="5722374"/>
          </a:xfrm>
        </p:spPr>
        <p:txBody>
          <a:bodyPr>
            <a:normAutofit/>
          </a:bodyPr>
          <a:lstStyle/>
          <a:p>
            <a:pPr marL="0" indent="0">
              <a:buNone/>
            </a:pPr>
            <a:r>
              <a:rPr lang="en-US" b="1" dirty="0">
                <a:solidFill>
                  <a:schemeClr val="tx1"/>
                </a:solidFill>
              </a:rPr>
              <a:t>Compliance with Laws and Regulations</a:t>
            </a:r>
          </a:p>
          <a:p>
            <a:pPr>
              <a:buClr>
                <a:schemeClr val="tx1"/>
              </a:buClr>
              <a:buFont typeface="Wingdings" panose="05000000000000000000" pitchFamily="2" charset="2"/>
              <a:buChar char="§"/>
            </a:pPr>
            <a:r>
              <a:rPr lang="en-US" dirty="0">
                <a:solidFill>
                  <a:schemeClr val="tx1"/>
                </a:solidFill>
              </a:rPr>
              <a:t>Helps organizations follow </a:t>
            </a:r>
            <a:r>
              <a:rPr lang="en-US" b="1" dirty="0">
                <a:solidFill>
                  <a:schemeClr val="tx1"/>
                </a:solidFill>
              </a:rPr>
              <a:t>data protection laws</a:t>
            </a:r>
            <a:r>
              <a:rPr lang="en-US" dirty="0">
                <a:solidFill>
                  <a:schemeClr val="tx1"/>
                </a:solidFill>
              </a:rPr>
              <a:t> (like GDPR, privacy rules, audit requirements).</a:t>
            </a:r>
          </a:p>
          <a:p>
            <a:pPr>
              <a:buClr>
                <a:schemeClr val="tx1"/>
              </a:buClr>
              <a:buFont typeface="Wingdings" panose="05000000000000000000" pitchFamily="2" charset="2"/>
              <a:buChar char="§"/>
            </a:pPr>
            <a:r>
              <a:rPr lang="en-US" dirty="0">
                <a:solidFill>
                  <a:schemeClr val="tx1"/>
                </a:solidFill>
              </a:rPr>
              <a:t>Avoids </a:t>
            </a:r>
            <a:r>
              <a:rPr lang="en-US" b="1" dirty="0">
                <a:solidFill>
                  <a:schemeClr val="tx1"/>
                </a:solidFill>
              </a:rPr>
              <a:t>legal penalties, fines, and reputational damage</a:t>
            </a:r>
            <a:r>
              <a:rPr lang="en-US" dirty="0">
                <a:solidFill>
                  <a:schemeClr val="tx1"/>
                </a:solidFill>
              </a:rPr>
              <a:t>.</a:t>
            </a:r>
          </a:p>
          <a:p>
            <a:pPr marL="0" indent="0">
              <a:buNone/>
            </a:pPr>
            <a:endParaRPr lang="en-US" dirty="0">
              <a:solidFill>
                <a:schemeClr val="tx1"/>
              </a:solidFill>
            </a:endParaRPr>
          </a:p>
          <a:p>
            <a:pPr marL="0" indent="0">
              <a:buNone/>
            </a:pPr>
            <a:r>
              <a:rPr lang="en-US" b="1" dirty="0">
                <a:solidFill>
                  <a:schemeClr val="tx1"/>
                </a:solidFill>
              </a:rPr>
              <a:t>Clear Roles and Responsibilities</a:t>
            </a:r>
          </a:p>
          <a:p>
            <a:pPr>
              <a:buClr>
                <a:schemeClr val="tx1"/>
              </a:buClr>
              <a:buFont typeface="Wingdings" panose="05000000000000000000" pitchFamily="2" charset="2"/>
              <a:buChar char="§"/>
            </a:pPr>
            <a:r>
              <a:rPr lang="en-US" dirty="0">
                <a:solidFill>
                  <a:schemeClr val="tx1"/>
                </a:solidFill>
              </a:rPr>
              <a:t>Defines data owners, data stewards, and users.</a:t>
            </a:r>
          </a:p>
          <a:p>
            <a:pPr>
              <a:buClr>
                <a:schemeClr val="tx1"/>
              </a:buClr>
              <a:buFont typeface="Wingdings" panose="05000000000000000000" pitchFamily="2" charset="2"/>
              <a:buChar char="§"/>
            </a:pPr>
            <a:r>
              <a:rPr lang="en-US" dirty="0">
                <a:solidFill>
                  <a:schemeClr val="tx1"/>
                </a:solidFill>
              </a:rPr>
              <a:t>Everyone knows who is responsible for which data.</a:t>
            </a:r>
          </a:p>
          <a:p>
            <a:pPr>
              <a:buClr>
                <a:schemeClr val="tx1"/>
              </a:buClr>
              <a:buFont typeface="Wingdings" panose="05000000000000000000" pitchFamily="2" charset="2"/>
              <a:buChar char="§"/>
            </a:pPr>
            <a:r>
              <a:rPr lang="en-US" dirty="0">
                <a:solidFill>
                  <a:schemeClr val="tx1"/>
                </a:solidFill>
              </a:rPr>
              <a:t>Reduces confusion and improves accountability.</a:t>
            </a:r>
          </a:p>
          <a:p>
            <a:pPr>
              <a:buClr>
                <a:schemeClr val="tx1"/>
              </a:buClr>
              <a:buFont typeface="Wingdings" panose="05000000000000000000" pitchFamily="2" charset="2"/>
              <a:buChar char="§"/>
            </a:pPr>
            <a:br>
              <a:rPr lang="en-US" dirty="0">
                <a:solidFill>
                  <a:schemeClr val="tx1"/>
                </a:solidFill>
              </a:rPr>
            </a:br>
            <a:r>
              <a:rPr lang="en-US" b="1" dirty="0">
                <a:solidFill>
                  <a:schemeClr val="tx1"/>
                </a:solidFill>
              </a:rPr>
              <a:t>Consistent Data Across Systems</a:t>
            </a:r>
          </a:p>
          <a:p>
            <a:pPr>
              <a:buClr>
                <a:schemeClr val="tx1"/>
              </a:buClr>
              <a:buFont typeface="Wingdings" panose="05000000000000000000" pitchFamily="2" charset="2"/>
              <a:buChar char="§"/>
            </a:pPr>
            <a:r>
              <a:rPr lang="en-US" dirty="0">
                <a:solidFill>
                  <a:schemeClr val="tx1"/>
                </a:solidFill>
              </a:rPr>
              <a:t>Ensures that data is standardized across different departments and systems.</a:t>
            </a:r>
          </a:p>
          <a:p>
            <a:pPr>
              <a:buClr>
                <a:schemeClr val="tx1"/>
              </a:buClr>
              <a:buFont typeface="Wingdings" panose="05000000000000000000" pitchFamily="2" charset="2"/>
              <a:buChar char="§"/>
            </a:pPr>
            <a:r>
              <a:rPr lang="en-US" dirty="0">
                <a:solidFill>
                  <a:schemeClr val="tx1"/>
                </a:solidFill>
              </a:rPr>
              <a:t>For example, customer data is the same in CRM, ERP, and reports.</a:t>
            </a:r>
          </a:p>
          <a:p>
            <a:pPr>
              <a:buClr>
                <a:schemeClr val="tx1"/>
              </a:buClr>
              <a:buFont typeface="Wingdings" panose="05000000000000000000" pitchFamily="2" charset="2"/>
              <a:buChar char="§"/>
            </a:pPr>
            <a:r>
              <a:rPr lang="en-US" dirty="0">
                <a:solidFill>
                  <a:schemeClr val="tx1"/>
                </a:solidFill>
              </a:rPr>
              <a:t>Avoids conflicting numbers and confusion.</a:t>
            </a:r>
          </a:p>
          <a:p>
            <a:endParaRPr lang="en-IN" dirty="0"/>
          </a:p>
        </p:txBody>
      </p:sp>
    </p:spTree>
    <p:extLst>
      <p:ext uri="{BB962C8B-B14F-4D97-AF65-F5344CB8AC3E}">
        <p14:creationId xmlns:p14="http://schemas.microsoft.com/office/powerpoint/2010/main" val="18254060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B2FCA4-327E-A532-20D5-34841788C623}"/>
              </a:ext>
            </a:extLst>
          </p:cNvPr>
          <p:cNvSpPr>
            <a:spLocks noGrp="1"/>
          </p:cNvSpPr>
          <p:nvPr>
            <p:ph idx="1"/>
          </p:nvPr>
        </p:nvSpPr>
        <p:spPr>
          <a:xfrm>
            <a:off x="677333" y="688259"/>
            <a:ext cx="10649427" cy="5353104"/>
          </a:xfrm>
        </p:spPr>
        <p:txBody>
          <a:bodyPr/>
          <a:lstStyle/>
          <a:p>
            <a:pPr marL="0" indent="0">
              <a:buNone/>
            </a:pPr>
            <a:r>
              <a:rPr lang="en-US" b="1" dirty="0">
                <a:solidFill>
                  <a:schemeClr val="tx1"/>
                </a:solidFill>
              </a:rPr>
              <a:t>Reduced Costs and Higher Efficiency</a:t>
            </a:r>
          </a:p>
          <a:p>
            <a:pPr>
              <a:buClr>
                <a:schemeClr val="tx1"/>
              </a:buClr>
              <a:buFont typeface="Wingdings" panose="05000000000000000000" pitchFamily="2" charset="2"/>
              <a:buChar char="§"/>
            </a:pPr>
            <a:r>
              <a:rPr lang="en-US" dirty="0">
                <a:solidFill>
                  <a:schemeClr val="tx1"/>
                </a:solidFill>
              </a:rPr>
              <a:t>Less time spent on </a:t>
            </a:r>
            <a:r>
              <a:rPr lang="en-US" b="1" dirty="0">
                <a:solidFill>
                  <a:schemeClr val="tx1"/>
                </a:solidFill>
              </a:rPr>
              <a:t>fixing data errors</a:t>
            </a:r>
            <a:r>
              <a:rPr lang="en-US" dirty="0">
                <a:solidFill>
                  <a:schemeClr val="tx1"/>
                </a:solidFill>
              </a:rPr>
              <a:t>.</a:t>
            </a:r>
          </a:p>
          <a:p>
            <a:pPr>
              <a:buClr>
                <a:schemeClr val="tx1"/>
              </a:buClr>
              <a:buFont typeface="Wingdings" panose="05000000000000000000" pitchFamily="2" charset="2"/>
              <a:buChar char="§"/>
            </a:pPr>
            <a:r>
              <a:rPr lang="en-US" dirty="0">
                <a:solidFill>
                  <a:schemeClr val="tx1"/>
                </a:solidFill>
              </a:rPr>
              <a:t>Fewer duplicate systems or unnecessary data storage.</a:t>
            </a:r>
          </a:p>
          <a:p>
            <a:pPr>
              <a:buClr>
                <a:schemeClr val="tx1"/>
              </a:buClr>
              <a:buFont typeface="Wingdings" panose="05000000000000000000" pitchFamily="2" charset="2"/>
              <a:buChar char="§"/>
            </a:pPr>
            <a:r>
              <a:rPr lang="en-US" dirty="0">
                <a:solidFill>
                  <a:schemeClr val="tx1"/>
                </a:solidFill>
              </a:rPr>
              <a:t>Improves </a:t>
            </a:r>
            <a:r>
              <a:rPr lang="en-US" b="1" dirty="0">
                <a:solidFill>
                  <a:schemeClr val="tx1"/>
                </a:solidFill>
              </a:rPr>
              <a:t>operational efficiency</a:t>
            </a:r>
            <a:r>
              <a:rPr lang="en-US" dirty="0">
                <a:solidFill>
                  <a:schemeClr val="tx1"/>
                </a:solidFill>
              </a:rPr>
              <a:t> and reduces </a:t>
            </a:r>
            <a:r>
              <a:rPr lang="en-US" b="1" dirty="0">
                <a:solidFill>
                  <a:schemeClr val="tx1"/>
                </a:solidFill>
              </a:rPr>
              <a:t>storage and processing costs</a:t>
            </a:r>
            <a:r>
              <a:rPr lang="en-US" dirty="0">
                <a:solidFill>
                  <a:schemeClr val="tx1"/>
                </a:solidFill>
              </a:rPr>
              <a:t>.</a:t>
            </a:r>
            <a:br>
              <a:rPr lang="en-US" dirty="0">
                <a:solidFill>
                  <a:schemeClr val="tx1"/>
                </a:solidFill>
              </a:rPr>
            </a:br>
            <a:endParaRPr lang="en-US" dirty="0">
              <a:solidFill>
                <a:schemeClr val="tx1"/>
              </a:solidFill>
            </a:endParaRPr>
          </a:p>
          <a:p>
            <a:pPr marL="0" indent="0">
              <a:buNone/>
            </a:pPr>
            <a:r>
              <a:rPr lang="en-US" b="1" dirty="0">
                <a:solidFill>
                  <a:schemeClr val="tx1"/>
                </a:solidFill>
              </a:rPr>
              <a:t>Better Support for Analytics and BI</a:t>
            </a:r>
          </a:p>
          <a:p>
            <a:pPr>
              <a:buClr>
                <a:schemeClr val="tx1"/>
              </a:buClr>
              <a:buFont typeface="Wingdings" panose="05000000000000000000" pitchFamily="2" charset="2"/>
              <a:buChar char="§"/>
            </a:pPr>
            <a:r>
              <a:rPr lang="en-US" dirty="0">
                <a:solidFill>
                  <a:schemeClr val="tx1"/>
                </a:solidFill>
              </a:rPr>
              <a:t>Good data governance ensures high-quality input data for:</a:t>
            </a:r>
          </a:p>
          <a:p>
            <a:pPr marL="742950" lvl="2" indent="-342900">
              <a:buClr>
                <a:schemeClr val="tx1"/>
              </a:buClr>
              <a:buFont typeface="Wingdings" panose="05000000000000000000" pitchFamily="2" charset="2"/>
              <a:buChar char="§"/>
            </a:pPr>
            <a:r>
              <a:rPr lang="en-US" sz="1600" dirty="0">
                <a:solidFill>
                  <a:schemeClr val="tx1"/>
                </a:solidFill>
              </a:rPr>
              <a:t>Business Intelligence (BI)</a:t>
            </a:r>
          </a:p>
          <a:p>
            <a:pPr marL="742950" lvl="2" indent="-342900">
              <a:buClr>
                <a:schemeClr val="tx1"/>
              </a:buClr>
              <a:buFont typeface="Wingdings" panose="05000000000000000000" pitchFamily="2" charset="2"/>
              <a:buChar char="§"/>
            </a:pPr>
            <a:r>
              <a:rPr lang="en-US" sz="1600" dirty="0">
                <a:solidFill>
                  <a:schemeClr val="tx1"/>
                </a:solidFill>
              </a:rPr>
              <a:t>Dashboards</a:t>
            </a:r>
          </a:p>
          <a:p>
            <a:pPr marL="742950" lvl="2" indent="-342900">
              <a:buClr>
                <a:schemeClr val="tx1"/>
              </a:buClr>
              <a:buFont typeface="Wingdings" panose="05000000000000000000" pitchFamily="2" charset="2"/>
              <a:buChar char="§"/>
            </a:pPr>
            <a:r>
              <a:rPr lang="en-US" sz="1600" dirty="0">
                <a:solidFill>
                  <a:schemeClr val="tx1"/>
                </a:solidFill>
              </a:rPr>
              <a:t>Data analytics and AI</a:t>
            </a:r>
          </a:p>
          <a:p>
            <a:pPr>
              <a:buClr>
                <a:schemeClr val="tx1"/>
              </a:buClr>
              <a:buFont typeface="Wingdings" panose="05000000000000000000" pitchFamily="2" charset="2"/>
              <a:buChar char="§"/>
            </a:pPr>
            <a:r>
              <a:rPr lang="en-US" dirty="0">
                <a:solidFill>
                  <a:schemeClr val="tx1"/>
                </a:solidFill>
              </a:rPr>
              <a:t>Results are more meaningful and trustworthy.</a:t>
            </a:r>
          </a:p>
          <a:p>
            <a:endParaRPr lang="en-IN" dirty="0"/>
          </a:p>
        </p:txBody>
      </p:sp>
    </p:spTree>
    <p:extLst>
      <p:ext uri="{BB962C8B-B14F-4D97-AF65-F5344CB8AC3E}">
        <p14:creationId xmlns:p14="http://schemas.microsoft.com/office/powerpoint/2010/main" val="30393423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8A9D-7B19-092D-2B85-011D4A9F848D}"/>
              </a:ext>
            </a:extLst>
          </p:cNvPr>
          <p:cNvSpPr>
            <a:spLocks noGrp="1"/>
          </p:cNvSpPr>
          <p:nvPr>
            <p:ph type="title"/>
          </p:nvPr>
        </p:nvSpPr>
        <p:spPr>
          <a:xfrm>
            <a:off x="677334" y="609600"/>
            <a:ext cx="8596668" cy="737419"/>
          </a:xfrm>
        </p:spPr>
        <p:txBody>
          <a:bodyPr/>
          <a:lstStyle/>
          <a:p>
            <a:r>
              <a:rPr lang="en-US" b="1" dirty="0">
                <a:solidFill>
                  <a:schemeClr val="tx1"/>
                </a:solidFill>
              </a:rPr>
              <a:t>What is the Ethical Use of Data?</a:t>
            </a:r>
            <a:endParaRPr lang="en-IN" b="1" dirty="0">
              <a:solidFill>
                <a:schemeClr val="tx1"/>
              </a:solidFill>
            </a:endParaRPr>
          </a:p>
        </p:txBody>
      </p:sp>
      <p:sp>
        <p:nvSpPr>
          <p:cNvPr id="3" name="Content Placeholder 2">
            <a:extLst>
              <a:ext uri="{FF2B5EF4-FFF2-40B4-BE49-F238E27FC236}">
                <a16:creationId xmlns:a16="http://schemas.microsoft.com/office/drawing/2014/main" id="{40D18B01-1A5C-73EB-FC5E-B14964C24345}"/>
              </a:ext>
            </a:extLst>
          </p:cNvPr>
          <p:cNvSpPr>
            <a:spLocks noGrp="1"/>
          </p:cNvSpPr>
          <p:nvPr>
            <p:ph idx="1"/>
          </p:nvPr>
        </p:nvSpPr>
        <p:spPr>
          <a:xfrm>
            <a:off x="677334" y="1445343"/>
            <a:ext cx="10069324" cy="4596020"/>
          </a:xfrm>
        </p:spPr>
        <p:txBody>
          <a:bodyPr/>
          <a:lstStyle/>
          <a:p>
            <a:pPr marL="0" indent="0">
              <a:buNone/>
            </a:pPr>
            <a:r>
              <a:rPr lang="en-IN" sz="2400" dirty="0">
                <a:solidFill>
                  <a:schemeClr val="tx1"/>
                </a:solidFill>
              </a:rPr>
              <a:t>The ethical use of data involves following principles like consent and transparency, fairness and non-discrimination, data minimization, and accountability when collecting, using, and managing data. This means getting clear permission from individuals, being open about how their data is used, ensuring data doesn't perpetuate bias, collecting only what is necessary, and taking responsibility for any data-related issues that arise.  </a:t>
            </a:r>
          </a:p>
          <a:p>
            <a:pPr marL="0" indent="0">
              <a:buNone/>
            </a:pPr>
            <a:endParaRPr lang="en-IN" sz="2400" dirty="0">
              <a:solidFill>
                <a:schemeClr val="tx1"/>
              </a:solidFill>
            </a:endParaRPr>
          </a:p>
          <a:p>
            <a:endParaRPr lang="en-IN" dirty="0"/>
          </a:p>
        </p:txBody>
      </p:sp>
    </p:spTree>
    <p:extLst>
      <p:ext uri="{BB962C8B-B14F-4D97-AF65-F5344CB8AC3E}">
        <p14:creationId xmlns:p14="http://schemas.microsoft.com/office/powerpoint/2010/main" val="17115117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1B607-36EA-6BC4-599C-0AEEE9C5A242}"/>
              </a:ext>
            </a:extLst>
          </p:cNvPr>
          <p:cNvSpPr>
            <a:spLocks noGrp="1"/>
          </p:cNvSpPr>
          <p:nvPr>
            <p:ph idx="1"/>
          </p:nvPr>
        </p:nvSpPr>
        <p:spPr>
          <a:xfrm>
            <a:off x="677333" y="560439"/>
            <a:ext cx="10649427" cy="5820696"/>
          </a:xfrm>
        </p:spPr>
        <p:txBody>
          <a:bodyPr/>
          <a:lstStyle/>
          <a:p>
            <a:pPr marL="0" indent="0">
              <a:buNone/>
            </a:pPr>
            <a:r>
              <a:rPr lang="en-US" sz="2400" b="1" dirty="0">
                <a:solidFill>
                  <a:schemeClr val="tx1"/>
                </a:solidFill>
              </a:rPr>
              <a:t>Key principles of ethical data use:</a:t>
            </a:r>
          </a:p>
          <a:p>
            <a:pPr marL="0" lvl="0" indent="0">
              <a:buNone/>
            </a:pPr>
            <a:r>
              <a:rPr lang="en-IN" sz="2000" b="1" dirty="0">
                <a:solidFill>
                  <a:schemeClr val="tx1"/>
                </a:solidFill>
              </a:rPr>
              <a:t>Consent and Transparency:</a:t>
            </a:r>
            <a:r>
              <a:rPr lang="en-IN" sz="2000" dirty="0">
                <a:solidFill>
                  <a:schemeClr val="tx1"/>
                </a:solidFill>
              </a:rPr>
              <a:t> </a:t>
            </a:r>
          </a:p>
          <a:p>
            <a:pPr marL="0" indent="0">
              <a:buNone/>
            </a:pPr>
            <a:r>
              <a:rPr lang="en-IN" sz="2000" dirty="0">
                <a:solidFill>
                  <a:schemeClr val="tx1"/>
                </a:solidFill>
              </a:rPr>
              <a:t>Obtain informed consent before collecting data and be transparent about what data you are collecting, why, and how it will be used. Individuals should understand their rights and the implications of sharing their information. </a:t>
            </a:r>
          </a:p>
          <a:p>
            <a:pPr marL="0" lvl="0" indent="0">
              <a:buNone/>
            </a:pPr>
            <a:r>
              <a:rPr lang="en-IN" sz="2000" b="1" dirty="0">
                <a:solidFill>
                  <a:schemeClr val="tx1"/>
                </a:solidFill>
              </a:rPr>
              <a:t>Fairness and Non-Discrimination:</a:t>
            </a:r>
            <a:r>
              <a:rPr lang="en-IN" sz="2000" dirty="0">
                <a:solidFill>
                  <a:schemeClr val="tx1"/>
                </a:solidFill>
              </a:rPr>
              <a:t> </a:t>
            </a:r>
          </a:p>
          <a:p>
            <a:pPr marL="0" indent="0">
              <a:buNone/>
            </a:pPr>
            <a:r>
              <a:rPr lang="en-IN" sz="2000" dirty="0">
                <a:solidFill>
                  <a:schemeClr val="tx1"/>
                </a:solidFill>
              </a:rPr>
              <a:t>Avoid using data in ways that perpetuate bias or discrimination. This requires actively identifying and mitigating biases in data collection and analysis to ensure fair outcomes. </a:t>
            </a:r>
          </a:p>
          <a:p>
            <a:pPr marL="0" lvl="0" indent="0">
              <a:buNone/>
            </a:pPr>
            <a:r>
              <a:rPr lang="en-IN" sz="2000" b="1" dirty="0">
                <a:solidFill>
                  <a:schemeClr val="tx1"/>
                </a:solidFill>
              </a:rPr>
              <a:t>Data Minimization:</a:t>
            </a:r>
            <a:r>
              <a:rPr lang="en-IN" sz="2000" dirty="0">
                <a:solidFill>
                  <a:schemeClr val="tx1"/>
                </a:solidFill>
              </a:rPr>
              <a:t> </a:t>
            </a:r>
          </a:p>
          <a:p>
            <a:pPr marL="0" indent="0">
              <a:buNone/>
            </a:pPr>
            <a:r>
              <a:rPr lang="en-IN" sz="2000" dirty="0">
                <a:solidFill>
                  <a:schemeClr val="tx1"/>
                </a:solidFill>
              </a:rPr>
              <a:t>Collect only the data that is necessary for a specific purpose. Avoid collecting excessive data, which not only respects individual privacy but also reduces the risk associated with handling large volumes of sensitive information. </a:t>
            </a:r>
          </a:p>
          <a:p>
            <a:endParaRPr lang="en-IN" dirty="0"/>
          </a:p>
        </p:txBody>
      </p:sp>
    </p:spTree>
    <p:extLst>
      <p:ext uri="{BB962C8B-B14F-4D97-AF65-F5344CB8AC3E}">
        <p14:creationId xmlns:p14="http://schemas.microsoft.com/office/powerpoint/2010/main" val="28858379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573D5-0D3C-BDF2-E375-4B9AE1AFFB46}"/>
              </a:ext>
            </a:extLst>
          </p:cNvPr>
          <p:cNvSpPr>
            <a:spLocks noGrp="1"/>
          </p:cNvSpPr>
          <p:nvPr>
            <p:ph idx="1"/>
          </p:nvPr>
        </p:nvSpPr>
        <p:spPr>
          <a:xfrm>
            <a:off x="677334" y="747253"/>
            <a:ext cx="10521608" cy="5294110"/>
          </a:xfrm>
        </p:spPr>
        <p:txBody>
          <a:bodyPr/>
          <a:lstStyle/>
          <a:p>
            <a:pPr marL="0" lvl="0" indent="0">
              <a:buNone/>
            </a:pPr>
            <a:r>
              <a:rPr lang="en-IN" sz="2000" b="1" dirty="0">
                <a:solidFill>
                  <a:schemeClr val="tx1"/>
                </a:solidFill>
              </a:rPr>
              <a:t>Accountability:</a:t>
            </a:r>
            <a:r>
              <a:rPr lang="en-IN" sz="2000" dirty="0">
                <a:solidFill>
                  <a:schemeClr val="tx1"/>
                </a:solidFill>
              </a:rPr>
              <a:t> </a:t>
            </a:r>
          </a:p>
          <a:p>
            <a:pPr marL="0" indent="0">
              <a:buNone/>
            </a:pPr>
            <a:r>
              <a:rPr lang="en-IN" sz="2000" dirty="0">
                <a:solidFill>
                  <a:schemeClr val="tx1"/>
                </a:solidFill>
              </a:rPr>
              <a:t>Take responsibility for how data is handled throughout its lifecycle, including its collection, use, and disposal. This means establishing governance and having clear lines of responsibility, especially when something goes wrong, such as a data breach. </a:t>
            </a:r>
          </a:p>
          <a:p>
            <a:pPr marL="0" lvl="0" indent="0">
              <a:buNone/>
            </a:pPr>
            <a:r>
              <a:rPr lang="en-IN" sz="2000" b="1" dirty="0">
                <a:solidFill>
                  <a:schemeClr val="tx1"/>
                </a:solidFill>
              </a:rPr>
              <a:t>Privacy and Security:</a:t>
            </a:r>
            <a:r>
              <a:rPr lang="en-IN" sz="2000" dirty="0">
                <a:solidFill>
                  <a:schemeClr val="tx1"/>
                </a:solidFill>
              </a:rPr>
              <a:t> </a:t>
            </a:r>
          </a:p>
          <a:p>
            <a:pPr marL="0" indent="0">
              <a:buNone/>
            </a:pPr>
            <a:r>
              <a:rPr lang="en-IN" sz="2000" dirty="0">
                <a:solidFill>
                  <a:schemeClr val="tx1"/>
                </a:solidFill>
              </a:rPr>
              <a:t>Protect personal data from unauthorized access and ensure it is stored and transmitted securely. </a:t>
            </a:r>
          </a:p>
          <a:p>
            <a:pPr marL="0" lvl="0" indent="0">
              <a:buNone/>
            </a:pPr>
            <a:r>
              <a:rPr lang="en-IN" sz="2000" b="1" dirty="0">
                <a:solidFill>
                  <a:schemeClr val="tx1"/>
                </a:solidFill>
              </a:rPr>
              <a:t>Integrity and Quality:</a:t>
            </a:r>
            <a:r>
              <a:rPr lang="en-IN" sz="2000" dirty="0">
                <a:solidFill>
                  <a:schemeClr val="tx1"/>
                </a:solidFill>
              </a:rPr>
              <a:t> </a:t>
            </a:r>
          </a:p>
          <a:p>
            <a:pPr marL="0" indent="0">
              <a:buNone/>
            </a:pPr>
            <a:r>
              <a:rPr lang="en-IN" sz="2000" dirty="0">
                <a:solidFill>
                  <a:schemeClr val="tx1"/>
                </a:solidFill>
              </a:rPr>
              <a:t>Ensure the accuracy and reliability of the data used to make decisions, as data quality is crucial for trustworthy outcomes. </a:t>
            </a:r>
          </a:p>
          <a:p>
            <a:endParaRPr lang="en-IN" dirty="0"/>
          </a:p>
        </p:txBody>
      </p:sp>
    </p:spTree>
    <p:extLst>
      <p:ext uri="{BB962C8B-B14F-4D97-AF65-F5344CB8AC3E}">
        <p14:creationId xmlns:p14="http://schemas.microsoft.com/office/powerpoint/2010/main" val="12783670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5FB5-0B20-C96D-125B-49C2679098E0}"/>
              </a:ext>
            </a:extLst>
          </p:cNvPr>
          <p:cNvSpPr>
            <a:spLocks noGrp="1"/>
          </p:cNvSpPr>
          <p:nvPr>
            <p:ph type="title"/>
          </p:nvPr>
        </p:nvSpPr>
        <p:spPr>
          <a:xfrm>
            <a:off x="677333" y="609600"/>
            <a:ext cx="10875569" cy="658761"/>
          </a:xfrm>
        </p:spPr>
        <p:txBody>
          <a:bodyPr>
            <a:normAutofit fontScale="90000"/>
          </a:bodyPr>
          <a:lstStyle/>
          <a:p>
            <a:r>
              <a:rPr lang="en-US" b="1" dirty="0">
                <a:solidFill>
                  <a:schemeClr val="tx1"/>
                </a:solidFill>
              </a:rPr>
              <a:t>CCPA vs GDPR compliance: Similarities and Differences</a:t>
            </a:r>
            <a:br>
              <a:rPr lang="en-US" dirty="0"/>
            </a:br>
            <a:endParaRPr lang="en-IN" dirty="0"/>
          </a:p>
        </p:txBody>
      </p:sp>
      <p:sp>
        <p:nvSpPr>
          <p:cNvPr id="3" name="Content Placeholder 2">
            <a:extLst>
              <a:ext uri="{FF2B5EF4-FFF2-40B4-BE49-F238E27FC236}">
                <a16:creationId xmlns:a16="http://schemas.microsoft.com/office/drawing/2014/main" id="{D79DAACB-CD8D-5601-56E5-AFA7EC4FEA68}"/>
              </a:ext>
            </a:extLst>
          </p:cNvPr>
          <p:cNvSpPr>
            <a:spLocks noGrp="1"/>
          </p:cNvSpPr>
          <p:nvPr>
            <p:ph idx="1"/>
          </p:nvPr>
        </p:nvSpPr>
        <p:spPr>
          <a:xfrm>
            <a:off x="677333" y="1376516"/>
            <a:ext cx="10875569" cy="4965289"/>
          </a:xfrm>
        </p:spPr>
        <p:txBody>
          <a:bodyPr/>
          <a:lstStyle/>
          <a:p>
            <a:pPr marL="0" indent="0">
              <a:buNone/>
            </a:pPr>
            <a:r>
              <a:rPr lang="en-US" sz="2000" dirty="0">
                <a:solidFill>
                  <a:schemeClr val="tx1"/>
                </a:solidFill>
              </a:rPr>
              <a:t>Both the </a:t>
            </a:r>
            <a:r>
              <a:rPr lang="en-US" sz="2000" b="1" dirty="0">
                <a:solidFill>
                  <a:schemeClr val="tx1"/>
                </a:solidFill>
              </a:rPr>
              <a:t>General Data Protection Regulation (GDPR)</a:t>
            </a:r>
            <a:r>
              <a:rPr lang="en-US" sz="2000" dirty="0">
                <a:solidFill>
                  <a:schemeClr val="tx1"/>
                </a:solidFill>
              </a:rPr>
              <a:t> and the </a:t>
            </a:r>
            <a:r>
              <a:rPr lang="en-US" sz="2000" b="1" dirty="0">
                <a:solidFill>
                  <a:schemeClr val="tx1"/>
                </a:solidFill>
              </a:rPr>
              <a:t>California Consumer Privacy Act (CCPA)</a:t>
            </a:r>
            <a:r>
              <a:rPr lang="en-US" sz="2000" dirty="0">
                <a:solidFill>
                  <a:schemeClr val="tx1"/>
                </a:solidFill>
              </a:rPr>
              <a:t> aim to give individuals greater control and transparency over their personal data, but they differ significantly in scope, core principles, and enforcement.</a:t>
            </a:r>
          </a:p>
          <a:p>
            <a:pPr marL="0" indent="0">
              <a:buNone/>
            </a:pPr>
            <a:r>
              <a:rPr lang="en-US" sz="2000" b="1" dirty="0">
                <a:solidFill>
                  <a:schemeClr val="tx1"/>
                </a:solidFill>
              </a:rPr>
              <a:t>Both aim to protect individuals’ personal data and give them control over how businesses use it.</a:t>
            </a:r>
            <a:endParaRPr lang="en-US" sz="2000" dirty="0">
              <a:solidFill>
                <a:schemeClr val="tx1"/>
              </a:solidFill>
            </a:endParaRPr>
          </a:p>
          <a:p>
            <a:pPr marL="0" indent="0">
              <a:buNone/>
            </a:pPr>
            <a:r>
              <a:rPr lang="en-US" sz="2000" b="1" dirty="0">
                <a:solidFill>
                  <a:schemeClr val="tx1"/>
                </a:solidFill>
              </a:rPr>
              <a:t>GDPR focus:</a:t>
            </a:r>
            <a:endParaRPr lang="en-US" sz="2000" dirty="0">
              <a:solidFill>
                <a:schemeClr val="tx1"/>
              </a:solidFill>
            </a:endParaRPr>
          </a:p>
          <a:p>
            <a:pPr marL="457200" lvl="1" indent="0">
              <a:buNone/>
            </a:pPr>
            <a:r>
              <a:rPr lang="en-US" sz="2000" dirty="0">
                <a:solidFill>
                  <a:schemeClr val="tx1"/>
                </a:solidFill>
              </a:rPr>
              <a:t>Broad </a:t>
            </a:r>
            <a:r>
              <a:rPr lang="en-US" sz="2000" b="1" dirty="0">
                <a:solidFill>
                  <a:schemeClr val="tx1"/>
                </a:solidFill>
              </a:rPr>
              <a:t>data protection &amp; privacy</a:t>
            </a:r>
            <a:r>
              <a:rPr lang="en-US" sz="2000" dirty="0">
                <a:solidFill>
                  <a:schemeClr val="tx1"/>
                </a:solidFill>
              </a:rPr>
              <a:t> framework</a:t>
            </a:r>
          </a:p>
          <a:p>
            <a:pPr marL="457200" lvl="1" indent="0">
              <a:buNone/>
            </a:pPr>
            <a:r>
              <a:rPr lang="en-US" sz="2000" dirty="0">
                <a:solidFill>
                  <a:schemeClr val="tx1"/>
                </a:solidFill>
              </a:rPr>
              <a:t>Strong on </a:t>
            </a:r>
            <a:r>
              <a:rPr lang="en-US" sz="2000" b="1" dirty="0">
                <a:solidFill>
                  <a:schemeClr val="tx1"/>
                </a:solidFill>
              </a:rPr>
              <a:t>lawful basis</a:t>
            </a:r>
            <a:r>
              <a:rPr lang="en-US" sz="2000" dirty="0">
                <a:solidFill>
                  <a:schemeClr val="tx1"/>
                </a:solidFill>
              </a:rPr>
              <a:t>, </a:t>
            </a:r>
            <a:r>
              <a:rPr lang="en-US" sz="2000" b="1" dirty="0">
                <a:solidFill>
                  <a:schemeClr val="tx1"/>
                </a:solidFill>
              </a:rPr>
              <a:t>consent</a:t>
            </a:r>
            <a:r>
              <a:rPr lang="en-US" sz="2000" dirty="0">
                <a:solidFill>
                  <a:schemeClr val="tx1"/>
                </a:solidFill>
              </a:rPr>
              <a:t>, and </a:t>
            </a:r>
            <a:r>
              <a:rPr lang="en-US" sz="2000" b="1" dirty="0">
                <a:solidFill>
                  <a:schemeClr val="tx1"/>
                </a:solidFill>
              </a:rPr>
              <a:t>data minimization</a:t>
            </a:r>
            <a:endParaRPr lang="en-US" sz="2000" dirty="0">
              <a:solidFill>
                <a:schemeClr val="tx1"/>
              </a:solidFill>
            </a:endParaRPr>
          </a:p>
          <a:p>
            <a:pPr marL="0" indent="0">
              <a:buNone/>
            </a:pPr>
            <a:r>
              <a:rPr lang="en-US" sz="2000" b="1" dirty="0">
                <a:solidFill>
                  <a:schemeClr val="tx1"/>
                </a:solidFill>
              </a:rPr>
              <a:t>CCPA focus:</a:t>
            </a:r>
            <a:endParaRPr lang="en-US" sz="2000" dirty="0">
              <a:solidFill>
                <a:schemeClr val="tx1"/>
              </a:solidFill>
            </a:endParaRPr>
          </a:p>
          <a:p>
            <a:pPr marL="457200" lvl="1" indent="0">
              <a:buNone/>
            </a:pPr>
            <a:r>
              <a:rPr lang="en-US" sz="2000" dirty="0">
                <a:solidFill>
                  <a:schemeClr val="tx1"/>
                </a:solidFill>
              </a:rPr>
              <a:t>More about </a:t>
            </a:r>
            <a:r>
              <a:rPr lang="en-US" sz="2000" b="1" dirty="0">
                <a:solidFill>
                  <a:schemeClr val="tx1"/>
                </a:solidFill>
              </a:rPr>
              <a:t>consumer rights</a:t>
            </a:r>
            <a:r>
              <a:rPr lang="en-US" sz="2000" dirty="0">
                <a:solidFill>
                  <a:schemeClr val="tx1"/>
                </a:solidFill>
              </a:rPr>
              <a:t> and </a:t>
            </a:r>
            <a:r>
              <a:rPr lang="en-US" sz="2000" b="1" dirty="0">
                <a:solidFill>
                  <a:schemeClr val="tx1"/>
                </a:solidFill>
              </a:rPr>
              <a:t>data transparency</a:t>
            </a:r>
            <a:endParaRPr lang="en-US" sz="2000" dirty="0">
              <a:solidFill>
                <a:schemeClr val="tx1"/>
              </a:solidFill>
            </a:endParaRPr>
          </a:p>
          <a:p>
            <a:pPr marL="457200" lvl="1" indent="0">
              <a:buNone/>
            </a:pPr>
            <a:r>
              <a:rPr lang="en-US" sz="2000" dirty="0">
                <a:solidFill>
                  <a:schemeClr val="tx1"/>
                </a:solidFill>
              </a:rPr>
              <a:t>Strong on </a:t>
            </a:r>
            <a:r>
              <a:rPr lang="en-US" sz="2000" b="1" dirty="0">
                <a:solidFill>
                  <a:schemeClr val="tx1"/>
                </a:solidFill>
              </a:rPr>
              <a:t>“Do Not Sell or Share My Personal Information”</a:t>
            </a:r>
            <a:endParaRPr lang="en-US" sz="2000" dirty="0">
              <a:solidFill>
                <a:schemeClr val="tx1"/>
              </a:solidFill>
            </a:endParaRPr>
          </a:p>
          <a:p>
            <a:endParaRPr lang="en-IN" dirty="0"/>
          </a:p>
        </p:txBody>
      </p:sp>
    </p:spTree>
    <p:extLst>
      <p:ext uri="{BB962C8B-B14F-4D97-AF65-F5344CB8AC3E}">
        <p14:creationId xmlns:p14="http://schemas.microsoft.com/office/powerpoint/2010/main" val="6801541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44795A-7A28-262F-393D-07E40977FC21}"/>
              </a:ext>
            </a:extLst>
          </p:cNvPr>
          <p:cNvSpPr>
            <a:spLocks noGrp="1"/>
          </p:cNvSpPr>
          <p:nvPr>
            <p:ph idx="1"/>
          </p:nvPr>
        </p:nvSpPr>
        <p:spPr>
          <a:xfrm>
            <a:off x="677334" y="727587"/>
            <a:ext cx="10659260" cy="5565058"/>
          </a:xfrm>
        </p:spPr>
        <p:txBody>
          <a:bodyPr/>
          <a:lstStyle/>
          <a:p>
            <a:pPr marL="0" indent="0">
              <a:buNone/>
            </a:pPr>
            <a:r>
              <a:rPr lang="en-IN" sz="2400" b="1" dirty="0">
                <a:solidFill>
                  <a:schemeClr val="tx1"/>
                </a:solidFill>
              </a:rPr>
              <a:t>Key Similarities: </a:t>
            </a:r>
          </a:p>
          <a:p>
            <a:pPr marL="0" indent="0">
              <a:buNone/>
            </a:pPr>
            <a:r>
              <a:rPr lang="en-US" sz="2000" b="1" dirty="0">
                <a:solidFill>
                  <a:schemeClr val="tx1"/>
                </a:solidFill>
              </a:rPr>
              <a:t>Goal:</a:t>
            </a:r>
            <a:r>
              <a:rPr lang="en-US" sz="2000" dirty="0">
                <a:solidFill>
                  <a:schemeClr val="tx1"/>
                </a:solidFill>
              </a:rPr>
              <a:t> Both regulations share the primary objective of protecting individual data privacy rights and enhancing transparency in data handling practices.</a:t>
            </a:r>
          </a:p>
          <a:p>
            <a:pPr marL="0" indent="0">
              <a:buNone/>
            </a:pPr>
            <a:r>
              <a:rPr lang="en-US" sz="2000" b="1" dirty="0">
                <a:solidFill>
                  <a:schemeClr val="tx1"/>
                </a:solidFill>
              </a:rPr>
              <a:t>Global Reach:</a:t>
            </a:r>
            <a:r>
              <a:rPr lang="en-US" sz="2000" dirty="0">
                <a:solidFill>
                  <a:schemeClr val="tx1"/>
                </a:solidFill>
              </a:rPr>
              <a:t> Both laws can apply to organizations worldwide, provided they process the personal data of EU residents (GDPR) or California residents (CCPA), regardless of the business's physical location.</a:t>
            </a:r>
          </a:p>
          <a:p>
            <a:pPr marL="0" indent="0">
              <a:buNone/>
            </a:pPr>
            <a:r>
              <a:rPr lang="en-US" sz="2000" b="1" dirty="0">
                <a:solidFill>
                  <a:schemeClr val="tx1"/>
                </a:solidFill>
              </a:rPr>
              <a:t>Consumer Rights:</a:t>
            </a:r>
            <a:r>
              <a:rPr lang="en-US" sz="2000" dirty="0">
                <a:solidFill>
                  <a:schemeClr val="tx1"/>
                </a:solidFill>
              </a:rPr>
              <a:t> Both grant individuals similar core rights concerning their data, including the right to know what data is collected, the right to access that data, and the right to request its deletion (right to erasure).</a:t>
            </a:r>
          </a:p>
          <a:p>
            <a:pPr marL="0" indent="0">
              <a:buNone/>
            </a:pPr>
            <a:r>
              <a:rPr lang="en-US" sz="2000" b="1" dirty="0">
                <a:solidFill>
                  <a:schemeClr val="tx1"/>
                </a:solidFill>
              </a:rPr>
              <a:t>Security Measures:</a:t>
            </a:r>
            <a:r>
              <a:rPr lang="en-US" sz="2000" dirty="0">
                <a:solidFill>
                  <a:schemeClr val="tx1"/>
                </a:solidFill>
              </a:rPr>
              <a:t> Both require organizations to implement reasonable security measures to protect personal data and mandate breach notifications to affected individuals.</a:t>
            </a:r>
          </a:p>
          <a:p>
            <a:pPr marL="0" indent="0">
              <a:buNone/>
            </a:pPr>
            <a:r>
              <a:rPr lang="en-US" sz="2000" b="1" dirty="0">
                <a:solidFill>
                  <a:schemeClr val="tx1"/>
                </a:solidFill>
              </a:rPr>
              <a:t>Penalties:</a:t>
            </a:r>
            <a:r>
              <a:rPr lang="en-US" sz="2000" dirty="0">
                <a:solidFill>
                  <a:schemeClr val="tx1"/>
                </a:solidFill>
              </a:rPr>
              <a:t> Both laws impose significant fines for non-compliance, aiming to deter violations and ensure accountability. </a:t>
            </a:r>
          </a:p>
          <a:p>
            <a:endParaRPr lang="en-IN" dirty="0"/>
          </a:p>
        </p:txBody>
      </p:sp>
    </p:spTree>
    <p:extLst>
      <p:ext uri="{BB962C8B-B14F-4D97-AF65-F5344CB8AC3E}">
        <p14:creationId xmlns:p14="http://schemas.microsoft.com/office/powerpoint/2010/main" val="13331923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9F4D6-9FCE-0D13-7690-B9383793761B}"/>
              </a:ext>
            </a:extLst>
          </p:cNvPr>
          <p:cNvSpPr>
            <a:spLocks noGrp="1"/>
          </p:cNvSpPr>
          <p:nvPr>
            <p:ph idx="1"/>
          </p:nvPr>
        </p:nvSpPr>
        <p:spPr>
          <a:xfrm>
            <a:off x="677333" y="648929"/>
            <a:ext cx="10698589" cy="5673213"/>
          </a:xfrm>
        </p:spPr>
        <p:txBody>
          <a:bodyPr/>
          <a:lstStyle/>
          <a:p>
            <a:pPr marL="0" indent="0">
              <a:buNone/>
            </a:pPr>
            <a:r>
              <a:rPr lang="en-IN" b="1" dirty="0">
                <a:solidFill>
                  <a:schemeClr val="tx1"/>
                </a:solidFill>
              </a:rPr>
              <a:t>Key Differences :</a:t>
            </a:r>
          </a:p>
          <a:p>
            <a:endParaRPr lang="en-IN" dirty="0"/>
          </a:p>
        </p:txBody>
      </p:sp>
      <p:graphicFrame>
        <p:nvGraphicFramePr>
          <p:cNvPr id="4" name="Table 3">
            <a:extLst>
              <a:ext uri="{FF2B5EF4-FFF2-40B4-BE49-F238E27FC236}">
                <a16:creationId xmlns:a16="http://schemas.microsoft.com/office/drawing/2014/main" id="{EE1CD464-860E-2BBD-C6BE-F30A43707B0E}"/>
              </a:ext>
            </a:extLst>
          </p:cNvPr>
          <p:cNvGraphicFramePr>
            <a:graphicFrameLocks noGrp="1"/>
          </p:cNvGraphicFramePr>
          <p:nvPr>
            <p:extLst>
              <p:ext uri="{D42A27DB-BD31-4B8C-83A1-F6EECF244321}">
                <p14:modId xmlns:p14="http://schemas.microsoft.com/office/powerpoint/2010/main" val="2646734836"/>
              </p:ext>
            </p:extLst>
          </p:nvPr>
        </p:nvGraphicFramePr>
        <p:xfrm>
          <a:off x="993058" y="1150374"/>
          <a:ext cx="9891252" cy="5445898"/>
        </p:xfrm>
        <a:graphic>
          <a:graphicData uri="http://schemas.openxmlformats.org/drawingml/2006/table">
            <a:tbl>
              <a:tblPr firstRow="1" firstCol="1" bandRow="1">
                <a:tableStyleId>{5C22544A-7EE6-4342-B048-85BDC9FD1C3A}</a:tableStyleId>
              </a:tblPr>
              <a:tblGrid>
                <a:gridCol w="3297084">
                  <a:extLst>
                    <a:ext uri="{9D8B030D-6E8A-4147-A177-3AD203B41FA5}">
                      <a16:colId xmlns:a16="http://schemas.microsoft.com/office/drawing/2014/main" val="625115618"/>
                    </a:ext>
                  </a:extLst>
                </a:gridCol>
                <a:gridCol w="3297084">
                  <a:extLst>
                    <a:ext uri="{9D8B030D-6E8A-4147-A177-3AD203B41FA5}">
                      <a16:colId xmlns:a16="http://schemas.microsoft.com/office/drawing/2014/main" val="819077228"/>
                    </a:ext>
                  </a:extLst>
                </a:gridCol>
                <a:gridCol w="3297084">
                  <a:extLst>
                    <a:ext uri="{9D8B030D-6E8A-4147-A177-3AD203B41FA5}">
                      <a16:colId xmlns:a16="http://schemas.microsoft.com/office/drawing/2014/main" val="107233121"/>
                    </a:ext>
                  </a:extLst>
                </a:gridCol>
              </a:tblGrid>
              <a:tr h="675499">
                <a:tc>
                  <a:txBody>
                    <a:bodyPr/>
                    <a:lstStyle/>
                    <a:p>
                      <a:pPr>
                        <a:lnSpc>
                          <a:spcPct val="107000"/>
                        </a:lnSpc>
                        <a:spcAft>
                          <a:spcPts val="800"/>
                        </a:spcAft>
                        <a:buNone/>
                      </a:pPr>
                      <a:r>
                        <a:rPr lang="en-IN" sz="1800" kern="100" dirty="0">
                          <a:solidFill>
                            <a:sysClr val="windowText" lastClr="000000"/>
                          </a:solidFill>
                          <a:effectLst/>
                        </a:rPr>
                        <a:t>Feature </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a:solidFill>
                            <a:sysClr val="windowText" lastClr="000000"/>
                          </a:solidFill>
                          <a:effectLst/>
                        </a:rPr>
                        <a:t>GDPR (General Data Protection Regulation)</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a:solidFill>
                            <a:sysClr val="windowText" lastClr="000000"/>
                          </a:solidFill>
                          <a:effectLst/>
                        </a:rPr>
                        <a:t>CCPA (California Consumer Privacy Act)</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9742503"/>
                  </a:ext>
                </a:extLst>
              </a:tr>
              <a:tr h="1102941">
                <a:tc>
                  <a:txBody>
                    <a:bodyPr/>
                    <a:lstStyle/>
                    <a:p>
                      <a:pPr>
                        <a:lnSpc>
                          <a:spcPct val="107000"/>
                        </a:lnSpc>
                        <a:spcAft>
                          <a:spcPts val="800"/>
                        </a:spcAft>
                        <a:buNone/>
                      </a:pPr>
                      <a:r>
                        <a:rPr lang="en-IN" sz="1800" kern="100" dirty="0">
                          <a:solidFill>
                            <a:sysClr val="windowText" lastClr="000000"/>
                          </a:solidFill>
                          <a:effectLst/>
                        </a:rPr>
                        <a:t>Jurisdiction</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dirty="0">
                          <a:solidFill>
                            <a:sysClr val="windowText" lastClr="000000"/>
                          </a:solidFill>
                          <a:effectLst/>
                        </a:rPr>
                        <a:t>The entire European Union and European Economic Area (EEA).</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a:solidFill>
                            <a:sysClr val="windowText" lastClr="000000"/>
                          </a:solidFill>
                          <a:effectLst/>
                        </a:rPr>
                        <a:t>The state of California, U.S..</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3092264"/>
                  </a:ext>
                </a:extLst>
              </a:tr>
              <a:tr h="1625114">
                <a:tc>
                  <a:txBody>
                    <a:bodyPr/>
                    <a:lstStyle/>
                    <a:p>
                      <a:pPr>
                        <a:lnSpc>
                          <a:spcPct val="107000"/>
                        </a:lnSpc>
                        <a:spcAft>
                          <a:spcPts val="800"/>
                        </a:spcAft>
                        <a:buNone/>
                      </a:pPr>
                      <a:r>
                        <a:rPr lang="en-IN" sz="1800" kern="100">
                          <a:solidFill>
                            <a:sysClr val="windowText" lastClr="000000"/>
                          </a:solidFill>
                          <a:effectLst/>
                        </a:rPr>
                        <a:t>Who is Protected</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dirty="0">
                          <a:solidFill>
                            <a:sysClr val="windowText" lastClr="000000"/>
                          </a:solidFill>
                          <a:effectLst/>
                        </a:rPr>
                        <a:t>Any individual ("data subject") located within the EU at the time of data processing, regardless of citizenship or residency.</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a:solidFill>
                            <a:sysClr val="windowText" lastClr="000000"/>
                          </a:solidFill>
                          <a:effectLst/>
                        </a:rPr>
                        <a:t>Only permanent California residents ("consumers").</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2361691"/>
                  </a:ext>
                </a:extLst>
              </a:tr>
              <a:tr h="1886201">
                <a:tc>
                  <a:txBody>
                    <a:bodyPr/>
                    <a:lstStyle/>
                    <a:p>
                      <a:pPr>
                        <a:lnSpc>
                          <a:spcPct val="107000"/>
                        </a:lnSpc>
                        <a:spcAft>
                          <a:spcPts val="800"/>
                        </a:spcAft>
                        <a:buNone/>
                      </a:pPr>
                      <a:r>
                        <a:rPr lang="en-IN" sz="1800" kern="100">
                          <a:solidFill>
                            <a:sysClr val="windowText" lastClr="000000"/>
                          </a:solidFill>
                          <a:effectLst/>
                        </a:rPr>
                        <a:t>Scope of Application</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a:solidFill>
                            <a:sysClr val="windowText" lastClr="000000"/>
                          </a:solidFill>
                          <a:effectLst/>
                        </a:rPr>
                        <a:t>Applies to virtually all organizations that process data of EU individuals, with no specific revenue or data volume thresholds.</a:t>
                      </a:r>
                      <a:endParaRPr lang="en-IN" sz="18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800" kern="100" dirty="0">
                          <a:solidFill>
                            <a:sysClr val="windowText" lastClr="000000"/>
                          </a:solidFill>
                          <a:effectLst/>
                        </a:rPr>
                        <a:t>Applies only to for-profit businesses meeting specific thresholds (e.g., annual revenue over $25 million, or handling data of 100,000+ consumers/households).</a:t>
                      </a:r>
                      <a:endParaRPr lang="en-IN" sz="18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2911500"/>
                  </a:ext>
                </a:extLst>
              </a:tr>
            </a:tbl>
          </a:graphicData>
        </a:graphic>
      </p:graphicFrame>
    </p:spTree>
    <p:extLst>
      <p:ext uri="{BB962C8B-B14F-4D97-AF65-F5344CB8AC3E}">
        <p14:creationId xmlns:p14="http://schemas.microsoft.com/office/powerpoint/2010/main" val="35999642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E6D9903-4BAC-7B3E-B951-710EA125BEB7}"/>
              </a:ext>
            </a:extLst>
          </p:cNvPr>
          <p:cNvGraphicFramePr>
            <a:graphicFrameLocks noGrp="1"/>
          </p:cNvGraphicFramePr>
          <p:nvPr>
            <p:ph idx="1"/>
            <p:extLst>
              <p:ext uri="{D42A27DB-BD31-4B8C-83A1-F6EECF244321}">
                <p14:modId xmlns:p14="http://schemas.microsoft.com/office/powerpoint/2010/main" val="2011102464"/>
              </p:ext>
            </p:extLst>
          </p:nvPr>
        </p:nvGraphicFramePr>
        <p:xfrm>
          <a:off x="727587" y="609600"/>
          <a:ext cx="10717161" cy="5828637"/>
        </p:xfrm>
        <a:graphic>
          <a:graphicData uri="http://schemas.openxmlformats.org/drawingml/2006/table">
            <a:tbl>
              <a:tblPr firstRow="1" firstCol="1" bandRow="1">
                <a:tableStyleId>{5C22544A-7EE6-4342-B048-85BDC9FD1C3A}</a:tableStyleId>
              </a:tblPr>
              <a:tblGrid>
                <a:gridCol w="3539613">
                  <a:extLst>
                    <a:ext uri="{9D8B030D-6E8A-4147-A177-3AD203B41FA5}">
                      <a16:colId xmlns:a16="http://schemas.microsoft.com/office/drawing/2014/main" val="2301844875"/>
                    </a:ext>
                  </a:extLst>
                </a:gridCol>
                <a:gridCol w="3588774">
                  <a:extLst>
                    <a:ext uri="{9D8B030D-6E8A-4147-A177-3AD203B41FA5}">
                      <a16:colId xmlns:a16="http://schemas.microsoft.com/office/drawing/2014/main" val="4225541562"/>
                    </a:ext>
                  </a:extLst>
                </a:gridCol>
                <a:gridCol w="3588774">
                  <a:extLst>
                    <a:ext uri="{9D8B030D-6E8A-4147-A177-3AD203B41FA5}">
                      <a16:colId xmlns:a16="http://schemas.microsoft.com/office/drawing/2014/main" val="2094524686"/>
                    </a:ext>
                  </a:extLst>
                </a:gridCol>
              </a:tblGrid>
              <a:tr h="1523144">
                <a:tc>
                  <a:txBody>
                    <a:bodyPr/>
                    <a:lstStyle/>
                    <a:p>
                      <a:pPr>
                        <a:lnSpc>
                          <a:spcPct val="107000"/>
                        </a:lnSpc>
                        <a:spcAft>
                          <a:spcPts val="800"/>
                        </a:spcAft>
                        <a:buNone/>
                      </a:pPr>
                      <a:r>
                        <a:rPr lang="en-IN" sz="1600" kern="100" dirty="0">
                          <a:solidFill>
                            <a:sysClr val="windowText" lastClr="000000"/>
                          </a:solidFill>
                          <a:effectLst/>
                        </a:rPr>
                        <a:t>Legal Basis for Processing</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Requires a legal basis (e.g., explicit opt-in consent, contract necessity, or legitimate interest) before processing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Allows data processing by default but requires businesses to provide a clear option for consumers to opt-out of the sale or sharing of their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6980169"/>
                  </a:ext>
                </a:extLst>
              </a:tr>
              <a:tr h="1231601">
                <a:tc>
                  <a:txBody>
                    <a:bodyPr/>
                    <a:lstStyle/>
                    <a:p>
                      <a:pPr>
                        <a:lnSpc>
                          <a:spcPct val="107000"/>
                        </a:lnSpc>
                        <a:spcAft>
                          <a:spcPts val="800"/>
                        </a:spcAft>
                        <a:buNone/>
                      </a:pPr>
                      <a:r>
                        <a:rPr lang="en-IN" sz="1600" kern="100">
                          <a:solidFill>
                            <a:sysClr val="windowText" lastClr="000000"/>
                          </a:solidFill>
                          <a:effectLst/>
                        </a:rPr>
                        <a:t>Data Definition</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Broadly defines "personal data" as any information related to an identified or identifiable natural person.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Broadly defines "personal information" to include data that can be linked to a consumer or household/device.</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1832770"/>
                  </a:ext>
                </a:extLst>
              </a:tr>
              <a:tr h="1523144">
                <a:tc>
                  <a:txBody>
                    <a:bodyPr/>
                    <a:lstStyle/>
                    <a:p>
                      <a:pPr>
                        <a:lnSpc>
                          <a:spcPct val="107000"/>
                        </a:lnSpc>
                        <a:spcAft>
                          <a:spcPts val="800"/>
                        </a:spcAft>
                        <a:buNone/>
                      </a:pPr>
                      <a:r>
                        <a:rPr lang="en-IN" sz="1600" kern="100">
                          <a:solidFill>
                            <a:sysClr val="windowText" lastClr="000000"/>
                          </a:solidFill>
                          <a:effectLst/>
                        </a:rPr>
                        <a:t>User Rights</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Includes rights for access, deletion, rectification, data portability, objection to processing, and restriction of processing.</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Grants rights to know (access), delete, opt-out of data sales/sharing, and nondiscrimination. (The CPRA amendment added a right to correct inaccurate data).</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40496840"/>
                  </a:ext>
                </a:extLst>
              </a:tr>
              <a:tr h="1523144">
                <a:tc>
                  <a:txBody>
                    <a:bodyPr/>
                    <a:lstStyle/>
                    <a:p>
                      <a:pPr>
                        <a:lnSpc>
                          <a:spcPct val="107000"/>
                        </a:lnSpc>
                        <a:spcAft>
                          <a:spcPts val="800"/>
                        </a:spcAft>
                        <a:buNone/>
                      </a:pPr>
                      <a:r>
                        <a:rPr lang="en-IN" sz="1600" kern="100">
                          <a:solidFill>
                            <a:sysClr val="windowText" lastClr="000000"/>
                          </a:solidFill>
                          <a:effectLst/>
                        </a:rPr>
                        <a:t>Penalties</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a:solidFill>
                            <a:sysClr val="windowText" lastClr="000000"/>
                          </a:solidFill>
                          <a:effectLst/>
                        </a:rPr>
                        <a:t>Higher potential fines: up to €20 million or 4% of a company's annual global turnover, whichever is higher.</a:t>
                      </a:r>
                      <a:endParaRPr lang="en-IN" sz="1600" kern="10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9525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buNone/>
                      </a:pPr>
                      <a:r>
                        <a:rPr lang="en-IN" sz="1600" kern="100" dirty="0">
                          <a:solidFill>
                            <a:sysClr val="windowText" lastClr="000000"/>
                          </a:solidFill>
                          <a:effectLst/>
                        </a:rPr>
                        <a:t>Lower set fines: $2,500 for unintentional and $7,500 for intentional violations (per consumer/incident), with potential for consumer civil litigation.</a:t>
                      </a:r>
                      <a:endParaRPr lang="en-IN" sz="1600" kern="1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0" marR="0" marT="114300" marB="1143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2190826"/>
                  </a:ext>
                </a:extLst>
              </a:tr>
            </a:tbl>
          </a:graphicData>
        </a:graphic>
      </p:graphicFrame>
    </p:spTree>
    <p:extLst>
      <p:ext uri="{BB962C8B-B14F-4D97-AF65-F5344CB8AC3E}">
        <p14:creationId xmlns:p14="http://schemas.microsoft.com/office/powerpoint/2010/main" val="311337919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1874</TotalTime>
  <Words>6957</Words>
  <Application>Microsoft Office PowerPoint</Application>
  <PresentationFormat>Widescreen</PresentationFormat>
  <Paragraphs>676</Paragraphs>
  <Slides>89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Trebuchet MS</vt:lpstr>
      <vt:lpstr>Wingdings</vt:lpstr>
      <vt:lpstr>Wingdings 3</vt:lpstr>
      <vt:lpstr>Facet</vt:lpstr>
      <vt:lpstr>Information Technology </vt:lpstr>
      <vt:lpstr>What is Information Technology?</vt:lpstr>
      <vt:lpstr>IT vs. Computer Science</vt:lpstr>
      <vt:lpstr>Importance of IT:</vt:lpstr>
      <vt:lpstr>Core Components of IT</vt:lpstr>
      <vt:lpstr>Computer Hardware</vt:lpstr>
      <vt:lpstr>Computer Software</vt:lpstr>
      <vt:lpstr>Networking and Internet</vt:lpstr>
      <vt:lpstr>Database Management Systems (DBMS)</vt:lpstr>
      <vt:lpstr>Information Security and Cybersecurity</vt:lpstr>
      <vt:lpstr>Cloud Computing</vt:lpstr>
      <vt:lpstr>Emerging IT Technologies</vt:lpstr>
      <vt:lpstr>Applications of IT in Business</vt:lpstr>
      <vt:lpstr>IT in Education and Society</vt:lpstr>
      <vt:lpstr>The Role of Information Technology in Modern Business </vt:lpstr>
      <vt:lpstr>Key roles of IT in modern business:</vt:lpstr>
      <vt:lpstr>PowerPoint Presentation</vt:lpstr>
      <vt:lpstr>PowerPoint Presentation</vt:lpstr>
      <vt:lpstr>Enterprise Resource Planning</vt:lpstr>
      <vt:lpstr>Key Features of ERP Systems</vt:lpstr>
      <vt:lpstr>Core Modules in ERP</vt:lpstr>
      <vt:lpstr>Benefits of ERP</vt:lpstr>
      <vt:lpstr>Popular ERP Software</vt:lpstr>
      <vt:lpstr>How Enterprise Resource Planning Platforms Work</vt:lpstr>
      <vt:lpstr>Centralized Database</vt:lpstr>
      <vt:lpstr>Integration of Business Processes</vt:lpstr>
      <vt:lpstr>Automation of Tasks</vt:lpstr>
      <vt:lpstr>Real-Time Data and Reporting</vt:lpstr>
      <vt:lpstr>Modular Structure</vt:lpstr>
      <vt:lpstr>Cloud and On-Premise Deployment</vt:lpstr>
      <vt:lpstr>Security and Access Control</vt:lpstr>
      <vt:lpstr>Continuous Updates and Scalability</vt:lpstr>
      <vt:lpstr>Types of ERP</vt:lpstr>
      <vt:lpstr>Benefits of ERP</vt:lpstr>
      <vt:lpstr>Benefits of ERP</vt:lpstr>
      <vt:lpstr>ERP vs CRM</vt:lpstr>
      <vt:lpstr>ERP vs CRM</vt:lpstr>
      <vt:lpstr>The Relationship between Business Strategy, IT Strategy and Alignment Capability </vt:lpstr>
      <vt:lpstr>PowerPoint Presentation</vt:lpstr>
      <vt:lpstr>PowerPoint Presentation</vt:lpstr>
      <vt:lpstr>How They Work Together</vt:lpstr>
      <vt:lpstr>The Alignment Cycle</vt:lpstr>
      <vt:lpstr>Difference between Structured, Semi-structured and Unstructured data </vt:lpstr>
      <vt:lpstr>Structured Data</vt:lpstr>
      <vt:lpstr>Semi-structured Data</vt:lpstr>
      <vt:lpstr>Unstructured Data</vt:lpstr>
      <vt:lpstr>Common Data Sources (internal data, third-party analytics, external data and open data) </vt:lpstr>
      <vt:lpstr>PowerPoint Presentation</vt:lpstr>
      <vt:lpstr>PowerPoint Presentation</vt:lpstr>
      <vt:lpstr>PowerPoint Presentation</vt:lpstr>
      <vt:lpstr>Data Collection</vt:lpstr>
      <vt:lpstr>Types of Data Collection (Based on Source)</vt:lpstr>
      <vt:lpstr>Introduction to data lifecycle management (DLM) </vt:lpstr>
      <vt:lpstr>What Do Business Analysts Do? </vt:lpstr>
      <vt:lpstr>Key responsibilities:</vt:lpstr>
      <vt:lpstr>PowerPoint Presentation</vt:lpstr>
      <vt:lpstr>Skills of a Business Analyst</vt:lpstr>
      <vt:lpstr>The Tools Used by Business Analysts</vt:lpstr>
      <vt:lpstr>Collaboration and Relationship-Building in Business Analysis </vt:lpstr>
      <vt:lpstr>Business Analysis Methodologies</vt:lpstr>
      <vt:lpstr>PowerPoint Presentation</vt:lpstr>
      <vt:lpstr>PowerPoint Presentation</vt:lpstr>
      <vt:lpstr>PowerPoint Presentation</vt:lpstr>
      <vt:lpstr>PowerPoint Presentation</vt:lpstr>
      <vt:lpstr>Key Differences Between Waterfall and Agile</vt:lpstr>
      <vt:lpstr>PowerPoint Presentation</vt:lpstr>
      <vt:lpstr>When to Use Waterfall</vt:lpstr>
      <vt:lpstr>When to Use Agile</vt:lpstr>
      <vt:lpstr>Stakeholder management</vt:lpstr>
      <vt:lpstr>The Benefits of Stakeholder Management </vt:lpstr>
      <vt:lpstr>PowerPoint Presentation</vt:lpstr>
      <vt:lpstr>Key aspects of stakeholder management </vt:lpstr>
      <vt:lpstr>What Is Scenario Analysis? </vt:lpstr>
      <vt:lpstr>PowerPoint Presentation</vt:lpstr>
      <vt:lpstr>PowerPoint Presentation</vt:lpstr>
      <vt:lpstr>PowerPoint Presentation</vt:lpstr>
      <vt:lpstr>PowerPoint Presentation</vt:lpstr>
      <vt:lpstr>PowerPoint Presentation</vt:lpstr>
      <vt:lpstr>Key Elements</vt:lpstr>
      <vt:lpstr>What are the benefits of data governance?</vt:lpstr>
      <vt:lpstr>PowerPoint Presentation</vt:lpstr>
      <vt:lpstr>PowerPoint Presentation</vt:lpstr>
      <vt:lpstr>What is the Ethical Use of Data?</vt:lpstr>
      <vt:lpstr>PowerPoint Presentation</vt:lpstr>
      <vt:lpstr>PowerPoint Presentation</vt:lpstr>
      <vt:lpstr>CCPA vs GDPR compliance: Similarities and Differences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Tandra Paul</dc:creator>
  <cp:lastModifiedBy>Tandra Paul</cp:lastModifiedBy>
  <cp:revision>54</cp:revision>
  <dcterms:created xsi:type="dcterms:W3CDTF">2025-11-12T12:07:16Z</dcterms:created>
  <dcterms:modified xsi:type="dcterms:W3CDTF">2026-02-12T02:57:45Z</dcterms:modified>
</cp:coreProperties>
</file>