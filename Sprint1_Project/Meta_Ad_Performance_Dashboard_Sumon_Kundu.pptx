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3CE6FE-3439-4196-A86E-7328AACEC114}" v="15" dt="2026-10-05T04:23:46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on Kundu" userId="30d753e6c46f0632" providerId="LiveId" clId="{11186A7B-5BB6-4433-B6CF-D2CF83C64F84}"/>
    <pc:docChg chg="undo custSel modSld">
      <pc:chgData name="Sumon Kundu" userId="30d753e6c46f0632" providerId="LiveId" clId="{11186A7B-5BB6-4433-B6CF-D2CF83C64F84}" dt="2026-10-05T04:24:55.142" v="73" actId="20577"/>
      <pc:docMkLst>
        <pc:docMk/>
      </pc:docMkLst>
      <pc:sldChg chg="modSp mod">
        <pc:chgData name="Sumon Kundu" userId="30d753e6c46f0632" providerId="LiveId" clId="{11186A7B-5BB6-4433-B6CF-D2CF83C64F84}" dt="2026-10-05T04:21:56.607" v="14" actId="20577"/>
        <pc:sldMkLst>
          <pc:docMk/>
          <pc:sldMk cId="0" sldId="268"/>
        </pc:sldMkLst>
        <pc:spChg chg="mod">
          <ac:chgData name="Sumon Kundu" userId="30d753e6c46f0632" providerId="LiveId" clId="{11186A7B-5BB6-4433-B6CF-D2CF83C64F84}" dt="2026-10-05T04:21:56.607" v="14" actId="20577"/>
          <ac:spMkLst>
            <pc:docMk/>
            <pc:sldMk cId="0" sldId="268"/>
            <ac:spMk id="3" creationId="{00000000-0000-0000-0000-000000000000}"/>
          </ac:spMkLst>
        </pc:spChg>
      </pc:sldChg>
      <pc:sldChg chg="addSp delSp modSp mod">
        <pc:chgData name="Sumon Kundu" userId="30d753e6c46f0632" providerId="LiveId" clId="{11186A7B-5BB6-4433-B6CF-D2CF83C64F84}" dt="2026-10-05T04:24:55.142" v="73" actId="20577"/>
        <pc:sldMkLst>
          <pc:docMk/>
          <pc:sldMk cId="0" sldId="270"/>
        </pc:sldMkLst>
        <pc:spChg chg="add del mod">
          <ac:chgData name="Sumon Kundu" userId="30d753e6c46f0632" providerId="LiveId" clId="{11186A7B-5BB6-4433-B6CF-D2CF83C64F84}" dt="2026-10-05T04:24:55.142" v="73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Sumon Kundu" userId="30d753e6c46f0632" providerId="LiveId" clId="{11186A7B-5BB6-4433-B6CF-D2CF83C64F84}" dt="2026-10-05T04:24:05.743" v="67" actId="20577"/>
          <ac:spMkLst>
            <pc:docMk/>
            <pc:sldMk cId="0" sldId="270"/>
            <ac:spMk id="12" creationId="{00000000-0000-0000-0000-000000000000}"/>
          </ac:spMkLst>
        </pc:spChg>
        <pc:graphicFrameChg chg="mod">
          <ac:chgData name="Sumon Kundu" userId="30d753e6c46f0632" providerId="LiveId" clId="{11186A7B-5BB6-4433-B6CF-D2CF83C64F84}" dt="2026-10-05T04:23:46.215" v="48" actId="20577"/>
          <ac:graphicFrameMkLst>
            <pc:docMk/>
            <pc:sldMk cId="0" sldId="270"/>
            <ac:graphicFrameMk id="8" creationId="{00000000-0000-0000-0000-000000000000}"/>
          </ac:graphicFrameMkLst>
        </pc:graphicFrame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A1A3F"/>
                </a:solidFill>
                <a:latin typeface="Arial"/>
              </a:defRPr>
            </a:pPr>
            <a:r>
              <a:rPr lang="en-US" sz="1250" b="0" i="0" u="none" strike="noStrike">
                <a:solidFill>
                  <a:srgbClr val="0A1A3F"/>
                </a:solidFill>
                <a:latin typeface="Arial"/>
              </a:rPr>
              <a:t>Engagements by Target Gender – 29K total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Engagements (K)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66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D82-411F-9B29-D98A1721CDC1}"/>
              </c:ext>
            </c:extLst>
          </c:dPt>
          <c:dPt>
            <c:idx val="1"/>
            <c:bubble3D val="0"/>
            <c:spPr>
              <a:solidFill>
                <a:srgbClr val="F2701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D82-411F-9B29-D98A1721CDC1}"/>
              </c:ext>
            </c:extLst>
          </c:dPt>
          <c:dPt>
            <c:idx val="2"/>
            <c:bubble3D val="0"/>
            <c:spPr>
              <a:solidFill>
                <a:srgbClr val="1F3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D82-411F-9B29-D98A1721CDC1}"/>
              </c:ext>
            </c:extLst>
          </c:dPt>
          <c:dLbls>
            <c:dLbl>
              <c:idx val="0"/>
              <c:numFmt formatCode="0&quot;K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D82-411F-9B29-D98A1721CDC1}"/>
                </c:ext>
              </c:extLst>
            </c:dLbl>
            <c:dLbl>
              <c:idx val="1"/>
              <c:numFmt formatCode="0&quot;K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D82-411F-9B29-D98A1721CDC1}"/>
                </c:ext>
              </c:extLst>
            </c:dLbl>
            <c:dLbl>
              <c:idx val="2"/>
              <c:numFmt formatCode="0&quot;K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D82-411F-9B29-D98A1721CDC1}"/>
                </c:ext>
              </c:extLst>
            </c:dLbl>
            <c:numFmt formatCode="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Female (43%)</c:v>
                </c:pt>
                <c:pt idx="1">
                  <c:v>Male (22%)</c:v>
                </c:pt>
                <c:pt idx="2">
                  <c:v>All genders (35%)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13.0</c:v>
                </c:pt>
                <c:pt idx="1">
                  <c:v>6.0</c:v>
                </c:pt>
                <c:pt idx="2">
                  <c:v>10.0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D82-411F-9B29-D98A1721CD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F1B3D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A3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1A3F"/>
                </a:solidFill>
                <a:latin typeface="Arial"/>
              </a:rPr>
              <a:t>Impressions by Ad Type (K)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 (K)</c:v>
                </c:pt>
              </c:strCache>
            </c:strRef>
          </c:tx>
          <c:spPr>
            <a:solidFill>
              <a:srgbClr val="0866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Carousel</c:v>
                </c:pt>
                <c:pt idx="1">
                  <c:v>Image</c:v>
                </c:pt>
                <c:pt idx="2">
                  <c:v>Stories</c:v>
                </c:pt>
                <c:pt idx="3">
                  <c:v>Video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51</c:v>
                </c:pt>
                <c:pt idx="2">
                  <c:v>72</c:v>
                </c:pt>
                <c:pt idx="3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EB-4BE3-BD14-1702501258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A3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1A3F"/>
                </a:solidFill>
                <a:latin typeface="Arial"/>
              </a:rPr>
              <a:t>Impressions by Ad Type – Instagram (K)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 (K)</c:v>
                </c:pt>
              </c:strCache>
            </c:strRef>
          </c:tx>
          <c:spPr>
            <a:solidFill>
              <a:srgbClr val="0866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Carousel</c:v>
                </c:pt>
                <c:pt idx="1">
                  <c:v>Image</c:v>
                </c:pt>
                <c:pt idx="2">
                  <c:v>Stories</c:v>
                </c:pt>
                <c:pt idx="3">
                  <c:v>Video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</c:v>
                </c:pt>
                <c:pt idx="1">
                  <c:v>37</c:v>
                </c:pt>
                <c:pt idx="2">
                  <c:v>37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BA-4D33-A54D-A5FDD75ADD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8.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A1A3F"/>
                </a:solidFill>
                <a:latin typeface="Arial"/>
              </a:defRPr>
            </a:pPr>
            <a:r>
              <a:rPr lang="en-IN" sz="1250" b="0" i="0" u="none" strike="noStrike" dirty="0">
                <a:solidFill>
                  <a:srgbClr val="0A1A3F"/>
                </a:solidFill>
                <a:latin typeface="Arial"/>
              </a:rPr>
              <a:t>Rates (%) – Facebook vs Instagram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rgbClr val="0866F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CTR</c:v>
                </c:pt>
                <c:pt idx="1">
                  <c:v>Engagement Rate</c:v>
                </c:pt>
                <c:pt idx="2">
                  <c:v>Conversion Rate</c:v>
                </c:pt>
                <c:pt idx="3">
                  <c:v>Purchase Rate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11.76</c:v>
                </c:pt>
                <c:pt idx="1">
                  <c:v>13.56</c:v>
                </c:pt>
                <c:pt idx="2">
                  <c:v>5.21</c:v>
                </c:pt>
                <c:pt idx="3">
                  <c:v>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C1-4DE0-8CDF-8C844D3BD3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Instagram page</c:v>
                </c:pt>
              </c:strCache>
            </c:strRef>
          </c:tx>
          <c:spPr>
            <a:solidFill>
              <a:srgbClr val="C23C8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CTR</c:v>
                </c:pt>
                <c:pt idx="1">
                  <c:v>Engagement Rate</c:v>
                </c:pt>
                <c:pt idx="2">
                  <c:v>Conversion Rate</c:v>
                </c:pt>
                <c:pt idx="3">
                  <c:v>Purchase Rate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11.86</c:v>
                </c:pt>
                <c:pt idx="1">
                  <c:v>13.6</c:v>
                </c:pt>
                <c:pt idx="2">
                  <c:v>4.82</c:v>
                </c:pt>
                <c:pt idx="3">
                  <c:v>0.57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C1-4DE0-8CDF-8C844D3BD3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37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pic>
        <p:nvPicPr>
          <p:cNvPr id="3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13716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7830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154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Analysis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840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– Sumon Kundu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126480" y="1005840"/>
            <a:ext cx="2560320" cy="29260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/mnt/user-data/uploads/1791008572673_Facebook_Logo_20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234440"/>
            <a:ext cx="960120" cy="960120"/>
          </a:xfrm>
          <a:prstGeom prst="rect">
            <a:avLst/>
          </a:prstGeom>
        </p:spPr>
      </p:pic>
      <p:pic>
        <p:nvPicPr>
          <p:cNvPr id="9" name="Image 2" descr="/mnt/user-data/uploads/1791008572674_Instagram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234440"/>
            <a:ext cx="960120" cy="960120"/>
          </a:xfrm>
          <a:prstGeom prst="rect">
            <a:avLst/>
          </a:prstGeom>
        </p:spPr>
      </p:pic>
      <p:pic>
        <p:nvPicPr>
          <p:cNvPr id="10" name="Image 3" descr="/mnt/user-data/uploads/1791008572672_whatsap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514600"/>
            <a:ext cx="960120" cy="960120"/>
          </a:xfrm>
          <a:prstGeom prst="rect">
            <a:avLst/>
          </a:prstGeom>
        </p:spPr>
      </p:pic>
      <p:pic>
        <p:nvPicPr>
          <p:cNvPr id="11" name="Image 4" descr="/mnt/user-data/uploads/1791008572671_Threads__app_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0" y="251460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Flow</a:t>
            </a:r>
            <a:endParaRPr lang="en-US" sz="2600" dirty="0"/>
          </a:p>
        </p:txBody>
      </p:sp>
      <p:pic>
        <p:nvPicPr>
          <p:cNvPr id="4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73152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325880"/>
            <a:ext cx="566928" cy="566928"/>
          </a:xfrm>
          <a:prstGeom prst="ellipse">
            <a:avLst/>
          </a:prstGeom>
          <a:solidFill>
            <a:srgbClr val="5B45C4"/>
          </a:solidFill>
          <a:ln w="12700">
            <a:solidFill>
              <a:srgbClr val="5B45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125272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057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&amp; purpose of the dashboard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4612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29000" y="1325880"/>
            <a:ext cx="566928" cy="566928"/>
          </a:xfrm>
          <a:prstGeom prst="ellipse">
            <a:avLst/>
          </a:prstGeom>
          <a:solidFill>
            <a:srgbClr val="5A6CF0"/>
          </a:solidFill>
          <a:ln w="12700">
            <a:solidFill>
              <a:srgbClr val="5A6C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29000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114800" y="125272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429000" y="2057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 the report solves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03504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1325880"/>
            <a:ext cx="566928" cy="566928"/>
          </a:xfrm>
          <a:prstGeom prst="ellipse">
            <a:avLst/>
          </a:prstGeom>
          <a:solidFill>
            <a:srgbClr val="0086BF"/>
          </a:solidFill>
          <a:ln w="12700">
            <a:solidFill>
              <a:srgbClr val="0086B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125272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Summary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2057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Tables, key fields &amp; data model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5720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108960"/>
            <a:ext cx="566928" cy="566928"/>
          </a:xfrm>
          <a:prstGeom prst="ellipse">
            <a:avLst/>
          </a:prstGeom>
          <a:solidFill>
            <a:srgbClr val="11A08B"/>
          </a:solidFill>
          <a:ln w="12700">
            <a:solidFill>
              <a:srgbClr val="11A08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108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1325880" y="303580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Overview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KPIs &amp; funnel snapshot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324612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429000" y="3108960"/>
            <a:ext cx="566928" cy="566928"/>
          </a:xfrm>
          <a:prstGeom prst="ellipse">
            <a:avLst/>
          </a:prstGeom>
          <a:solidFill>
            <a:srgbClr val="C23C86"/>
          </a:solidFill>
          <a:ln w="12700">
            <a:solidFill>
              <a:srgbClr val="C23C8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29000" y="3108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4114800" y="303580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Insights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342900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Audience, geography, time, ad types, platforms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03504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17920" y="3108960"/>
            <a:ext cx="566928" cy="566928"/>
          </a:xfrm>
          <a:prstGeom prst="ellipse">
            <a:avLst/>
          </a:prstGeom>
          <a:solidFill>
            <a:srgbClr val="6E3FA0"/>
          </a:solidFill>
          <a:ln w="12700">
            <a:solidFill>
              <a:srgbClr val="6E3FA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17920" y="3108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6903720" y="303580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&amp; Conclusion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21792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actions &amp; final wrap-up</a:t>
            </a:r>
            <a:endParaRPr lang="en-US" sz="12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of the Project</a:t>
            </a:r>
            <a:endParaRPr lang="en-US" sz="2600" dirty="0"/>
          </a:p>
        </p:txBody>
      </p:sp>
      <p:pic>
        <p:nvPicPr>
          <p:cNvPr id="4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73152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performance tracking report for paid ad campaigns on Facebook and Instagram, giving visibility into reach, engagement, conversions and budget utilization.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1554480" cy="1691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600200"/>
            <a:ext cx="1554480" cy="64008"/>
          </a:xfrm>
          <a:prstGeom prst="rect">
            <a:avLst/>
          </a:prstGeom>
          <a:solidFill>
            <a:srgbClr val="5B45C4"/>
          </a:solidFill>
          <a:ln w="12700">
            <a:solidFill>
              <a:srgbClr val="5B45C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1737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4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2157984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best platform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2724912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vs Instagram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121408" y="1600200"/>
            <a:ext cx="1554480" cy="1691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121408" y="1600200"/>
            <a:ext cx="1554480" cy="64008"/>
          </a:xfrm>
          <a:prstGeom prst="rect">
            <a:avLst/>
          </a:prstGeom>
          <a:solidFill>
            <a:srgbClr val="5A6CF0"/>
          </a:solidFill>
          <a:ln w="12700">
            <a:solidFill>
              <a:srgbClr val="5A6C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231136" y="1737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A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2231136" y="2157984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ROI &amp; budget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2231136" y="2724912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budget allocation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785616" y="1600200"/>
            <a:ext cx="1554480" cy="1691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85616" y="1600200"/>
            <a:ext cx="1554480" cy="64008"/>
          </a:xfrm>
          <a:prstGeom prst="rect">
            <a:avLst/>
          </a:prstGeom>
          <a:solidFill>
            <a:srgbClr val="0086BF"/>
          </a:solidFill>
          <a:ln w="12700">
            <a:solidFill>
              <a:srgbClr val="0086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895344" y="1737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3895344" y="2157984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audience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3895344" y="2724912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by gender, age, country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49824" y="1600200"/>
            <a:ext cx="1554480" cy="1691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49824" y="1600200"/>
            <a:ext cx="1554480" cy="64008"/>
          </a:xfrm>
          <a:prstGeom prst="rect">
            <a:avLst/>
          </a:prstGeom>
          <a:solidFill>
            <a:srgbClr val="11A08B"/>
          </a:solidFill>
          <a:ln w="12700">
            <a:solidFill>
              <a:srgbClr val="11A08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559552" y="1737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A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5559552" y="2157984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the funnel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5559552" y="2724912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 → Clicks → Purchases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114032" y="1600200"/>
            <a:ext cx="1554480" cy="1691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114032" y="1600200"/>
            <a:ext cx="1554480" cy="64008"/>
          </a:xfrm>
          <a:prstGeom prst="rect">
            <a:avLst/>
          </a:prstGeom>
          <a:solidFill>
            <a:srgbClr val="C23C86"/>
          </a:solidFill>
          <a:ln w="12700">
            <a:solidFill>
              <a:srgbClr val="C23C8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223760" y="1737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3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7223760" y="2157984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KPIs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7223760" y="2724912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faster business decisions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57200" y="34747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3566160"/>
            <a:ext cx="64008" cy="960120"/>
          </a:xfrm>
          <a:prstGeom prst="rect">
            <a:avLst/>
          </a:prstGeom>
          <a:solidFill>
            <a:srgbClr val="0A7F5F"/>
          </a:solidFill>
          <a:ln w="12700">
            <a:solidFill>
              <a:srgbClr val="0A7F5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0080" y="3529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3840480"/>
            <a:ext cx="3730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ad campaigns on </a:t>
            </a:r>
            <a:r>
              <a:rPr lang="en-US" sz="125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and Instagram</a:t>
            </a:r>
            <a:r>
              <a:rPr lang="en-US" sz="12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4663440" y="34747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EEDD"/>
          </a:solidFill>
          <a:ln w="12700">
            <a:solidFill>
              <a:srgbClr val="FFEED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663440" y="3566160"/>
            <a:ext cx="64008" cy="960120"/>
          </a:xfrm>
          <a:prstGeom prst="rect">
            <a:avLst/>
          </a:prstGeom>
          <a:solidFill>
            <a:srgbClr val="B24E0E"/>
          </a:solidFill>
          <a:ln w="12700">
            <a:solidFill>
              <a:srgbClr val="B24E0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846320" y="3529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4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4846320" y="3840480"/>
            <a:ext cx="3730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platforms (Messenger, Audience Network)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engagement – only </a:t>
            </a:r>
            <a:r>
              <a:rPr lang="en-US" sz="125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ads</a:t>
            </a:r>
            <a:endParaRPr lang="en-US" sz="12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 &amp; Data Model</a:t>
            </a:r>
            <a:endParaRPr lang="en-US" sz="2600" dirty="0"/>
          </a:p>
        </p:txBody>
      </p:sp>
      <p:pic>
        <p:nvPicPr>
          <p:cNvPr id="4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73152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performance data covering campaigns, ads, user demographics and ad interaction events, modelled on how Facebook/Instagram capture data – organized as a star schema.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1645920"/>
            <a:ext cx="1874520" cy="25146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645920"/>
            <a:ext cx="1874520" cy="530352"/>
          </a:xfrm>
          <a:prstGeom prst="rect">
            <a:avLst/>
          </a:prstGeom>
          <a:solidFill>
            <a:srgbClr val="0086BF"/>
          </a:solidFill>
          <a:ln w="12700">
            <a:solidFill>
              <a:srgbClr val="0086B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64592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267712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campaign_id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start_date, end_date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duration_days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total_budget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359152" y="2834640"/>
            <a:ext cx="274320" cy="0"/>
          </a:xfrm>
          <a:prstGeom prst="line">
            <a:avLst/>
          </a:prstGeom>
          <a:noFill/>
          <a:ln w="25400">
            <a:solidFill>
              <a:srgbClr val="0A1A3F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651760" y="1645920"/>
            <a:ext cx="1874520" cy="25146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51760" y="1645920"/>
            <a:ext cx="1874520" cy="530352"/>
          </a:xfrm>
          <a:prstGeom prst="rect">
            <a:avLst/>
          </a:prstGeom>
          <a:solidFill>
            <a:srgbClr val="5B45C4"/>
          </a:solidFill>
          <a:ln w="12700">
            <a:solidFill>
              <a:srgbClr val="5B45C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43200" y="164592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743200" y="2267712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ad_id, campaign_id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ad_platform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ad_type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target_gender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target_age_group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target_interests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53712" y="2834640"/>
            <a:ext cx="274320" cy="0"/>
          </a:xfrm>
          <a:prstGeom prst="line">
            <a:avLst/>
          </a:prstGeom>
          <a:noFill/>
          <a:ln w="25400">
            <a:solidFill>
              <a:srgbClr val="0A1A3F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846320" y="1645920"/>
            <a:ext cx="1874520" cy="25146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1645920"/>
            <a:ext cx="1874520" cy="530352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37760" y="164592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ad_events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TABLE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2267712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event_id, ad_id, user_id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day_of_week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time_of_day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event_type: Impression, Click, Share, Comment, Purchase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748272" y="2834640"/>
            <a:ext cx="274320" cy="0"/>
          </a:xfrm>
          <a:prstGeom prst="line">
            <a:avLst/>
          </a:prstGeom>
          <a:noFill/>
          <a:ln w="25400">
            <a:solidFill>
              <a:srgbClr val="0A1A3F"/>
            </a:solidFill>
            <a:prstDash val="solid"/>
            <a:headEnd type="triangle"/>
          </a:ln>
        </p:spPr>
      </p:sp>
      <p:sp>
        <p:nvSpPr>
          <p:cNvPr id="23" name="Shape 20"/>
          <p:cNvSpPr/>
          <p:nvPr/>
        </p:nvSpPr>
        <p:spPr>
          <a:xfrm>
            <a:off x="7040880" y="1645920"/>
            <a:ext cx="1874520" cy="25146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040880" y="1645920"/>
            <a:ext cx="1874520" cy="530352"/>
          </a:xfrm>
          <a:prstGeom prst="rect">
            <a:avLst/>
          </a:prstGeom>
          <a:solidFill>
            <a:srgbClr val="C23C86"/>
          </a:solidFill>
          <a:ln w="12700">
            <a:solidFill>
              <a:srgbClr val="C23C8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132320" y="164592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132320" y="2267712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user_gender, user_age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age_group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country, location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 → ads → ad_events ← users   |   Fact table: ad_events   |   Dimensions: ads, campaigns, users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KPIs Analyzed</a:t>
            </a:r>
            <a:endParaRPr lang="en-US" sz="2600" dirty="0"/>
          </a:p>
        </p:txBody>
      </p:sp>
      <p:pic>
        <p:nvPicPr>
          <p:cNvPr id="4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73152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5661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For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Impressions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 of event_type = Impression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 reach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 of event_type = Click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Engagement intent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 of event_type = Share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Viral engagement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 of event_type = Comment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Sentiment &amp; feedback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Purchases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 of event_type = Purchase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Engagements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Clicks + Shares + Comments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Engagement volume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(Clicks ÷ Impressions) × 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effectiveness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Engagement 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(Engagements ÷ Impressions) × 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ad appeal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Conversion 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(Purchases ÷ Clicks) × 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Funnel efficiency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Purchase 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(Purchases ÷ Impressions) × 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Conversion from reach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Budget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of campaigns.total_budget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analysis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A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Budget / Campaign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Budget ÷ Campaign Count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 distribution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Performance Snapshot</a:t>
            </a:r>
            <a:endParaRPr lang="en-US" sz="2600" dirty="0"/>
          </a:p>
        </p:txBody>
      </p:sp>
      <p:pic>
        <p:nvPicPr>
          <p:cNvPr id="4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73152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1280160" cy="841248"/>
          </a:xfrm>
          <a:prstGeom prst="roundRect">
            <a:avLst>
              <a:gd name="adj" fmla="val 8696"/>
            </a:avLst>
          </a:prstGeom>
          <a:solidFill>
            <a:srgbClr val="5B45C4"/>
          </a:solidFill>
          <a:ln w="12700">
            <a:solidFill>
              <a:srgbClr val="5B45C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115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4173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216.0K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828800" y="1051560"/>
            <a:ext cx="1280160" cy="841248"/>
          </a:xfrm>
          <a:prstGeom prst="roundRect">
            <a:avLst>
              <a:gd name="adj" fmla="val 8696"/>
            </a:avLst>
          </a:prstGeom>
          <a:solidFill>
            <a:srgbClr val="5A6CF0"/>
          </a:solidFill>
          <a:ln w="12700">
            <a:solidFill>
              <a:srgbClr val="5A6C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20240" y="1115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920240" y="14173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25.4K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200400" y="1051560"/>
            <a:ext cx="1280160" cy="841248"/>
          </a:xfrm>
          <a:prstGeom prst="roundRect">
            <a:avLst>
              <a:gd name="adj" fmla="val 8696"/>
            </a:avLst>
          </a:prstGeom>
          <a:solidFill>
            <a:srgbClr val="0086BF"/>
          </a:solidFill>
          <a:ln w="12700">
            <a:solidFill>
              <a:srgbClr val="0086B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1115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14173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1.3K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4572000" y="1051560"/>
            <a:ext cx="1280160" cy="841248"/>
          </a:xfrm>
          <a:prstGeom prst="roundRect">
            <a:avLst>
              <a:gd name="adj" fmla="val 8696"/>
            </a:avLst>
          </a:prstGeom>
          <a:solidFill>
            <a:srgbClr val="11A08B"/>
          </a:solidFill>
          <a:ln w="12700">
            <a:solidFill>
              <a:srgbClr val="11A08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63440" y="1115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14173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2.6K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943600" y="1051560"/>
            <a:ext cx="1280160" cy="841248"/>
          </a:xfrm>
          <a:prstGeom prst="roundRect">
            <a:avLst>
              <a:gd name="adj" fmla="val 8696"/>
            </a:avLst>
          </a:prstGeom>
          <a:solidFill>
            <a:srgbClr val="C23C86"/>
          </a:solidFill>
          <a:ln w="12700">
            <a:solidFill>
              <a:srgbClr val="C23C8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35040" y="1115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6035040" y="14173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1.3K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7315200" y="1051560"/>
            <a:ext cx="1280160" cy="841248"/>
          </a:xfrm>
          <a:prstGeom prst="roundRect">
            <a:avLst>
              <a:gd name="adj" fmla="val 8696"/>
            </a:avLst>
          </a:prstGeom>
          <a:solidFill>
            <a:srgbClr val="6E3FA0"/>
          </a:solidFill>
          <a:ln w="12700">
            <a:solidFill>
              <a:srgbClr val="6E3FA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06640" y="1115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Engagements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406640" y="14173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29K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457200" y="1984248"/>
            <a:ext cx="1280160" cy="841248"/>
          </a:xfrm>
          <a:prstGeom prst="roundRect">
            <a:avLst>
              <a:gd name="adj" fmla="val 8696"/>
            </a:avLst>
          </a:prstGeom>
          <a:solidFill>
            <a:srgbClr val="5B45C4"/>
          </a:solidFill>
          <a:ln w="12700">
            <a:solidFill>
              <a:srgbClr val="5B45C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20482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235000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11.76%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1828800" y="1984248"/>
            <a:ext cx="1280160" cy="841248"/>
          </a:xfrm>
          <a:prstGeom prst="roundRect">
            <a:avLst>
              <a:gd name="adj" fmla="val 8696"/>
            </a:avLst>
          </a:prstGeom>
          <a:solidFill>
            <a:srgbClr val="5A6CF0"/>
          </a:solidFill>
          <a:ln w="12700">
            <a:solidFill>
              <a:srgbClr val="5A6CF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920240" y="20482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Rate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1920240" y="235000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13.56%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3200400" y="1984248"/>
            <a:ext cx="1280160" cy="841248"/>
          </a:xfrm>
          <a:prstGeom prst="roundRect">
            <a:avLst>
              <a:gd name="adj" fmla="val 8696"/>
            </a:avLst>
          </a:prstGeom>
          <a:solidFill>
            <a:srgbClr val="0086BF"/>
          </a:solidFill>
          <a:ln w="12700">
            <a:solidFill>
              <a:srgbClr val="0086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291840" y="20482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3291840" y="235000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5.21%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4572000" y="1984248"/>
            <a:ext cx="1280160" cy="841248"/>
          </a:xfrm>
          <a:prstGeom prst="roundRect">
            <a:avLst>
              <a:gd name="adj" fmla="val 8696"/>
            </a:avLst>
          </a:prstGeom>
          <a:solidFill>
            <a:srgbClr val="11A08B"/>
          </a:solidFill>
          <a:ln w="12700">
            <a:solidFill>
              <a:srgbClr val="11A08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663440" y="20482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Rate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4663440" y="235000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0.61%</a:t>
            </a:r>
            <a:endParaRPr lang="en-US" sz="2200" dirty="0"/>
          </a:p>
        </p:txBody>
      </p:sp>
      <p:sp>
        <p:nvSpPr>
          <p:cNvPr id="37" name="Shape 34"/>
          <p:cNvSpPr/>
          <p:nvPr/>
        </p:nvSpPr>
        <p:spPr>
          <a:xfrm>
            <a:off x="5943600" y="1984248"/>
            <a:ext cx="1280160" cy="841248"/>
          </a:xfrm>
          <a:prstGeom prst="roundRect">
            <a:avLst>
              <a:gd name="adj" fmla="val 8696"/>
            </a:avLst>
          </a:prstGeom>
          <a:solidFill>
            <a:srgbClr val="C23C86"/>
          </a:solidFill>
          <a:ln w="12700">
            <a:solidFill>
              <a:srgbClr val="C23C8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035040" y="20482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Budget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6035040" y="235000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2.5M</a:t>
            </a:r>
            <a:endParaRPr lang="en-US" sz="2200" dirty="0"/>
          </a:p>
        </p:txBody>
      </p:sp>
      <p:sp>
        <p:nvSpPr>
          <p:cNvPr id="40" name="Shape 37"/>
          <p:cNvSpPr/>
          <p:nvPr/>
        </p:nvSpPr>
        <p:spPr>
          <a:xfrm>
            <a:off x="7315200" y="1984248"/>
            <a:ext cx="1280160" cy="841248"/>
          </a:xfrm>
          <a:prstGeom prst="roundRect">
            <a:avLst>
              <a:gd name="adj" fmla="val 8696"/>
            </a:avLst>
          </a:prstGeom>
          <a:solidFill>
            <a:srgbClr val="6E3FA0"/>
          </a:solidFill>
          <a:ln w="12700">
            <a:solidFill>
              <a:srgbClr val="6E3FA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06640" y="20482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Budget/Camp.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7406640" y="235000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50.7K</a:t>
            </a:r>
            <a:endParaRPr lang="en-US" sz="2200" dirty="0"/>
          </a:p>
        </p:txBody>
      </p:sp>
      <p:sp>
        <p:nvSpPr>
          <p:cNvPr id="43" name="Shape 40"/>
          <p:cNvSpPr/>
          <p:nvPr/>
        </p:nvSpPr>
        <p:spPr>
          <a:xfrm>
            <a:off x="457200" y="30175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57200" y="3108960"/>
            <a:ext cx="64008" cy="1417320"/>
          </a:xfrm>
          <a:prstGeom prst="rect">
            <a:avLst/>
          </a:prstGeom>
          <a:solidFill>
            <a:srgbClr val="0A7F5F"/>
          </a:solidFill>
          <a:ln w="12700">
            <a:solidFill>
              <a:srgbClr val="0A7F5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40080" y="3072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top of funnel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640080" y="3383280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</a:t>
            </a:r>
            <a:r>
              <a:rPr lang="en-US" sz="125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11.76%</a:t>
            </a:r>
            <a:r>
              <a:rPr lang="en-US" sz="12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engagement rate </a:t>
            </a:r>
            <a:r>
              <a:rPr lang="en-US" sz="125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13.56%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 above the ~1–2% industry CTR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3246120" y="30175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EEDD"/>
          </a:solidFill>
          <a:ln w="12700">
            <a:solidFill>
              <a:srgbClr val="FFEED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246120" y="3108960"/>
            <a:ext cx="64008" cy="1417320"/>
          </a:xfrm>
          <a:prstGeom prst="rect">
            <a:avLst/>
          </a:prstGeom>
          <a:solidFill>
            <a:srgbClr val="B24E0E"/>
          </a:solidFill>
          <a:ln w="12700">
            <a:solidFill>
              <a:srgbClr val="B24E0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3429000" y="3072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4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purchases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3429000" y="3383280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rate only </a:t>
            </a:r>
            <a:r>
              <a:rPr lang="en-US" sz="125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0.61%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</a:t>
            </a:r>
            <a:r>
              <a:rPr lang="en-US" sz="125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1.3K</a:t>
            </a:r>
            <a:r>
              <a:rPr lang="en-US" sz="12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purchases from 216K impressions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6035040" y="30175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CE8FA"/>
          </a:solidFill>
          <a:ln w="12700">
            <a:solidFill>
              <a:srgbClr val="ECE8FA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035040" y="3108960"/>
            <a:ext cx="64008" cy="1417320"/>
          </a:xfrm>
          <a:prstGeom prst="rect">
            <a:avLst/>
          </a:prstGeom>
          <a:solidFill>
            <a:srgbClr val="5B45C4"/>
          </a:solidFill>
          <a:ln w="12700">
            <a:solidFill>
              <a:srgbClr val="5B45C4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217920" y="3072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4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217920" y="3383280"/>
            <a:ext cx="2359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2.5M</a:t>
            </a:r>
            <a:r>
              <a:rPr lang="en-US" sz="12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total budget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50.7K</a:t>
            </a:r>
            <a:r>
              <a:rPr lang="en-US" sz="12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average per campaign – multiple campaigns</a:t>
            </a:r>
            <a:endParaRPr lang="en-US" sz="125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1417320" y="731520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i="1">
                <a:solidFill>
                  <a:srgbClr val="3D4C70"/>
                </a:solidFill>
                <a:latin typeface="Arial"/>
              </a:rPr>
              <a:t>Source: Facebook page of the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Funnel</a:t>
            </a:r>
            <a:endParaRPr lang="en-US" sz="2600" dirty="0"/>
          </a:p>
        </p:txBody>
      </p:sp>
      <p:pic>
        <p:nvPicPr>
          <p:cNvPr id="4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73152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23444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234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  216K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88720" y="2331720"/>
            <a:ext cx="2834640" cy="685800"/>
          </a:xfrm>
          <a:prstGeom prst="roundRect">
            <a:avLst>
              <a:gd name="adj" fmla="val 8000"/>
            </a:avLst>
          </a:prstGeom>
          <a:solidFill>
            <a:srgbClr val="5B45C4"/>
          </a:solidFill>
          <a:ln w="12700">
            <a:solidFill>
              <a:srgbClr val="5B45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2331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Clicks  25.4K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691640" y="342900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C23C86"/>
          </a:solidFill>
          <a:ln w="12700">
            <a:solidFill>
              <a:srgbClr val="C23C8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691640" y="34290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  1.3K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1938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CTR 11.76%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035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Conversion rate 5.21% of clicks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24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rate: 0.61% of impressions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892040" y="105156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1143000"/>
            <a:ext cx="64008" cy="1143000"/>
          </a:xfrm>
          <a:prstGeom prst="rect">
            <a:avLst/>
          </a:prstGeom>
          <a:solidFill>
            <a:srgbClr val="0A7F5F"/>
          </a:solidFill>
          <a:ln w="12700">
            <a:solidFill>
              <a:srgbClr val="0A7F5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74920" y="1106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074920" y="141732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awareness &amp; interest, but weak </a:t>
            </a: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action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 drop-off in the lower funnel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92040" y="246888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2560320"/>
            <a:ext cx="64008" cy="868680"/>
          </a:xfrm>
          <a:prstGeom prst="rect">
            <a:avLst/>
          </a:prstGeom>
          <a:solidFill>
            <a:srgbClr val="0050D0"/>
          </a:solidFill>
          <a:ln w="12700">
            <a:solidFill>
              <a:srgbClr val="0050D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74920" y="2523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074920" y="2834640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funnel leaks: likely landing page, audience mismatch or weak offers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92040" y="361188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FFEEDD"/>
          </a:solidFill>
          <a:ln w="12700">
            <a:solidFill>
              <a:srgbClr val="FFEED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3703320"/>
            <a:ext cx="64008" cy="822960"/>
          </a:xfrm>
          <a:prstGeom prst="rect">
            <a:avLst/>
          </a:prstGeom>
          <a:solidFill>
            <a:srgbClr val="B24E0E"/>
          </a:solidFill>
          <a:ln w="12700">
            <a:solidFill>
              <a:srgbClr val="B24E0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74920" y="3666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4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074920" y="3977640"/>
            <a:ext cx="3502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</a:t>
            </a: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pages</a:t>
            </a: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offers and </a:t>
            </a: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retargeting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1417320" y="731520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i="1">
                <a:solidFill>
                  <a:srgbClr val="3D4C70"/>
                </a:solidFill>
                <a:latin typeface="Arial"/>
              </a:rPr>
              <a:t>Source: Facebook page of the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by Gender</a:t>
            </a:r>
            <a:endParaRPr lang="en-US" sz="2600" dirty="0"/>
          </a:p>
        </p:txBody>
      </p:sp>
      <p:pic>
        <p:nvPicPr>
          <p:cNvPr id="4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73152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graphicFrame>
        <p:nvGraphicFramePr>
          <p:cNvPr id="8" name="Chart 0"/>
          <p:cNvGraphicFramePr/>
          <p:nvPr/>
        </p:nvGraphicFramePr>
        <p:xfrm>
          <a:off x="548640" y="1143000"/>
          <a:ext cx="4114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4892040" y="105156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4892040" y="1143000"/>
            <a:ext cx="64008" cy="1143000"/>
          </a:xfrm>
          <a:prstGeom prst="rect">
            <a:avLst/>
          </a:prstGeom>
          <a:solidFill>
            <a:srgbClr val="0A7F5F"/>
          </a:solidFill>
          <a:ln w="12700">
            <a:solidFill>
              <a:srgbClr val="0A7F5F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5074920" y="1106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074920" y="141732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Female-targeted ads: 13K (43%)</a:t>
            </a:r>
            <a:r>
              <a:rPr lang="en-US" sz="1200" b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highest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Male-targeted ads: 6K (22%)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All-gender ads: 10K (35%)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892040" y="246888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892040" y="2560320"/>
            <a:ext cx="64008" cy="868680"/>
          </a:xfrm>
          <a:prstGeom prst="rect">
            <a:avLst/>
          </a:prstGeom>
          <a:solidFill>
            <a:srgbClr val="0050D0"/>
          </a:solidFill>
          <a:ln w="12700">
            <a:solidFill>
              <a:srgbClr val="0050D0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5074920" y="2523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074920" y="2834640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targeted at women drive the most engagement – core audience skews young and female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892040" y="361188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FFEEDD"/>
          </a:solidFill>
          <a:ln w="12700">
            <a:solidFill>
              <a:srgbClr val="FFEEDD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4892040" y="3703320"/>
            <a:ext cx="64008" cy="822960"/>
          </a:xfrm>
          <a:prstGeom prst="rect">
            <a:avLst/>
          </a:prstGeom>
          <a:solidFill>
            <a:srgbClr val="B24E0E"/>
          </a:solidFill>
          <a:ln w="12700">
            <a:solidFill>
              <a:srgbClr val="B24E0E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 txBox="1"/>
          <p:nvPr/>
        </p:nvSpPr>
        <p:spPr>
          <a:xfrm>
            <a:off x="5074920" y="3666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4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074920" y="3977640"/>
            <a:ext cx="3502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 creatives and campaigns toward </a:t>
            </a: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audiences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417320" y="731520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i="1">
                <a:solidFill>
                  <a:srgbClr val="3D4C70"/>
                </a:solidFill>
                <a:latin typeface="Arial"/>
              </a:rPr>
              <a:t>Source: Facebook page of the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by Target Age</a:t>
            </a:r>
            <a:endParaRPr lang="en-US" sz="2600" dirty="0"/>
          </a:p>
        </p:txBody>
      </p:sp>
      <p:pic>
        <p:nvPicPr>
          <p:cNvPr id="4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73152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115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0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page  |  Impressions measure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34747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b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youngest age group has the tallest bar; impressions stay high through the 20s and taper steadily after ~30.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892040" y="105156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4892040" y="1143000"/>
            <a:ext cx="64008" cy="1143000"/>
          </a:xfrm>
          <a:prstGeom prst="rect">
            <a:avLst/>
          </a:prstGeom>
          <a:solidFill>
            <a:srgbClr val="0A7F5F"/>
          </a:solidFill>
          <a:ln w="12700">
            <a:solidFill>
              <a:srgbClr val="0A7F5F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5074920" y="1106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074920" y="141732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concentrated in ages </a:t>
            </a:r>
            <a:r>
              <a:rPr lang="en-US" sz="1200" dirty="0" b="1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~18–30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Drops significantly after </a:t>
            </a: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35+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92040" y="246888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4892040" y="2560320"/>
            <a:ext cx="64008" cy="868680"/>
          </a:xfrm>
          <a:prstGeom prst="rect">
            <a:avLst/>
          </a:prstGeom>
          <a:solidFill>
            <a:srgbClr val="0050D0"/>
          </a:solidFill>
          <a:ln w="12700">
            <a:solidFill>
              <a:srgbClr val="0050D0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 txBox="1"/>
          <p:nvPr/>
        </p:nvSpPr>
        <p:spPr>
          <a:xfrm>
            <a:off x="5074920" y="2523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074920" y="2834640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audience = </a:t>
            </a: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adults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892040" y="361188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FFEEDD"/>
          </a:solidFill>
          <a:ln w="12700">
            <a:solidFill>
              <a:srgbClr val="FFEEDD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4892040" y="3703320"/>
            <a:ext cx="64008" cy="822960"/>
          </a:xfrm>
          <a:prstGeom prst="rect">
            <a:avLst/>
          </a:prstGeom>
          <a:solidFill>
            <a:srgbClr val="B24E0E"/>
          </a:solidFill>
          <a:ln w="12700">
            <a:solidFill>
              <a:srgbClr val="B24E0E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 txBox="1"/>
          <p:nvPr/>
        </p:nvSpPr>
        <p:spPr>
          <a:xfrm>
            <a:off x="5074920" y="3666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4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5074920" y="3977640"/>
            <a:ext cx="3502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ads at </a:t>
            </a: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females aged 18–30</a:t>
            </a: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better ROI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26" name="Picture 25" descr="fb_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621" y="1417320"/>
            <a:ext cx="4064837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Distribution</a:t>
            </a:r>
            <a:endParaRPr lang="en-US" sz="2600" dirty="0"/>
          </a:p>
        </p:txBody>
      </p:sp>
      <p:pic>
        <p:nvPicPr>
          <p:cNvPr id="4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73152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115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0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page  |  Impressions measure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39776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b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 size shows the selected measure (Impressions).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892040" y="105156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4892040" y="1143000"/>
            <a:ext cx="64008" cy="1143000"/>
          </a:xfrm>
          <a:prstGeom prst="rect">
            <a:avLst/>
          </a:prstGeom>
          <a:solidFill>
            <a:srgbClr val="0A7F5F"/>
          </a:solidFill>
          <a:ln w="12700">
            <a:solidFill>
              <a:srgbClr val="0A7F5F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5074920" y="1106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074920" y="141732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spans </a:t>
            </a:r>
            <a:r>
              <a:rPr lang="en-US" sz="1200" dirty="0" b="1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countries</a:t>
            </a:r>
            <a:r>
              <a:rPr lang="en-US" sz="120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5 regions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b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bubbles: </a:t>
            </a: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</a:t>
            </a:r>
            <a:r>
              <a:rPr lang="en-US" sz="1200" b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(US/Mexico) and </a:t>
            </a: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r>
              <a:rPr lang="en-US" sz="1200" b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</a:t>
            </a:r>
            <a:r>
              <a:rPr lang="en-US" sz="1200" b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leads in Asia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92040" y="246888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4892040" y="2560320"/>
            <a:ext cx="64008" cy="868680"/>
          </a:xfrm>
          <a:prstGeom prst="rect">
            <a:avLst/>
          </a:prstGeom>
          <a:solidFill>
            <a:srgbClr val="0050D0"/>
          </a:solidFill>
          <a:ln w="12700">
            <a:solidFill>
              <a:srgbClr val="0050D0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 txBox="1"/>
          <p:nvPr/>
        </p:nvSpPr>
        <p:spPr>
          <a:xfrm>
            <a:off x="5074920" y="2523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074920" y="2834640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 concentrate in North America &amp; Europe; Germany/UK likely offer higher purchasing power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892040" y="361188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FFEEDD"/>
          </a:solidFill>
          <a:ln w="12700">
            <a:solidFill>
              <a:srgbClr val="FFEEDD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4892040" y="3703320"/>
            <a:ext cx="64008" cy="822960"/>
          </a:xfrm>
          <a:prstGeom prst="rect">
            <a:avLst/>
          </a:prstGeom>
          <a:solidFill>
            <a:srgbClr val="B24E0E"/>
          </a:solidFill>
          <a:ln w="12700">
            <a:solidFill>
              <a:srgbClr val="B24E0E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 txBox="1"/>
          <p:nvPr/>
        </p:nvSpPr>
        <p:spPr>
          <a:xfrm>
            <a:off x="5074920" y="3666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4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5074920" y="3977640"/>
            <a:ext cx="3502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campaigns in </a:t>
            </a: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&amp; US</a:t>
            </a: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campaigns in Germany/UK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6" name="Picture 25" descr="fb_map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272" y="1417320"/>
            <a:ext cx="4053535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&amp; Hourly Trends</a:t>
            </a:r>
            <a:endParaRPr lang="en-US" sz="2600" dirty="0"/>
          </a:p>
        </p:txBody>
      </p:sp>
      <p:pic>
        <p:nvPicPr>
          <p:cNvPr id="4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73152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115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0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page  |  Impressions measure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892040" y="105156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892040" y="1143000"/>
            <a:ext cx="64008" cy="1143000"/>
          </a:xfrm>
          <a:prstGeom prst="rect">
            <a:avLst/>
          </a:prstGeom>
          <a:solidFill>
            <a:srgbClr val="0A7F5F"/>
          </a:solidFill>
          <a:ln w="12700">
            <a:solidFill>
              <a:srgbClr val="0A7F5F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5074920" y="1106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074920" y="141732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Weekly:</a:t>
            </a:r>
            <a:r>
              <a:rPr lang="en-US" sz="1200" b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steady at ~16K, no sharp drop (first and last bars are partial weeks)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Hourly:</a:t>
            </a:r>
            <a:r>
              <a:rPr lang="en-US" sz="1200" b="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highest peak at ~21 h; dips at ~6 h and ~16 h; swings stay small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892040" y="246888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4892040" y="2560320"/>
            <a:ext cx="64008" cy="868680"/>
          </a:xfrm>
          <a:prstGeom prst="rect">
            <a:avLst/>
          </a:prstGeom>
          <a:solidFill>
            <a:srgbClr val="0050D0"/>
          </a:solidFill>
          <a:ln w="12700">
            <a:solidFill>
              <a:srgbClr val="0050D0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5074920" y="2523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074920" y="2834640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weekly volume shows consistent delivery; hourly swings are small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892040" y="361188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FFEEDD"/>
          </a:solidFill>
          <a:ln w="12700">
            <a:solidFill>
              <a:srgbClr val="FFEEDD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892040" y="3703320"/>
            <a:ext cx="64008" cy="822960"/>
          </a:xfrm>
          <a:prstGeom prst="rect">
            <a:avLst/>
          </a:prstGeom>
          <a:solidFill>
            <a:srgbClr val="B24E0E"/>
          </a:solidFill>
          <a:ln w="12700">
            <a:solidFill>
              <a:srgbClr val="B24E0E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 txBox="1"/>
          <p:nvPr/>
        </p:nvSpPr>
        <p:spPr>
          <a:xfrm>
            <a:off x="5074920" y="3666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4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5074920" y="3977640"/>
            <a:ext cx="3502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delivery toward the </a:t>
            </a:r>
            <a:r>
              <a:rPr lang="en-US" sz="1200" dirty="0" b="1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 peak (~19–21 h)</a:t>
            </a:r>
            <a:r>
              <a:rPr lang="en-US" sz="120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midday (~12 h)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26" name="Picture 25" descr="fb_t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49" y="1417320"/>
            <a:ext cx="3964381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View – Seasonality</a:t>
            </a:r>
            <a:endParaRPr lang="en-US" sz="2600" dirty="0"/>
          </a:p>
        </p:txBody>
      </p:sp>
      <p:pic>
        <p:nvPicPr>
          <p:cNvPr id="4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73152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115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0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page  |  Impressions measure  |  July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892040" y="105156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892040" y="1143000"/>
            <a:ext cx="64008" cy="1143000"/>
          </a:xfrm>
          <a:prstGeom prst="rect">
            <a:avLst/>
          </a:prstGeom>
          <a:solidFill>
            <a:srgbClr val="0A7F5F"/>
          </a:solidFill>
          <a:ln w="12700">
            <a:solidFill>
              <a:srgbClr val="0A7F5F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5074920" y="1106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074920" y="141732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Darker days = higher activity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Darkest day: </a:t>
            </a:r>
            <a:r>
              <a:rPr lang="en-US" sz="1200" dirty="0" b="1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21st</a:t>
            </a:r>
            <a:r>
              <a:rPr lang="en-US" sz="120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also strong on </a:t>
            </a:r>
            <a:r>
              <a:rPr lang="en-US" sz="1200" dirty="0" b="1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1st, 16th, 18th, 22nd, 25th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892040" y="246888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4892040" y="2560320"/>
            <a:ext cx="64008" cy="868680"/>
          </a:xfrm>
          <a:prstGeom prst="rect">
            <a:avLst/>
          </a:prstGeom>
          <a:solidFill>
            <a:srgbClr val="0050D0"/>
          </a:solidFill>
          <a:ln w="12700">
            <a:solidFill>
              <a:srgbClr val="0050D0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5074920" y="2523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074920" y="2834640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peaks on specific days – possibly launches or promotions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892040" y="361188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FFEEDD"/>
          </a:solidFill>
          <a:ln w="12700">
            <a:solidFill>
              <a:srgbClr val="FFEEDD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892040" y="3703320"/>
            <a:ext cx="64008" cy="822960"/>
          </a:xfrm>
          <a:prstGeom prst="rect">
            <a:avLst/>
          </a:prstGeom>
          <a:solidFill>
            <a:srgbClr val="B24E0E"/>
          </a:solidFill>
          <a:ln w="12700">
            <a:solidFill>
              <a:srgbClr val="B24E0E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 txBox="1"/>
          <p:nvPr/>
        </p:nvSpPr>
        <p:spPr>
          <a:xfrm>
            <a:off x="5074920" y="3666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4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5074920" y="3977640"/>
            <a:ext cx="3502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</a:t>
            </a: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event-based campaigns</a:t>
            </a: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promotions around peak days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26" name="Picture 25" descr="fb_c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4696" y="1417320"/>
            <a:ext cx="2842686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Type Performance – Facebook</a:t>
            </a:r>
            <a:endParaRPr lang="en-US" sz="2600" dirty="0"/>
          </a:p>
        </p:txBody>
      </p:sp>
      <p:pic>
        <p:nvPicPr>
          <p:cNvPr id="4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73152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61288"/>
          <a:ext cx="4078224" cy="1437640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Type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Clicks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Purch. Rate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Conv. Rate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Eng. Rate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Carousel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B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B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B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B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Chart 0"/>
          <p:cNvGraphicFramePr/>
          <p:nvPr/>
        </p:nvGraphicFramePr>
        <p:xfrm>
          <a:off x="548640" y="2697480"/>
          <a:ext cx="411480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5"/>
          <p:cNvSpPr/>
          <p:nvPr/>
        </p:nvSpPr>
        <p:spPr>
          <a:xfrm>
            <a:off x="4892040" y="105156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892040" y="1143000"/>
            <a:ext cx="64008" cy="1143000"/>
          </a:xfrm>
          <a:prstGeom prst="rect">
            <a:avLst/>
          </a:prstGeom>
          <a:solidFill>
            <a:srgbClr val="0A7F5F"/>
          </a:solidFill>
          <a:ln w="12700">
            <a:solidFill>
              <a:srgbClr val="0A7F5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074920" y="1106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5074920" y="141732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Video:</a:t>
            </a: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 CTR (11.9%) &amp; engagement rate (13.7%)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Stories:</a:t>
            </a: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 impressions (72K), best purchase rate (0.65%) &amp; conversion (5.5%)</a:t>
            </a:r>
            <a:endParaRPr lang="en-US" sz="1200" dirty="0"/>
          </a:p>
        </p:txBody>
      </p:sp>
      <p:sp>
        <p:nvSpPr>
          <p:cNvPr id="8" name="Shape 9"/>
          <p:cNvSpPr/>
          <p:nvPr/>
        </p:nvSpPr>
        <p:spPr>
          <a:xfrm>
            <a:off x="4892040" y="246888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892040" y="2560320"/>
            <a:ext cx="64008" cy="868680"/>
          </a:xfrm>
          <a:prstGeom prst="rect">
            <a:avLst/>
          </a:prstGeom>
          <a:solidFill>
            <a:srgbClr val="0050D0"/>
          </a:solidFill>
          <a:ln w="12700">
            <a:solidFill>
              <a:srgbClr val="0050D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074920" y="2523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074920" y="2834640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formats sit in a narrow band (CTR 11.7–11.9%); Image &amp; Carousel convert slightly lower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892040" y="361188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FFEEDD"/>
          </a:solidFill>
          <a:ln w="12700">
            <a:solidFill>
              <a:srgbClr val="FFEED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703320"/>
            <a:ext cx="64008" cy="822960"/>
          </a:xfrm>
          <a:prstGeom prst="rect">
            <a:avLst/>
          </a:prstGeom>
          <a:solidFill>
            <a:srgbClr val="B24E0E"/>
          </a:solidFill>
          <a:ln w="12700">
            <a:solidFill>
              <a:srgbClr val="B24E0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074920" y="3666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4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074920" y="3977640"/>
            <a:ext cx="3502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budget on </a:t>
            </a: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&amp; Stories</a:t>
            </a: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better ROI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Type Performance – Instagram</a:t>
            </a:r>
            <a:endParaRPr lang="en-US" sz="2600" dirty="0"/>
          </a:p>
        </p:txBody>
      </p:sp>
      <p:pic>
        <p:nvPicPr>
          <p:cNvPr id="4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73152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61288"/>
          <a:ext cx="4078224" cy="1437640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Type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Clicks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Purch. Rate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Conv. Rate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Eng. Rate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Carousel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B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B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B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B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B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Chart 0"/>
          <p:cNvGraphicFramePr/>
          <p:nvPr/>
        </p:nvGraphicFramePr>
        <p:xfrm>
          <a:off x="548640" y="2697480"/>
          <a:ext cx="411480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5"/>
          <p:cNvSpPr/>
          <p:nvPr/>
        </p:nvSpPr>
        <p:spPr>
          <a:xfrm>
            <a:off x="4892040" y="105156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892040" y="1143000"/>
            <a:ext cx="64008" cy="1143000"/>
          </a:xfrm>
          <a:prstGeom prst="rect">
            <a:avLst/>
          </a:prstGeom>
          <a:solidFill>
            <a:srgbClr val="0A7F5F"/>
          </a:solidFill>
          <a:ln w="12700">
            <a:solidFill>
              <a:srgbClr val="0A7F5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074920" y="1106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5074920" y="141732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</a:t>
            </a: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best CTR 12.2%, ER 13.9%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Carousel:</a:t>
            </a: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best purchase rate 0.61%, conversion 5.2%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Video:</a:t>
            </a: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10K impressions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892040" y="246888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8" name="Shape 10"/>
          <p:cNvSpPr/>
          <p:nvPr/>
        </p:nvSpPr>
        <p:spPr>
          <a:xfrm>
            <a:off x="4892040" y="2560320"/>
            <a:ext cx="64008" cy="868680"/>
          </a:xfrm>
          <a:prstGeom prst="rect">
            <a:avLst/>
          </a:prstGeom>
          <a:solidFill>
            <a:srgbClr val="0050D0"/>
          </a:solidFill>
          <a:ln w="12700">
            <a:solidFill>
              <a:srgbClr val="0050D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074920" y="2523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074920" y="2834640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ranking differs by page; Video rates rest on a small base (1K clicks)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892040" y="361188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FFEEDD"/>
          </a:solidFill>
          <a:ln w="12700">
            <a:solidFill>
              <a:srgbClr val="FFEED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703320"/>
            <a:ext cx="64008" cy="822960"/>
          </a:xfrm>
          <a:prstGeom prst="rect">
            <a:avLst/>
          </a:prstGeom>
          <a:solidFill>
            <a:srgbClr val="B24E0E"/>
          </a:solidFill>
          <a:ln w="12700">
            <a:solidFill>
              <a:srgbClr val="B24E0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074920" y="3666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4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074920" y="3977640"/>
            <a:ext cx="3502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format spend </a:t>
            </a: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platform</a:t>
            </a: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before shifting budget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View </a:t>
            </a:r>
            <a:r>
              <a:rPr lang="en-US" sz="2600" b="1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Facebook</a:t>
            </a:r>
            <a:endParaRPr lang="en-US" sz="2600" dirty="0"/>
          </a:p>
        </p:txBody>
      </p:sp>
      <p:pic>
        <p:nvPicPr>
          <p:cNvPr id="4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73152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3806509264"/>
              </p:ext>
            </p:extLst>
          </p:nvPr>
        </p:nvGraphicFramePr>
        <p:xfrm>
          <a:off x="548640" y="1143000"/>
          <a:ext cx="4114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4892040" y="105156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E3F5EC"/>
          </a:solidFill>
          <a:ln w="12700">
            <a:solidFill>
              <a:srgbClr val="E3F5EC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4892040" y="1143000"/>
            <a:ext cx="64008" cy="1143000"/>
          </a:xfrm>
          <a:prstGeom prst="rect">
            <a:avLst/>
          </a:prstGeom>
          <a:solidFill>
            <a:srgbClr val="0A7F5F"/>
          </a:solidFill>
          <a:ln w="12700">
            <a:solidFill>
              <a:srgbClr val="0A7F5F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5074920" y="1106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074920" y="141732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Instagram: </a:t>
            </a: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123.8K</a:t>
            </a: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impressions vs 216.0K on Facebook; 708 purchases vs 1.3K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11.86% and ER 13.60% slightly above Facebook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892040" y="246888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892040" y="2560320"/>
            <a:ext cx="64008" cy="868680"/>
          </a:xfrm>
          <a:prstGeom prst="rect">
            <a:avLst/>
          </a:prstGeom>
          <a:solidFill>
            <a:srgbClr val="0050D0"/>
          </a:solidFill>
          <a:ln w="12700">
            <a:solidFill>
              <a:srgbClr val="0050D0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5074920" y="2523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074920" y="2834640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attracts attention well but converts less: 4.82% vs 5.21%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892040" y="361188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FFEEDD"/>
          </a:solidFill>
          <a:ln w="12700">
            <a:solidFill>
              <a:srgbClr val="FFEEDD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4892040" y="3703320"/>
            <a:ext cx="64008" cy="822960"/>
          </a:xfrm>
          <a:prstGeom prst="rect">
            <a:avLst/>
          </a:prstGeom>
          <a:solidFill>
            <a:srgbClr val="B24E0E"/>
          </a:solidFill>
          <a:ln w="12700">
            <a:solidFill>
              <a:srgbClr val="B24E0E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 txBox="1"/>
          <p:nvPr/>
        </p:nvSpPr>
        <p:spPr>
          <a:xfrm>
            <a:off x="5074920" y="3666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4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074920" y="3977640"/>
            <a:ext cx="3502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</a:t>
            </a: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landing pages &amp; offers</a:t>
            </a:r>
            <a:r>
              <a:rPr lang="en-US" sz="120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turn engagement into purchases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Dashboard – Facebook Page</a:t>
            </a:r>
            <a:endParaRPr lang="en-US" sz="2600" dirty="0"/>
          </a:p>
        </p:txBody>
      </p:sp>
      <p:pic>
        <p:nvPicPr>
          <p:cNvPr id="4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73152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58521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6446520" y="1005840"/>
            <a:ext cx="2240280" cy="3611880"/>
          </a:xfrm>
          <a:prstGeom prst="roundRect">
            <a:avLst>
              <a:gd name="adj" fmla="val 3265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6446520" y="1097280"/>
            <a:ext cx="64008" cy="34290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6629400" y="10607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Features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629400" y="1371600"/>
            <a:ext cx="19476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KPI cards</a:t>
            </a:r>
            <a:r>
              <a:rPr lang="en-US" sz="11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the top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visuals:</a:t>
            </a:r>
            <a:r>
              <a:rPr lang="en-US" sz="11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gender donut, age bars, country map, calendar heat map, weekly columns, hourly area, ad-type matrix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panel:</a:t>
            </a:r>
            <a:r>
              <a:rPr lang="en-US" sz="11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Select Measure, Campaign, Interests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shown: </a:t>
            </a:r>
            <a:r>
              <a:rPr lang="en-US" sz="1150" dirty="0" b="1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</a:t>
            </a:r>
            <a:r>
              <a:rPr lang="en-US" sz="115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calendar: </a:t>
            </a:r>
            <a:r>
              <a:rPr lang="en-US" sz="1150" dirty="0" b="1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26" name="Picture 25" descr="dash_f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185677"/>
            <a:ext cx="5705856" cy="32522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Dashboard – Instagram Page</a:t>
            </a:r>
            <a:endParaRPr lang="en-US" sz="2600" dirty="0"/>
          </a:p>
        </p:txBody>
      </p:sp>
      <p:pic>
        <p:nvPicPr>
          <p:cNvPr id="4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73152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58521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446520" y="1005840"/>
            <a:ext cx="2240280" cy="3611880"/>
          </a:xfrm>
          <a:prstGeom prst="roundRect">
            <a:avLst>
              <a:gd name="adj" fmla="val 3265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46520" y="1097280"/>
            <a:ext cx="64008" cy="34290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629400" y="10607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Highlights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629400" y="1371600"/>
            <a:ext cx="19476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layout, filtered to </a:t>
            </a:r>
            <a:r>
              <a:rPr lang="en-US" sz="115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Measure = </a:t>
            </a:r>
            <a:r>
              <a:rPr lang="en-US" sz="115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123.8K</a:t>
            </a:r>
            <a:r>
              <a:rPr lang="en-US" sz="11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impressions, </a:t>
            </a:r>
            <a:r>
              <a:rPr lang="en-US" sz="115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14.7K</a:t>
            </a:r>
            <a:r>
              <a:rPr lang="en-US" sz="11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clicks, </a:t>
            </a:r>
            <a:r>
              <a:rPr lang="en-US" sz="115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17K</a:t>
            </a:r>
            <a:r>
              <a:rPr lang="en-US" sz="11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engagements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shows </a:t>
            </a:r>
            <a:r>
              <a:rPr lang="en-US" sz="115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26" name="Picture 25" descr="dash_ig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181216"/>
            <a:ext cx="5705856" cy="32611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2600" dirty="0"/>
          </a:p>
        </p:txBody>
      </p:sp>
      <p:pic>
        <p:nvPicPr>
          <p:cNvPr id="4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73152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26060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57200" y="1051560"/>
            <a:ext cx="2606040" cy="64008"/>
          </a:xfrm>
          <a:prstGeom prst="rect">
            <a:avLst/>
          </a:prstGeom>
          <a:solidFill>
            <a:srgbClr val="5B45C4"/>
          </a:solidFill>
          <a:ln w="12700">
            <a:solidFill>
              <a:srgbClr val="5B45C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94360" y="12070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4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&amp; engagement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581912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11.76% and engagement rate 13.56% – creatives and targeting work at the top of the funnel.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060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246120" y="1051560"/>
            <a:ext cx="2606040" cy="64008"/>
          </a:xfrm>
          <a:prstGeom prst="rect">
            <a:avLst/>
          </a:prstGeom>
          <a:solidFill>
            <a:srgbClr val="5A6CF0"/>
          </a:solidFill>
          <a:ln w="12700">
            <a:solidFill>
              <a:srgbClr val="5A6CF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3383280" y="12070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funnel leaks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1581912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rate only 0.61%; 1.3K purchases from 216K impressions.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060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035040" y="1051560"/>
            <a:ext cx="2606040" cy="64008"/>
          </a:xfrm>
          <a:prstGeom prst="rect">
            <a:avLst/>
          </a:prstGeom>
          <a:solidFill>
            <a:srgbClr val="0086BF"/>
          </a:solidFill>
          <a:ln w="12700">
            <a:solidFill>
              <a:srgbClr val="0086BF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172200" y="12070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1581912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Female-targeted ads drive the most engagement (43%); activity is concentrated in ages ~18–30.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57200" y="2852928"/>
            <a:ext cx="26060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57200" y="2852928"/>
            <a:ext cx="2606040" cy="64008"/>
          </a:xfrm>
          <a:prstGeom prst="rect">
            <a:avLst/>
          </a:prstGeom>
          <a:solidFill>
            <a:srgbClr val="11A08B"/>
          </a:solidFill>
          <a:ln w="12700">
            <a:solidFill>
              <a:srgbClr val="11A08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94360" y="30083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A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" y="3383280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reach in North America &amp; Europe; India leads in Asia; Germany/UK suit premium campaigns.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3246120" y="2852928"/>
            <a:ext cx="26060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3246120" y="2852928"/>
            <a:ext cx="2606040" cy="64008"/>
          </a:xfrm>
          <a:prstGeom prst="rect">
            <a:avLst/>
          </a:prstGeom>
          <a:solidFill>
            <a:srgbClr val="C23C86"/>
          </a:solidFill>
          <a:ln w="12700">
            <a:solidFill>
              <a:srgbClr val="C23C86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3383280" y="30083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3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3383280" y="3383280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peak at ~21 h; some days (e.g., 21st) stand out on the calendar.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035040" y="2852928"/>
            <a:ext cx="26060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6035040" y="2852928"/>
            <a:ext cx="2606040" cy="64008"/>
          </a:xfrm>
          <a:prstGeom prst="rect">
            <a:avLst/>
          </a:prstGeom>
          <a:solidFill>
            <a:srgbClr val="6E3FA0"/>
          </a:solidFill>
          <a:ln w="12700">
            <a:solidFill>
              <a:srgbClr val="6E3FA0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172200" y="30083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formats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172200" y="3383280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leads CTR (11.9%) and ER (13.7%); Stories lead conversion (5.5%).</a:t>
            </a:r>
            <a:endParaRPr lang="en-US" sz="13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Recommendations</a:t>
            </a:r>
            <a:endParaRPr lang="en-US" sz="2600" dirty="0"/>
          </a:p>
        </p:txBody>
      </p:sp>
      <p:pic>
        <p:nvPicPr>
          <p:cNvPr id="4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74320"/>
            <a:ext cx="731520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4855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5B45C4"/>
          </a:solidFill>
          <a:ln w="12700">
            <a:solidFill>
              <a:srgbClr val="5B45C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1106424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purchase funnel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landing pages, offers &amp; retargeting to lift purchase rate.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0515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800600" y="1280160"/>
            <a:ext cx="457200" cy="457200"/>
          </a:xfrm>
          <a:prstGeom prst="ellipse">
            <a:avLst/>
          </a:prstGeom>
          <a:solidFill>
            <a:srgbClr val="5A6CF0"/>
          </a:solidFill>
          <a:ln w="12700">
            <a:solidFill>
              <a:srgbClr val="5A6CF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8006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1106424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the audience</a:t>
            </a:r>
            <a:endParaRPr lang="en-US" sz="1300" dirty="0"/>
          </a:p>
          <a:p>
            <a:pPr marL="0" indent="0">
              <a:buNone/>
            </a:pPr>
            <a:r>
              <a:rPr lang="en-US" sz="115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females aged 18–30, especially in India &amp; the US.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075688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4360" y="2304288"/>
            <a:ext cx="457200" cy="457200"/>
          </a:xfrm>
          <a:prstGeom prst="ellipse">
            <a:avLst/>
          </a:prstGeom>
          <a:solidFill>
            <a:srgbClr val="0086BF"/>
          </a:solidFill>
          <a:ln w="12700">
            <a:solidFill>
              <a:srgbClr val="0086BF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59436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2130552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budget to top formats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spend on Video and Stories ads.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63440" y="2075688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800600" y="2304288"/>
            <a:ext cx="457200" cy="457200"/>
          </a:xfrm>
          <a:prstGeom prst="ellipse">
            <a:avLst/>
          </a:prstGeom>
          <a:solidFill>
            <a:srgbClr val="11A08B"/>
          </a:solidFill>
          <a:ln w="12700">
            <a:solidFill>
              <a:srgbClr val="11A08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480060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394960" y="2130552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smartly</a:t>
            </a:r>
            <a:endParaRPr lang="en-US" sz="1300" dirty="0"/>
          </a:p>
          <a:p>
            <a:pPr marL="0" indent="0">
              <a:buNone/>
            </a:pPr>
            <a:r>
              <a:rPr lang="en-US" sz="115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ads in midday &amp; evening slots (peak ~21 h).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3099816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94360" y="3328416"/>
            <a:ext cx="457200" cy="457200"/>
          </a:xfrm>
          <a:prstGeom prst="ellipse">
            <a:avLst/>
          </a:prstGeom>
          <a:solidFill>
            <a:srgbClr val="C23C86"/>
          </a:solidFill>
          <a:ln w="12700">
            <a:solidFill>
              <a:srgbClr val="C23C86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59436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31546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by geography</a:t>
            </a:r>
            <a:endParaRPr lang="en-US" sz="1300" dirty="0"/>
          </a:p>
          <a:p>
            <a:pPr marL="0" indent="0">
              <a:buNone/>
            </a:pPr>
            <a:r>
              <a:rPr lang="en-US" sz="1150" dirty="0" b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in India &amp; US; premium in Germany/UK.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663440" y="3099816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C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4800600" y="3328416"/>
            <a:ext cx="457200" cy="457200"/>
          </a:xfrm>
          <a:prstGeom prst="ellipse">
            <a:avLst/>
          </a:prstGeom>
          <a:solidFill>
            <a:srgbClr val="6E3FA0"/>
          </a:solidFill>
          <a:ln w="12700">
            <a:solidFill>
              <a:srgbClr val="6E3FA0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480060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394960" y="31546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event-based campaigns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promotions around peak days.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strong awareness &amp; engagement – next win is conversion optimization and retargeting.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37176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D4C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pic>
        <p:nvPicPr>
          <p:cNvPr id="3" name="Image 0" descr="/mnt/user-data/uploads/1791008572675_pngimg_com_-_meta_PN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731520"/>
            <a:ext cx="164592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F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 Performance Dashboard  |  Sumon Kundu</a:t>
            </a:r>
            <a:endParaRPr lang="en-US" sz="1600" dirty="0"/>
          </a:p>
        </p:txBody>
      </p:sp>
      <p:pic>
        <p:nvPicPr>
          <p:cNvPr id="6" name="Image 1" descr="/mnt/user-data/uploads/1791008572673_Facebook_Logo_20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3749040"/>
            <a:ext cx="548640" cy="548640"/>
          </a:xfrm>
          <a:prstGeom prst="rect">
            <a:avLst/>
          </a:prstGeom>
        </p:spPr>
      </p:pic>
      <p:pic>
        <p:nvPicPr>
          <p:cNvPr id="7" name="Image 2" descr="/mnt/user-data/uploads/1791008572674_Instagram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3749040"/>
            <a:ext cx="548640" cy="548640"/>
          </a:xfrm>
          <a:prstGeom prst="rect">
            <a:avLst/>
          </a:prstGeom>
        </p:spPr>
      </p:pic>
      <p:pic>
        <p:nvPicPr>
          <p:cNvPr id="8" name="Image 3" descr="/mnt/user-data/uploads/1791008572672_whatsap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749040"/>
            <a:ext cx="548640" cy="548640"/>
          </a:xfrm>
          <a:prstGeom prst="rect">
            <a:avLst/>
          </a:prstGeom>
        </p:spPr>
      </p:pic>
      <p:pic>
        <p:nvPicPr>
          <p:cNvPr id="9" name="Image 4" descr="/mnt/user-data/uploads/1791008572671_Threads__app_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37490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1686</Words>
  <Application>Microsoft Office PowerPoint</Application>
  <PresentationFormat>On-screen Show (16:9)</PresentationFormat>
  <Paragraphs>416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 Ad Performance Dashboard</dc:title>
  <dc:subject>PptxGenJS Presentation</dc:subject>
  <dc:creator>Sumon Kundu</dc:creator>
  <cp:lastModifiedBy>Sumon Kundu</cp:lastModifiedBy>
  <cp:revision>1</cp:revision>
  <dcterms:created xsi:type="dcterms:W3CDTF">2026-10-03T06:36:49Z</dcterms:created>
  <dcterms:modified xsi:type="dcterms:W3CDTF">2026-10-05T04:25:00Z</dcterms:modified>
</cp:coreProperties>
</file>